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3" r:id="rId7"/>
    <p:sldId id="264" r:id="rId8"/>
    <p:sldId id="262" r:id="rId9"/>
    <p:sldId id="265" r:id="rId10"/>
    <p:sldId id="266" r:id="rId11"/>
    <p:sldId id="267" r:id="rId12"/>
    <p:sldId id="268" r:id="rId13"/>
    <p:sldId id="269" r:id="rId14"/>
    <p:sldId id="270" r:id="rId15"/>
    <p:sldId id="271" r:id="rId16"/>
    <p:sldId id="272" r:id="rId17"/>
    <p:sldId id="273" r:id="rId18"/>
    <p:sldId id="277" r:id="rId19"/>
    <p:sldId id="274" r:id="rId20"/>
    <p:sldId id="275" r:id="rId21"/>
    <p:sldId id="278" r:id="rId22"/>
    <p:sldId id="279"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79DC0A-CF39-4E9F-95D1-E4A272EC8B23}" v="73" dt="2026-04-19T20:18:10.075"/>
  </p1510:revLst>
</p1510:revInfo>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thin kamineni" userId="a3b25fc357a5843c" providerId="LiveId" clId="{7CFD6DEA-D17A-42C0-841D-49D93E5862F4}"/>
    <pc:docChg chg="undo redo custSel addSld delSld modSld">
      <pc:chgData name="jithin kamineni" userId="a3b25fc357a5843c" providerId="LiveId" clId="{7CFD6DEA-D17A-42C0-841D-49D93E5862F4}" dt="2026-04-19T20:22:39.584" v="1558" actId="6549"/>
      <pc:docMkLst>
        <pc:docMk/>
      </pc:docMkLst>
      <pc:sldChg chg="modSp mod">
        <pc:chgData name="jithin kamineni" userId="a3b25fc357a5843c" providerId="LiveId" clId="{7CFD6DEA-D17A-42C0-841D-49D93E5862F4}" dt="2026-04-19T18:34:14.914" v="370" actId="20577"/>
        <pc:sldMkLst>
          <pc:docMk/>
          <pc:sldMk cId="4093545724" sldId="258"/>
        </pc:sldMkLst>
        <pc:spChg chg="mod">
          <ac:chgData name="jithin kamineni" userId="a3b25fc357a5843c" providerId="LiveId" clId="{7CFD6DEA-D17A-42C0-841D-49D93E5862F4}" dt="2026-04-19T18:34:14.914" v="370" actId="20577"/>
          <ac:spMkLst>
            <pc:docMk/>
            <pc:sldMk cId="4093545724" sldId="258"/>
            <ac:spMk id="3" creationId="{54E77C16-5C9E-3939-8949-033697B09C03}"/>
          </ac:spMkLst>
        </pc:spChg>
      </pc:sldChg>
      <pc:sldChg chg="modSp mod">
        <pc:chgData name="jithin kamineni" userId="a3b25fc357a5843c" providerId="LiveId" clId="{7CFD6DEA-D17A-42C0-841D-49D93E5862F4}" dt="2026-04-19T20:17:06.619" v="1506" actId="1036"/>
        <pc:sldMkLst>
          <pc:docMk/>
          <pc:sldMk cId="1895564589" sldId="259"/>
        </pc:sldMkLst>
        <pc:spChg chg="mod">
          <ac:chgData name="jithin kamineni" userId="a3b25fc357a5843c" providerId="LiveId" clId="{7CFD6DEA-D17A-42C0-841D-49D93E5862F4}" dt="2026-04-19T20:17:06.619" v="1506" actId="1036"/>
          <ac:spMkLst>
            <pc:docMk/>
            <pc:sldMk cId="1895564589" sldId="259"/>
            <ac:spMk id="7" creationId="{AEE90B50-FAFE-E863-172C-7AE9D9527D1D}"/>
          </ac:spMkLst>
        </pc:spChg>
      </pc:sldChg>
      <pc:sldChg chg="modSp mod">
        <pc:chgData name="jithin kamineni" userId="a3b25fc357a5843c" providerId="LiveId" clId="{7CFD6DEA-D17A-42C0-841D-49D93E5862F4}" dt="2026-04-19T20:17:22.603" v="1531" actId="1076"/>
        <pc:sldMkLst>
          <pc:docMk/>
          <pc:sldMk cId="796198562" sldId="261"/>
        </pc:sldMkLst>
        <pc:spChg chg="mod">
          <ac:chgData name="jithin kamineni" userId="a3b25fc357a5843c" providerId="LiveId" clId="{7CFD6DEA-D17A-42C0-841D-49D93E5862F4}" dt="2026-04-19T20:17:22.603" v="1531" actId="1076"/>
          <ac:spMkLst>
            <pc:docMk/>
            <pc:sldMk cId="796198562" sldId="261"/>
            <ac:spMk id="2" creationId="{C8A095F0-E8FB-E59D-9922-C56256754B1D}"/>
          </ac:spMkLst>
        </pc:spChg>
      </pc:sldChg>
      <pc:sldChg chg="modSp mod">
        <pc:chgData name="jithin kamineni" userId="a3b25fc357a5843c" providerId="LiveId" clId="{7CFD6DEA-D17A-42C0-841D-49D93E5862F4}" dt="2026-04-19T18:37:18.375" v="462" actId="6549"/>
        <pc:sldMkLst>
          <pc:docMk/>
          <pc:sldMk cId="2520515684" sldId="264"/>
        </pc:sldMkLst>
        <pc:spChg chg="mod">
          <ac:chgData name="jithin kamineni" userId="a3b25fc357a5843c" providerId="LiveId" clId="{7CFD6DEA-D17A-42C0-841D-49D93E5862F4}" dt="2026-04-19T18:37:18.375" v="462" actId="6549"/>
          <ac:spMkLst>
            <pc:docMk/>
            <pc:sldMk cId="2520515684" sldId="264"/>
            <ac:spMk id="4" creationId="{7CBA6253-15BD-74F5-ED96-0BB18DFF07D7}"/>
          </ac:spMkLst>
        </pc:spChg>
      </pc:sldChg>
      <pc:sldChg chg="addSp modSp mod">
        <pc:chgData name="jithin kamineni" userId="a3b25fc357a5843c" providerId="LiveId" clId="{7CFD6DEA-D17A-42C0-841D-49D93E5862F4}" dt="2026-04-19T16:43:11.532" v="81" actId="1036"/>
        <pc:sldMkLst>
          <pc:docMk/>
          <pc:sldMk cId="893028897" sldId="265"/>
        </pc:sldMkLst>
        <pc:spChg chg="add mod">
          <ac:chgData name="jithin kamineni" userId="a3b25fc357a5843c" providerId="LiveId" clId="{7CFD6DEA-D17A-42C0-841D-49D93E5862F4}" dt="2026-04-19T16:43:11.532" v="81" actId="1036"/>
          <ac:spMkLst>
            <pc:docMk/>
            <pc:sldMk cId="893028897" sldId="265"/>
            <ac:spMk id="4" creationId="{39A1B7A0-E1FD-7C61-17DD-371051467506}"/>
          </ac:spMkLst>
        </pc:spChg>
      </pc:sldChg>
      <pc:sldChg chg="addSp modSp new mod">
        <pc:chgData name="jithin kamineni" userId="a3b25fc357a5843c" providerId="LiveId" clId="{7CFD6DEA-D17A-42C0-841D-49D93E5862F4}" dt="2026-04-19T16:46:26.091" v="104" actId="14100"/>
        <pc:sldMkLst>
          <pc:docMk/>
          <pc:sldMk cId="4245735691" sldId="266"/>
        </pc:sldMkLst>
        <pc:spChg chg="add mod">
          <ac:chgData name="jithin kamineni" userId="a3b25fc357a5843c" providerId="LiveId" clId="{7CFD6DEA-D17A-42C0-841D-49D93E5862F4}" dt="2026-04-19T16:46:26.091" v="104" actId="14100"/>
          <ac:spMkLst>
            <pc:docMk/>
            <pc:sldMk cId="4245735691" sldId="266"/>
            <ac:spMk id="3" creationId="{043EC27F-F669-72E0-59DF-A066A350CED0}"/>
          </ac:spMkLst>
        </pc:spChg>
        <pc:spChg chg="add mod">
          <ac:chgData name="jithin kamineni" userId="a3b25fc357a5843c" providerId="LiveId" clId="{7CFD6DEA-D17A-42C0-841D-49D93E5862F4}" dt="2026-04-19T16:45:19.484" v="95" actId="1076"/>
          <ac:spMkLst>
            <pc:docMk/>
            <pc:sldMk cId="4245735691" sldId="266"/>
            <ac:spMk id="4" creationId="{A95CA624-718F-507A-F3DC-A81A3D2470BD}"/>
          </ac:spMkLst>
        </pc:spChg>
      </pc:sldChg>
      <pc:sldChg chg="addSp modSp new mod">
        <pc:chgData name="jithin kamineni" userId="a3b25fc357a5843c" providerId="LiveId" clId="{7CFD6DEA-D17A-42C0-841D-49D93E5862F4}" dt="2026-04-19T18:36:58.414" v="454" actId="20577"/>
        <pc:sldMkLst>
          <pc:docMk/>
          <pc:sldMk cId="3654515177" sldId="267"/>
        </pc:sldMkLst>
        <pc:spChg chg="add mod">
          <ac:chgData name="jithin kamineni" userId="a3b25fc357a5843c" providerId="LiveId" clId="{7CFD6DEA-D17A-42C0-841D-49D93E5862F4}" dt="2026-04-19T16:43:41.591" v="85"/>
          <ac:spMkLst>
            <pc:docMk/>
            <pc:sldMk cId="3654515177" sldId="267"/>
            <ac:spMk id="2" creationId="{A8B4E337-84BB-B3EA-0FF0-B5EBB991DE88}"/>
          </ac:spMkLst>
        </pc:spChg>
        <pc:spChg chg="add mod">
          <ac:chgData name="jithin kamineni" userId="a3b25fc357a5843c" providerId="LiveId" clId="{7CFD6DEA-D17A-42C0-841D-49D93E5862F4}" dt="2026-04-19T18:36:58.414" v="454" actId="20577"/>
          <ac:spMkLst>
            <pc:docMk/>
            <pc:sldMk cId="3654515177" sldId="267"/>
            <ac:spMk id="4" creationId="{DC70544D-CBCF-8E02-E703-B9AF0B7A71F5}"/>
          </ac:spMkLst>
        </pc:spChg>
      </pc:sldChg>
      <pc:sldChg chg="addSp modSp new">
        <pc:chgData name="jithin kamineni" userId="a3b25fc357a5843c" providerId="LiveId" clId="{7CFD6DEA-D17A-42C0-841D-49D93E5862F4}" dt="2026-04-19T16:46:51.569" v="109"/>
        <pc:sldMkLst>
          <pc:docMk/>
          <pc:sldMk cId="38106909" sldId="268"/>
        </pc:sldMkLst>
        <pc:spChg chg="add mod">
          <ac:chgData name="jithin kamineni" userId="a3b25fc357a5843c" providerId="LiveId" clId="{7CFD6DEA-D17A-42C0-841D-49D93E5862F4}" dt="2026-04-19T16:46:51.569" v="109"/>
          <ac:spMkLst>
            <pc:docMk/>
            <pc:sldMk cId="38106909" sldId="268"/>
            <ac:spMk id="2" creationId="{6CB50DFD-C859-3DC5-9B91-5360091C1C95}"/>
          </ac:spMkLst>
        </pc:spChg>
        <pc:picChg chg="add mod">
          <ac:chgData name="jithin kamineni" userId="a3b25fc357a5843c" providerId="LiveId" clId="{7CFD6DEA-D17A-42C0-841D-49D93E5862F4}" dt="2026-04-19T16:46:51.569" v="109"/>
          <ac:picMkLst>
            <pc:docMk/>
            <pc:sldMk cId="38106909" sldId="268"/>
            <ac:picMk id="3" creationId="{175625AF-87ED-4013-2806-B8E8EF2E2067}"/>
          </ac:picMkLst>
        </pc:picChg>
      </pc:sldChg>
      <pc:sldChg chg="addSp delSp modSp new mod">
        <pc:chgData name="jithin kamineni" userId="a3b25fc357a5843c" providerId="LiveId" clId="{7CFD6DEA-D17A-42C0-841D-49D93E5862F4}" dt="2026-04-19T17:44:20.618" v="154" actId="1076"/>
        <pc:sldMkLst>
          <pc:docMk/>
          <pc:sldMk cId="2189882440" sldId="269"/>
        </pc:sldMkLst>
        <pc:spChg chg="add del">
          <ac:chgData name="jithin kamineni" userId="a3b25fc357a5843c" providerId="LiveId" clId="{7CFD6DEA-D17A-42C0-841D-49D93E5862F4}" dt="2026-04-19T17:02:37.206" v="113" actId="22"/>
          <ac:spMkLst>
            <pc:docMk/>
            <pc:sldMk cId="2189882440" sldId="269"/>
            <ac:spMk id="3" creationId="{8D39C036-EC25-CCCD-BE41-1E43EB9E198A}"/>
          </ac:spMkLst>
        </pc:spChg>
        <pc:spChg chg="add mod">
          <ac:chgData name="jithin kamineni" userId="a3b25fc357a5843c" providerId="LiveId" clId="{7CFD6DEA-D17A-42C0-841D-49D93E5862F4}" dt="2026-04-19T17:43:02.473" v="135" actId="14100"/>
          <ac:spMkLst>
            <pc:docMk/>
            <pc:sldMk cId="2189882440" sldId="269"/>
            <ac:spMk id="5" creationId="{18F33481-E969-F18C-DBC5-5410B016027D}"/>
          </ac:spMkLst>
        </pc:spChg>
        <pc:spChg chg="add mod">
          <ac:chgData name="jithin kamineni" userId="a3b25fc357a5843c" providerId="LiveId" clId="{7CFD6DEA-D17A-42C0-841D-49D93E5862F4}" dt="2026-04-19T17:44:20.618" v="154" actId="1076"/>
          <ac:spMkLst>
            <pc:docMk/>
            <pc:sldMk cId="2189882440" sldId="269"/>
            <ac:spMk id="7" creationId="{F1C10748-C425-2262-D2A1-F07CB4EC1410}"/>
          </ac:spMkLst>
        </pc:spChg>
      </pc:sldChg>
      <pc:sldChg chg="addSp modSp new mod">
        <pc:chgData name="jithin kamineni" userId="a3b25fc357a5843c" providerId="LiveId" clId="{7CFD6DEA-D17A-42C0-841D-49D93E5862F4}" dt="2026-04-19T17:43:17.256" v="141" actId="14100"/>
        <pc:sldMkLst>
          <pc:docMk/>
          <pc:sldMk cId="1525418315" sldId="270"/>
        </pc:sldMkLst>
        <pc:spChg chg="add mod">
          <ac:chgData name="jithin kamineni" userId="a3b25fc357a5843c" providerId="LiveId" clId="{7CFD6DEA-D17A-42C0-841D-49D93E5862F4}" dt="2026-04-19T17:43:17.256" v="141" actId="14100"/>
          <ac:spMkLst>
            <pc:docMk/>
            <pc:sldMk cId="1525418315" sldId="270"/>
            <ac:spMk id="3" creationId="{A00413B2-3A62-E79A-4263-BFB2113CB14C}"/>
          </ac:spMkLst>
        </pc:spChg>
      </pc:sldChg>
      <pc:sldChg chg="addSp delSp modSp new mod">
        <pc:chgData name="jithin kamineni" userId="a3b25fc357a5843c" providerId="LiveId" clId="{7CFD6DEA-D17A-42C0-841D-49D93E5862F4}" dt="2026-04-19T18:33:55.724" v="368" actId="1076"/>
        <pc:sldMkLst>
          <pc:docMk/>
          <pc:sldMk cId="2792423483" sldId="271"/>
        </pc:sldMkLst>
        <pc:spChg chg="add del">
          <ac:chgData name="jithin kamineni" userId="a3b25fc357a5843c" providerId="LiveId" clId="{7CFD6DEA-D17A-42C0-841D-49D93E5862F4}" dt="2026-04-19T17:44:39.503" v="157" actId="22"/>
          <ac:spMkLst>
            <pc:docMk/>
            <pc:sldMk cId="2792423483" sldId="271"/>
            <ac:spMk id="3" creationId="{CCE5EF42-A936-592C-ABEB-F0403DE34F14}"/>
          </ac:spMkLst>
        </pc:spChg>
        <pc:spChg chg="add del">
          <ac:chgData name="jithin kamineni" userId="a3b25fc357a5843c" providerId="LiveId" clId="{7CFD6DEA-D17A-42C0-841D-49D93E5862F4}" dt="2026-04-19T17:44:40.786" v="159" actId="22"/>
          <ac:spMkLst>
            <pc:docMk/>
            <pc:sldMk cId="2792423483" sldId="271"/>
            <ac:spMk id="5" creationId="{817BF9B7-08E9-EE36-C65A-9C95A1DBF2D5}"/>
          </ac:spMkLst>
        </pc:spChg>
        <pc:spChg chg="add mod">
          <ac:chgData name="jithin kamineni" userId="a3b25fc357a5843c" providerId="LiveId" clId="{7CFD6DEA-D17A-42C0-841D-49D93E5862F4}" dt="2026-04-19T17:45:00.102" v="172" actId="1076"/>
          <ac:spMkLst>
            <pc:docMk/>
            <pc:sldMk cId="2792423483" sldId="271"/>
            <ac:spMk id="7" creationId="{669B04E8-E545-1966-969A-72B997CAC0D8}"/>
          </ac:spMkLst>
        </pc:spChg>
        <pc:spChg chg="add mod">
          <ac:chgData name="jithin kamineni" userId="a3b25fc357a5843c" providerId="LiveId" clId="{7CFD6DEA-D17A-42C0-841D-49D93E5862F4}" dt="2026-04-19T18:33:55.724" v="368" actId="1076"/>
          <ac:spMkLst>
            <pc:docMk/>
            <pc:sldMk cId="2792423483" sldId="271"/>
            <ac:spMk id="11" creationId="{A3E4AE3B-EF1C-FC6C-2ED5-181053DD126C}"/>
          </ac:spMkLst>
        </pc:spChg>
        <pc:picChg chg="add mod">
          <ac:chgData name="jithin kamineni" userId="a3b25fc357a5843c" providerId="LiveId" clId="{7CFD6DEA-D17A-42C0-841D-49D93E5862F4}" dt="2026-04-19T18:24:18.753" v="173"/>
          <ac:picMkLst>
            <pc:docMk/>
            <pc:sldMk cId="2792423483" sldId="271"/>
            <ac:picMk id="8" creationId="{29FA7022-E35F-B92C-409C-302BD6E5E5F2}"/>
          </ac:picMkLst>
        </pc:picChg>
        <pc:picChg chg="add mod">
          <ac:chgData name="jithin kamineni" userId="a3b25fc357a5843c" providerId="LiveId" clId="{7CFD6DEA-D17A-42C0-841D-49D93E5862F4}" dt="2026-04-19T18:24:18.753" v="173"/>
          <ac:picMkLst>
            <pc:docMk/>
            <pc:sldMk cId="2792423483" sldId="271"/>
            <ac:picMk id="9" creationId="{07499559-23DA-0F54-40ED-91F2AD250D19}"/>
          </ac:picMkLst>
        </pc:picChg>
        <pc:picChg chg="add mod">
          <ac:chgData name="jithin kamineni" userId="a3b25fc357a5843c" providerId="LiveId" clId="{7CFD6DEA-D17A-42C0-841D-49D93E5862F4}" dt="2026-04-19T18:24:18.753" v="173"/>
          <ac:picMkLst>
            <pc:docMk/>
            <pc:sldMk cId="2792423483" sldId="271"/>
            <ac:picMk id="10" creationId="{A9D422F8-D1E0-9D93-EF32-66525A5FEB2C}"/>
          </ac:picMkLst>
        </pc:picChg>
      </pc:sldChg>
      <pc:sldChg chg="addSp delSp modSp new mod">
        <pc:chgData name="jithin kamineni" userId="a3b25fc357a5843c" providerId="LiveId" clId="{7CFD6DEA-D17A-42C0-841D-49D93E5862F4}" dt="2026-04-19T18:33:50.149" v="367" actId="20577"/>
        <pc:sldMkLst>
          <pc:docMk/>
          <pc:sldMk cId="3244561575" sldId="272"/>
        </pc:sldMkLst>
        <pc:spChg chg="add mod">
          <ac:chgData name="jithin kamineni" userId="a3b25fc357a5843c" providerId="LiveId" clId="{7CFD6DEA-D17A-42C0-841D-49D93E5862F4}" dt="2026-04-19T18:33:50.149" v="367" actId="20577"/>
          <ac:spMkLst>
            <pc:docMk/>
            <pc:sldMk cId="3244561575" sldId="272"/>
            <ac:spMk id="9" creationId="{C2B8B21A-B537-AB2C-D5D6-F3A27310D396}"/>
          </ac:spMkLst>
        </pc:spChg>
        <pc:spChg chg="add mod">
          <ac:chgData name="jithin kamineni" userId="a3b25fc357a5843c" providerId="LiveId" clId="{7CFD6DEA-D17A-42C0-841D-49D93E5862F4}" dt="2026-04-19T18:32:44.288" v="294" actId="20577"/>
          <ac:spMkLst>
            <pc:docMk/>
            <pc:sldMk cId="3244561575" sldId="272"/>
            <ac:spMk id="10" creationId="{F0265698-63FC-1CC6-DCE4-AF3E8497D057}"/>
          </ac:spMkLst>
        </pc:spChg>
        <pc:spChg chg="add mod">
          <ac:chgData name="jithin kamineni" userId="a3b25fc357a5843c" providerId="LiveId" clId="{7CFD6DEA-D17A-42C0-841D-49D93E5862F4}" dt="2026-04-19T18:33:47.650" v="366" actId="20577"/>
          <ac:spMkLst>
            <pc:docMk/>
            <pc:sldMk cId="3244561575" sldId="272"/>
            <ac:spMk id="11" creationId="{3A40AA1C-7CA9-7E3C-AA28-5BBC7C0FDC69}"/>
          </ac:spMkLst>
        </pc:spChg>
        <pc:picChg chg="add mod">
          <ac:chgData name="jithin kamineni" userId="a3b25fc357a5843c" providerId="LiveId" clId="{7CFD6DEA-D17A-42C0-841D-49D93E5862F4}" dt="2026-04-19T18:28:19.564" v="177" actId="14100"/>
          <ac:picMkLst>
            <pc:docMk/>
            <pc:sldMk cId="3244561575" sldId="272"/>
            <ac:picMk id="2" creationId="{6BA3DA78-3208-71AA-9A0D-CEF619EA863A}"/>
          </ac:picMkLst>
        </pc:picChg>
        <pc:picChg chg="add mod">
          <ac:chgData name="jithin kamineni" userId="a3b25fc357a5843c" providerId="LiveId" clId="{7CFD6DEA-D17A-42C0-841D-49D93E5862F4}" dt="2026-04-19T18:29:50.871" v="199" actId="1076"/>
          <ac:picMkLst>
            <pc:docMk/>
            <pc:sldMk cId="3244561575" sldId="272"/>
            <ac:picMk id="3" creationId="{EF26C9D3-C83A-3E0A-9DE5-5B0007E441B9}"/>
          </ac:picMkLst>
        </pc:picChg>
        <pc:picChg chg="add mod">
          <ac:chgData name="jithin kamineni" userId="a3b25fc357a5843c" providerId="LiveId" clId="{7CFD6DEA-D17A-42C0-841D-49D93E5862F4}" dt="2026-04-19T18:29:31.097" v="191" actId="1076"/>
          <ac:picMkLst>
            <pc:docMk/>
            <pc:sldMk cId="3244561575" sldId="272"/>
            <ac:picMk id="4" creationId="{F2EEC3AC-FFDD-E99E-3BDC-3BF3C7F28DD0}"/>
          </ac:picMkLst>
        </pc:picChg>
        <pc:picChg chg="add del mod">
          <ac:chgData name="jithin kamineni" userId="a3b25fc357a5843c" providerId="LiveId" clId="{7CFD6DEA-D17A-42C0-841D-49D93E5862F4}" dt="2026-04-19T18:29:26.930" v="190" actId="478"/>
          <ac:picMkLst>
            <pc:docMk/>
            <pc:sldMk cId="3244561575" sldId="272"/>
            <ac:picMk id="5" creationId="{20560EE6-EEF8-64A4-51A0-BD87EE28015E}"/>
          </ac:picMkLst>
        </pc:picChg>
        <pc:picChg chg="add mod">
          <ac:chgData name="jithin kamineni" userId="a3b25fc357a5843c" providerId="LiveId" clId="{7CFD6DEA-D17A-42C0-841D-49D93E5862F4}" dt="2026-04-19T18:29:52.928" v="200" actId="1076"/>
          <ac:picMkLst>
            <pc:docMk/>
            <pc:sldMk cId="3244561575" sldId="272"/>
            <ac:picMk id="6" creationId="{D2DAA066-D687-411D-5553-4A4DFE991CFE}"/>
          </ac:picMkLst>
        </pc:picChg>
        <pc:picChg chg="add mod">
          <ac:chgData name="jithin kamineni" userId="a3b25fc357a5843c" providerId="LiveId" clId="{7CFD6DEA-D17A-42C0-841D-49D93E5862F4}" dt="2026-04-19T18:29:44.069" v="197" actId="14100"/>
          <ac:picMkLst>
            <pc:docMk/>
            <pc:sldMk cId="3244561575" sldId="272"/>
            <ac:picMk id="7" creationId="{62D7AAE8-64FB-4D72-83E8-A16A6D3D7AEF}"/>
          </ac:picMkLst>
        </pc:picChg>
        <pc:picChg chg="add mod">
          <ac:chgData name="jithin kamineni" userId="a3b25fc357a5843c" providerId="LiveId" clId="{7CFD6DEA-D17A-42C0-841D-49D93E5862F4}" dt="2026-04-19T18:29:56.279" v="201"/>
          <ac:picMkLst>
            <pc:docMk/>
            <pc:sldMk cId="3244561575" sldId="272"/>
            <ac:picMk id="8" creationId="{343F75D1-13F2-0799-14F2-12C53E37387E}"/>
          </ac:picMkLst>
        </pc:picChg>
      </pc:sldChg>
      <pc:sldChg chg="addSp delSp modSp new mod">
        <pc:chgData name="jithin kamineni" userId="a3b25fc357a5843c" providerId="LiveId" clId="{7CFD6DEA-D17A-42C0-841D-49D93E5862F4}" dt="2026-04-19T20:18:54.980" v="1551" actId="1036"/>
        <pc:sldMkLst>
          <pc:docMk/>
          <pc:sldMk cId="1913631004" sldId="273"/>
        </pc:sldMkLst>
        <pc:spChg chg="add mod">
          <ac:chgData name="jithin kamineni" userId="a3b25fc357a5843c" providerId="LiveId" clId="{7CFD6DEA-D17A-42C0-841D-49D93E5862F4}" dt="2026-04-19T20:18:24.811" v="1541" actId="1035"/>
          <ac:spMkLst>
            <pc:docMk/>
            <pc:sldMk cId="1913631004" sldId="273"/>
            <ac:spMk id="3" creationId="{C5BAECE6-BB8C-2EF8-483F-26F1D6251E97}"/>
          </ac:spMkLst>
        </pc:spChg>
        <pc:spChg chg="add del mod">
          <ac:chgData name="jithin kamineni" userId="a3b25fc357a5843c" providerId="LiveId" clId="{7CFD6DEA-D17A-42C0-841D-49D93E5862F4}" dt="2026-04-19T19:25:48.259" v="878" actId="478"/>
          <ac:spMkLst>
            <pc:docMk/>
            <pc:sldMk cId="1913631004" sldId="273"/>
            <ac:spMk id="11" creationId="{B4B650C5-0BB7-F39F-092A-3D650F46A001}"/>
          </ac:spMkLst>
        </pc:spChg>
        <pc:spChg chg="add del mod">
          <ac:chgData name="jithin kamineni" userId="a3b25fc357a5843c" providerId="LiveId" clId="{7CFD6DEA-D17A-42C0-841D-49D93E5862F4}" dt="2026-04-19T19:25:53.046" v="879" actId="478"/>
          <ac:spMkLst>
            <pc:docMk/>
            <pc:sldMk cId="1913631004" sldId="273"/>
            <ac:spMk id="12" creationId="{16F581FB-30BE-9D4E-EE37-1E4F325B7B30}"/>
          </ac:spMkLst>
        </pc:spChg>
        <pc:spChg chg="add mod">
          <ac:chgData name="jithin kamineni" userId="a3b25fc357a5843c" providerId="LiveId" clId="{7CFD6DEA-D17A-42C0-841D-49D93E5862F4}" dt="2026-04-19T20:18:21.361" v="1539" actId="1036"/>
          <ac:spMkLst>
            <pc:docMk/>
            <pc:sldMk cId="1913631004" sldId="273"/>
            <ac:spMk id="17" creationId="{561FD4DC-15C6-D36A-B56A-440994A7F9FD}"/>
          </ac:spMkLst>
        </pc:spChg>
        <pc:spChg chg="add mod">
          <ac:chgData name="jithin kamineni" userId="a3b25fc357a5843c" providerId="LiveId" clId="{7CFD6DEA-D17A-42C0-841D-49D93E5862F4}" dt="2026-04-19T20:18:21.361" v="1539" actId="1036"/>
          <ac:spMkLst>
            <pc:docMk/>
            <pc:sldMk cId="1913631004" sldId="273"/>
            <ac:spMk id="18" creationId="{9B379564-EF98-8F48-77A8-0A2EEF4C473D}"/>
          </ac:spMkLst>
        </pc:spChg>
        <pc:spChg chg="add mod">
          <ac:chgData name="jithin kamineni" userId="a3b25fc357a5843c" providerId="LiveId" clId="{7CFD6DEA-D17A-42C0-841D-49D93E5862F4}" dt="2026-04-19T20:18:54.980" v="1551" actId="1036"/>
          <ac:spMkLst>
            <pc:docMk/>
            <pc:sldMk cId="1913631004" sldId="273"/>
            <ac:spMk id="19" creationId="{A6B0D66E-E660-1F0B-9D42-4492D1E5599F}"/>
          </ac:spMkLst>
        </pc:spChg>
        <pc:spChg chg="add mod">
          <ac:chgData name="jithin kamineni" userId="a3b25fc357a5843c" providerId="LiveId" clId="{7CFD6DEA-D17A-42C0-841D-49D93E5862F4}" dt="2026-04-19T20:18:54.980" v="1551" actId="1036"/>
          <ac:spMkLst>
            <pc:docMk/>
            <pc:sldMk cId="1913631004" sldId="273"/>
            <ac:spMk id="20" creationId="{DC116755-AB80-D652-D14B-BEFDA5DB1B08}"/>
          </ac:spMkLst>
        </pc:spChg>
        <pc:spChg chg="add mod">
          <ac:chgData name="jithin kamineni" userId="a3b25fc357a5843c" providerId="LiveId" clId="{7CFD6DEA-D17A-42C0-841D-49D93E5862F4}" dt="2026-04-19T20:18:21.361" v="1539" actId="1036"/>
          <ac:spMkLst>
            <pc:docMk/>
            <pc:sldMk cId="1913631004" sldId="273"/>
            <ac:spMk id="21" creationId="{79977C02-DC5A-2DE0-6F63-E25E3A612B5B}"/>
          </ac:spMkLst>
        </pc:spChg>
        <pc:graphicFrameChg chg="add del mod modGraphic">
          <ac:chgData name="jithin kamineni" userId="a3b25fc357a5843c" providerId="LiveId" clId="{7CFD6DEA-D17A-42C0-841D-49D93E5862F4}" dt="2026-04-19T19:09:43.737" v="754" actId="21"/>
          <ac:graphicFrameMkLst>
            <pc:docMk/>
            <pc:sldMk cId="1913631004" sldId="273"/>
            <ac:graphicFrameMk id="4" creationId="{5E04CC43-8A91-B0F5-3BAB-BEAD211047EE}"/>
          </ac:graphicFrameMkLst>
        </pc:graphicFrameChg>
        <pc:picChg chg="add del mod">
          <ac:chgData name="jithin kamineni" userId="a3b25fc357a5843c" providerId="LiveId" clId="{7CFD6DEA-D17A-42C0-841D-49D93E5862F4}" dt="2026-04-19T19:40:24.744" v="924" actId="21"/>
          <ac:picMkLst>
            <pc:docMk/>
            <pc:sldMk cId="1913631004" sldId="273"/>
            <ac:picMk id="5" creationId="{667AB5C3-D63B-13FF-6440-3E98EEFBEC85}"/>
          </ac:picMkLst>
        </pc:picChg>
        <pc:picChg chg="add del mod">
          <ac:chgData name="jithin kamineni" userId="a3b25fc357a5843c" providerId="LiveId" clId="{7CFD6DEA-D17A-42C0-841D-49D93E5862F4}" dt="2026-04-19T19:40:24.744" v="924" actId="21"/>
          <ac:picMkLst>
            <pc:docMk/>
            <pc:sldMk cId="1913631004" sldId="273"/>
            <ac:picMk id="6" creationId="{857960AE-B5B8-6D26-5F78-1CE313E622B2}"/>
          </ac:picMkLst>
        </pc:picChg>
        <pc:picChg chg="add del mod">
          <ac:chgData name="jithin kamineni" userId="a3b25fc357a5843c" providerId="LiveId" clId="{7CFD6DEA-D17A-42C0-841D-49D93E5862F4}" dt="2026-04-19T19:40:24.744" v="924" actId="21"/>
          <ac:picMkLst>
            <pc:docMk/>
            <pc:sldMk cId="1913631004" sldId="273"/>
            <ac:picMk id="7" creationId="{90A448D9-C32E-0DF7-CD7F-7F55A6F484CD}"/>
          </ac:picMkLst>
        </pc:picChg>
        <pc:picChg chg="add mod">
          <ac:chgData name="jithin kamineni" userId="a3b25fc357a5843c" providerId="LiveId" clId="{7CFD6DEA-D17A-42C0-841D-49D93E5862F4}" dt="2026-04-19T20:18:21.361" v="1539" actId="1036"/>
          <ac:picMkLst>
            <pc:docMk/>
            <pc:sldMk cId="1913631004" sldId="273"/>
            <ac:picMk id="8" creationId="{9C27E328-6CF5-48C1-AA81-E85FEC7D5DA0}"/>
          </ac:picMkLst>
        </pc:picChg>
        <pc:picChg chg="add del mod">
          <ac:chgData name="jithin kamineni" userId="a3b25fc357a5843c" providerId="LiveId" clId="{7CFD6DEA-D17A-42C0-841D-49D93E5862F4}" dt="2026-04-19T19:29:28.354" v="888" actId="478"/>
          <ac:picMkLst>
            <pc:docMk/>
            <pc:sldMk cId="1913631004" sldId="273"/>
            <ac:picMk id="9" creationId="{EA4C804B-4D9D-F7B1-C433-EFE3D3EC340B}"/>
          </ac:picMkLst>
        </pc:picChg>
        <pc:picChg chg="add del mod">
          <ac:chgData name="jithin kamineni" userId="a3b25fc357a5843c" providerId="LiveId" clId="{7CFD6DEA-D17A-42C0-841D-49D93E5862F4}" dt="2026-04-19T19:29:28.354" v="888" actId="478"/>
          <ac:picMkLst>
            <pc:docMk/>
            <pc:sldMk cId="1913631004" sldId="273"/>
            <ac:picMk id="10" creationId="{C71203AA-5598-0DB9-51EC-00C826BF917F}"/>
          </ac:picMkLst>
        </pc:picChg>
        <pc:picChg chg="add mod">
          <ac:chgData name="jithin kamineni" userId="a3b25fc357a5843c" providerId="LiveId" clId="{7CFD6DEA-D17A-42C0-841D-49D93E5862F4}" dt="2026-04-19T20:18:32.766" v="1543" actId="1076"/>
          <ac:picMkLst>
            <pc:docMk/>
            <pc:sldMk cId="1913631004" sldId="273"/>
            <ac:picMk id="13" creationId="{17A12D9D-C289-807E-2067-625218E1841D}"/>
          </ac:picMkLst>
        </pc:picChg>
        <pc:picChg chg="add mod">
          <ac:chgData name="jithin kamineni" userId="a3b25fc357a5843c" providerId="LiveId" clId="{7CFD6DEA-D17A-42C0-841D-49D93E5862F4}" dt="2026-04-19T20:18:21.361" v="1539" actId="1036"/>
          <ac:picMkLst>
            <pc:docMk/>
            <pc:sldMk cId="1913631004" sldId="273"/>
            <ac:picMk id="14" creationId="{84D3A779-D745-169C-C32D-BCE9FF066181}"/>
          </ac:picMkLst>
        </pc:picChg>
        <pc:picChg chg="add mod">
          <ac:chgData name="jithin kamineni" userId="a3b25fc357a5843c" providerId="LiveId" clId="{7CFD6DEA-D17A-42C0-841D-49D93E5862F4}" dt="2026-04-19T20:18:54.980" v="1551" actId="1036"/>
          <ac:picMkLst>
            <pc:docMk/>
            <pc:sldMk cId="1913631004" sldId="273"/>
            <ac:picMk id="15" creationId="{00FF1BA5-9BD9-E09D-61DE-D913559CA8C8}"/>
          </ac:picMkLst>
        </pc:picChg>
        <pc:picChg chg="add mod">
          <ac:chgData name="jithin kamineni" userId="a3b25fc357a5843c" providerId="LiveId" clId="{7CFD6DEA-D17A-42C0-841D-49D93E5862F4}" dt="2026-04-19T20:18:54.980" v="1551" actId="1036"/>
          <ac:picMkLst>
            <pc:docMk/>
            <pc:sldMk cId="1913631004" sldId="273"/>
            <ac:picMk id="16" creationId="{853BEC7A-49C9-64E5-2B01-8560C243DEE2}"/>
          </ac:picMkLst>
        </pc:picChg>
      </pc:sldChg>
      <pc:sldChg chg="addSp delSp modSp new mod">
        <pc:chgData name="jithin kamineni" userId="a3b25fc357a5843c" providerId="LiveId" clId="{7CFD6DEA-D17A-42C0-841D-49D93E5862F4}" dt="2026-04-19T20:22:39.584" v="1558" actId="6549"/>
        <pc:sldMkLst>
          <pc:docMk/>
          <pc:sldMk cId="3527029087" sldId="274"/>
        </pc:sldMkLst>
        <pc:spChg chg="add del mod">
          <ac:chgData name="jithin kamineni" userId="a3b25fc357a5843c" providerId="LiveId" clId="{7CFD6DEA-D17A-42C0-841D-49D93E5862F4}" dt="2026-04-19T19:51:48.370" v="964" actId="21"/>
          <ac:spMkLst>
            <pc:docMk/>
            <pc:sldMk cId="3527029087" sldId="274"/>
            <ac:spMk id="2" creationId="{2FFC4E51-B3BF-929E-7770-E07EFC0BD4CC}"/>
          </ac:spMkLst>
        </pc:spChg>
        <pc:spChg chg="add del mod">
          <ac:chgData name="jithin kamineni" userId="a3b25fc357a5843c" providerId="LiveId" clId="{7CFD6DEA-D17A-42C0-841D-49D93E5862F4}" dt="2026-04-19T19:51:48.370" v="964" actId="21"/>
          <ac:spMkLst>
            <pc:docMk/>
            <pc:sldMk cId="3527029087" sldId="274"/>
            <ac:spMk id="3" creationId="{B99BFFAD-2E8C-83AB-DE39-6A90BA214BCA}"/>
          </ac:spMkLst>
        </pc:spChg>
        <pc:spChg chg="add del mod">
          <ac:chgData name="jithin kamineni" userId="a3b25fc357a5843c" providerId="LiveId" clId="{7CFD6DEA-D17A-42C0-841D-49D93E5862F4}" dt="2026-04-19T19:51:48.370" v="964" actId="21"/>
          <ac:spMkLst>
            <pc:docMk/>
            <pc:sldMk cId="3527029087" sldId="274"/>
            <ac:spMk id="4" creationId="{BEBCEE84-5C9C-9A20-77D7-FCC7AAD88641}"/>
          </ac:spMkLst>
        </pc:spChg>
        <pc:spChg chg="add del mod">
          <ac:chgData name="jithin kamineni" userId="a3b25fc357a5843c" providerId="LiveId" clId="{7CFD6DEA-D17A-42C0-841D-49D93E5862F4}" dt="2026-04-19T19:51:48.370" v="964" actId="21"/>
          <ac:spMkLst>
            <pc:docMk/>
            <pc:sldMk cId="3527029087" sldId="274"/>
            <ac:spMk id="5" creationId="{50EB248B-1D32-8040-53FF-9773B3F3D700}"/>
          </ac:spMkLst>
        </pc:spChg>
        <pc:spChg chg="add mod">
          <ac:chgData name="jithin kamineni" userId="a3b25fc357a5843c" providerId="LiveId" clId="{7CFD6DEA-D17A-42C0-841D-49D93E5862F4}" dt="2026-04-19T19:58:21.996" v="1381" actId="1076"/>
          <ac:spMkLst>
            <pc:docMk/>
            <pc:sldMk cId="3527029087" sldId="274"/>
            <ac:spMk id="9" creationId="{E9B02D8F-0B17-86C6-C512-33C476A9A4C5}"/>
          </ac:spMkLst>
        </pc:spChg>
        <pc:spChg chg="add mod">
          <ac:chgData name="jithin kamineni" userId="a3b25fc357a5843c" providerId="LiveId" clId="{7CFD6DEA-D17A-42C0-841D-49D93E5862F4}" dt="2026-04-19T19:58:44.458" v="1388" actId="1076"/>
          <ac:spMkLst>
            <pc:docMk/>
            <pc:sldMk cId="3527029087" sldId="274"/>
            <ac:spMk id="10" creationId="{5B2FFDB1-4C15-72CD-1643-C3ABA8EB0582}"/>
          </ac:spMkLst>
        </pc:spChg>
        <pc:spChg chg="add mod">
          <ac:chgData name="jithin kamineni" userId="a3b25fc357a5843c" providerId="LiveId" clId="{7CFD6DEA-D17A-42C0-841D-49D93E5862F4}" dt="2026-04-19T19:58:48.545" v="1389" actId="1076"/>
          <ac:spMkLst>
            <pc:docMk/>
            <pc:sldMk cId="3527029087" sldId="274"/>
            <ac:spMk id="11" creationId="{EF49E107-C826-E16D-0237-A73D58424987}"/>
          </ac:spMkLst>
        </pc:spChg>
        <pc:spChg chg="add mod">
          <ac:chgData name="jithin kamineni" userId="a3b25fc357a5843c" providerId="LiveId" clId="{7CFD6DEA-D17A-42C0-841D-49D93E5862F4}" dt="2026-04-19T20:18:07.845" v="1532" actId="1076"/>
          <ac:spMkLst>
            <pc:docMk/>
            <pc:sldMk cId="3527029087" sldId="274"/>
            <ac:spMk id="16" creationId="{AEF00379-613A-35CC-2C40-7786D1280D24}"/>
          </ac:spMkLst>
        </pc:spChg>
        <pc:spChg chg="add mod">
          <ac:chgData name="jithin kamineni" userId="a3b25fc357a5843c" providerId="LiveId" clId="{7CFD6DEA-D17A-42C0-841D-49D93E5862F4}" dt="2026-04-19T19:52:57.627" v="1103" actId="14100"/>
          <ac:spMkLst>
            <pc:docMk/>
            <pc:sldMk cId="3527029087" sldId="274"/>
            <ac:spMk id="19" creationId="{284BE1EE-D31B-F75C-50A8-2E53D58A31C0}"/>
          </ac:spMkLst>
        </pc:spChg>
        <pc:spChg chg="add mod">
          <ac:chgData name="jithin kamineni" userId="a3b25fc357a5843c" providerId="LiveId" clId="{7CFD6DEA-D17A-42C0-841D-49D93E5862F4}" dt="2026-04-19T20:19:05.249" v="1552" actId="1076"/>
          <ac:spMkLst>
            <pc:docMk/>
            <pc:sldMk cId="3527029087" sldId="274"/>
            <ac:spMk id="20" creationId="{1C29029F-3752-DD87-C9B3-D68FDD7C4EFC}"/>
          </ac:spMkLst>
        </pc:spChg>
        <pc:graphicFrameChg chg="add mod">
          <ac:chgData name="jithin kamineni" userId="a3b25fc357a5843c" providerId="LiveId" clId="{7CFD6DEA-D17A-42C0-841D-49D93E5862F4}" dt="2026-04-19T19:52:03.950" v="1012"/>
          <ac:graphicFrameMkLst>
            <pc:docMk/>
            <pc:sldMk cId="3527029087" sldId="274"/>
            <ac:graphicFrameMk id="17" creationId="{5E04CC43-8A91-B0F5-3BAB-BEAD211047EE}"/>
          </ac:graphicFrameMkLst>
        </pc:graphicFrameChg>
        <pc:graphicFrameChg chg="add mod modGraphic">
          <ac:chgData name="jithin kamineni" userId="a3b25fc357a5843c" providerId="LiveId" clId="{7CFD6DEA-D17A-42C0-841D-49D93E5862F4}" dt="2026-04-19T20:22:39.584" v="1558" actId="6549"/>
          <ac:graphicFrameMkLst>
            <pc:docMk/>
            <pc:sldMk cId="3527029087" sldId="274"/>
            <ac:graphicFrameMk id="18" creationId="{02DA8015-D6B3-2E88-11B7-72F4F517F1B1}"/>
          </ac:graphicFrameMkLst>
        </pc:graphicFrameChg>
        <pc:picChg chg="add del mod">
          <ac:chgData name="jithin kamineni" userId="a3b25fc357a5843c" providerId="LiveId" clId="{7CFD6DEA-D17A-42C0-841D-49D93E5862F4}" dt="2026-04-19T19:51:48.370" v="964" actId="21"/>
          <ac:picMkLst>
            <pc:docMk/>
            <pc:sldMk cId="3527029087" sldId="274"/>
            <ac:picMk id="6" creationId="{758F04F0-6474-7D59-E2DE-33EA8A67AEAB}"/>
          </ac:picMkLst>
        </pc:picChg>
        <pc:picChg chg="add del mod">
          <ac:chgData name="jithin kamineni" userId="a3b25fc357a5843c" providerId="LiveId" clId="{7CFD6DEA-D17A-42C0-841D-49D93E5862F4}" dt="2026-04-19T19:51:48.370" v="964" actId="21"/>
          <ac:picMkLst>
            <pc:docMk/>
            <pc:sldMk cId="3527029087" sldId="274"/>
            <ac:picMk id="7" creationId="{BE8896E7-01AB-D11A-3FEA-25F44ABB8C6D}"/>
          </ac:picMkLst>
        </pc:picChg>
        <pc:picChg chg="add del mod">
          <ac:chgData name="jithin kamineni" userId="a3b25fc357a5843c" providerId="LiveId" clId="{7CFD6DEA-D17A-42C0-841D-49D93E5862F4}" dt="2026-04-19T19:51:48.370" v="964" actId="21"/>
          <ac:picMkLst>
            <pc:docMk/>
            <pc:sldMk cId="3527029087" sldId="274"/>
            <ac:picMk id="8" creationId="{A6F970C8-D0C6-035E-360A-CDE22441F386}"/>
          </ac:picMkLst>
        </pc:picChg>
        <pc:picChg chg="add mod">
          <ac:chgData name="jithin kamineni" userId="a3b25fc357a5843c" providerId="LiveId" clId="{7CFD6DEA-D17A-42C0-841D-49D93E5862F4}" dt="2026-04-19T19:58:36.658" v="1385" actId="1076"/>
          <ac:picMkLst>
            <pc:docMk/>
            <pc:sldMk cId="3527029087" sldId="274"/>
            <ac:picMk id="12" creationId="{9F5D242A-D6F6-5D5C-45B5-8F373408DE35}"/>
          </ac:picMkLst>
        </pc:picChg>
        <pc:picChg chg="add mod">
          <ac:chgData name="jithin kamineni" userId="a3b25fc357a5843c" providerId="LiveId" clId="{7CFD6DEA-D17A-42C0-841D-49D93E5862F4}" dt="2026-04-19T19:58:10.167" v="1378" actId="14100"/>
          <ac:picMkLst>
            <pc:docMk/>
            <pc:sldMk cId="3527029087" sldId="274"/>
            <ac:picMk id="13" creationId="{17F4D552-C0C5-7399-B8D0-C46A1341A873}"/>
          </ac:picMkLst>
        </pc:picChg>
        <pc:picChg chg="add mod">
          <ac:chgData name="jithin kamineni" userId="a3b25fc357a5843c" providerId="LiveId" clId="{7CFD6DEA-D17A-42C0-841D-49D93E5862F4}" dt="2026-04-19T19:58:52.150" v="1390" actId="14100"/>
          <ac:picMkLst>
            <pc:docMk/>
            <pc:sldMk cId="3527029087" sldId="274"/>
            <ac:picMk id="14" creationId="{52A6C885-4530-D012-FE6D-D69381D4805A}"/>
          </ac:picMkLst>
        </pc:picChg>
      </pc:sldChg>
      <pc:sldChg chg="addSp delSp modSp new mod">
        <pc:chgData name="jithin kamineni" userId="a3b25fc357a5843c" providerId="LiveId" clId="{7CFD6DEA-D17A-42C0-841D-49D93E5862F4}" dt="2026-04-19T18:39:55.372" v="489" actId="14100"/>
        <pc:sldMkLst>
          <pc:docMk/>
          <pc:sldMk cId="1563413880" sldId="275"/>
        </pc:sldMkLst>
        <pc:spChg chg="add mod">
          <ac:chgData name="jithin kamineni" userId="a3b25fc357a5843c" providerId="LiveId" clId="{7CFD6DEA-D17A-42C0-841D-49D93E5862F4}" dt="2026-04-19T18:39:17.174" v="476" actId="113"/>
          <ac:spMkLst>
            <pc:docMk/>
            <pc:sldMk cId="1563413880" sldId="275"/>
            <ac:spMk id="2" creationId="{7B276DBB-35FE-4DB4-B616-E9D4B55D1D6D}"/>
          </ac:spMkLst>
        </pc:spChg>
        <pc:spChg chg="add mod">
          <ac:chgData name="jithin kamineni" userId="a3b25fc357a5843c" providerId="LiveId" clId="{7CFD6DEA-D17A-42C0-841D-49D93E5862F4}" dt="2026-04-19T18:39:25.201" v="478" actId="1076"/>
          <ac:spMkLst>
            <pc:docMk/>
            <pc:sldMk cId="1563413880" sldId="275"/>
            <ac:spMk id="3" creationId="{49026005-3EF9-8D11-5F74-8235A3A1A97D}"/>
          </ac:spMkLst>
        </pc:spChg>
        <pc:spChg chg="add del mod">
          <ac:chgData name="jithin kamineni" userId="a3b25fc357a5843c" providerId="LiveId" clId="{7CFD6DEA-D17A-42C0-841D-49D93E5862F4}" dt="2026-04-19T18:38:26.628" v="465" actId="478"/>
          <ac:spMkLst>
            <pc:docMk/>
            <pc:sldMk cId="1563413880" sldId="275"/>
            <ac:spMk id="5" creationId="{B018B985-2DE3-F0C7-5838-D78786E63EB8}"/>
          </ac:spMkLst>
        </pc:spChg>
        <pc:spChg chg="add mod">
          <ac:chgData name="jithin kamineni" userId="a3b25fc357a5843c" providerId="LiveId" clId="{7CFD6DEA-D17A-42C0-841D-49D93E5862F4}" dt="2026-04-19T18:39:21.370" v="477" actId="1076"/>
          <ac:spMkLst>
            <pc:docMk/>
            <pc:sldMk cId="1563413880" sldId="275"/>
            <ac:spMk id="6" creationId="{C05BED23-6991-79E0-1F06-F23AEA781EA9}"/>
          </ac:spMkLst>
        </pc:spChg>
        <pc:spChg chg="add mod">
          <ac:chgData name="jithin kamineni" userId="a3b25fc357a5843c" providerId="LiveId" clId="{7CFD6DEA-D17A-42C0-841D-49D93E5862F4}" dt="2026-04-19T18:39:55.372" v="489" actId="14100"/>
          <ac:spMkLst>
            <pc:docMk/>
            <pc:sldMk cId="1563413880" sldId="275"/>
            <ac:spMk id="7" creationId="{2CF9F22A-EAE8-3841-09C7-3B1109FB9095}"/>
          </ac:spMkLst>
        </pc:spChg>
      </pc:sldChg>
      <pc:sldChg chg="addSp delSp modSp new del mod">
        <pc:chgData name="jithin kamineni" userId="a3b25fc357a5843c" providerId="LiveId" clId="{7CFD6DEA-D17A-42C0-841D-49D93E5862F4}" dt="2026-04-19T20:03:50.396" v="1472" actId="47"/>
        <pc:sldMkLst>
          <pc:docMk/>
          <pc:sldMk cId="1242431695" sldId="276"/>
        </pc:sldMkLst>
        <pc:spChg chg="add del mod">
          <ac:chgData name="jithin kamineni" userId="a3b25fc357a5843c" providerId="LiveId" clId="{7CFD6DEA-D17A-42C0-841D-49D93E5862F4}" dt="2026-04-19T19:15:13.674" v="815" actId="478"/>
          <ac:spMkLst>
            <pc:docMk/>
            <pc:sldMk cId="1242431695" sldId="276"/>
            <ac:spMk id="3" creationId="{22D3B363-13BD-BD47-DF95-E8A1E4D3ADF7}"/>
          </ac:spMkLst>
        </pc:spChg>
        <pc:spChg chg="add del mod">
          <ac:chgData name="jithin kamineni" userId="a3b25fc357a5843c" providerId="LiveId" clId="{7CFD6DEA-D17A-42C0-841D-49D93E5862F4}" dt="2026-04-19T19:52:28.538" v="1090" actId="21"/>
          <ac:spMkLst>
            <pc:docMk/>
            <pc:sldMk cId="1242431695" sldId="276"/>
            <ac:spMk id="6" creationId="{284BE1EE-D31B-F75C-50A8-2E53D58A31C0}"/>
          </ac:spMkLst>
        </pc:spChg>
        <pc:graphicFrameChg chg="add del mod modGraphic">
          <ac:chgData name="jithin kamineni" userId="a3b25fc357a5843c" providerId="LiveId" clId="{7CFD6DEA-D17A-42C0-841D-49D93E5862F4}" dt="2026-04-19T19:52:02.123" v="1011" actId="21"/>
          <ac:graphicFrameMkLst>
            <pc:docMk/>
            <pc:sldMk cId="1242431695" sldId="276"/>
            <ac:graphicFrameMk id="4" creationId="{5E04CC43-8A91-B0F5-3BAB-BEAD211047EE}"/>
          </ac:graphicFrameMkLst>
        </pc:graphicFrameChg>
      </pc:sldChg>
      <pc:sldChg chg="addSp delSp modSp new mod">
        <pc:chgData name="jithin kamineni" userId="a3b25fc357a5843c" providerId="LiveId" clId="{7CFD6DEA-D17A-42C0-841D-49D93E5862F4}" dt="2026-04-19T19:54:58.328" v="1234" actId="20577"/>
        <pc:sldMkLst>
          <pc:docMk/>
          <pc:sldMk cId="738734838" sldId="277"/>
        </pc:sldMkLst>
        <pc:spChg chg="add mod">
          <ac:chgData name="jithin kamineni" userId="a3b25fc357a5843c" providerId="LiveId" clId="{7CFD6DEA-D17A-42C0-841D-49D93E5862F4}" dt="2026-04-19T19:51:41.171" v="963"/>
          <ac:spMkLst>
            <pc:docMk/>
            <pc:sldMk cId="738734838" sldId="277"/>
            <ac:spMk id="2" creationId="{780D8874-2EC5-FD1E-1286-DD9DB87EC1B6}"/>
          </ac:spMkLst>
        </pc:spChg>
        <pc:spChg chg="add mod">
          <ac:chgData name="jithin kamineni" userId="a3b25fc357a5843c" providerId="LiveId" clId="{7CFD6DEA-D17A-42C0-841D-49D93E5862F4}" dt="2026-04-19T19:51:41.171" v="963"/>
          <ac:spMkLst>
            <pc:docMk/>
            <pc:sldMk cId="738734838" sldId="277"/>
            <ac:spMk id="3" creationId="{0745B2AC-D47D-C96C-2ADE-7330D4F94A25}"/>
          </ac:spMkLst>
        </pc:spChg>
        <pc:spChg chg="add mod">
          <ac:chgData name="jithin kamineni" userId="a3b25fc357a5843c" providerId="LiveId" clId="{7CFD6DEA-D17A-42C0-841D-49D93E5862F4}" dt="2026-04-19T19:51:41.171" v="963"/>
          <ac:spMkLst>
            <pc:docMk/>
            <pc:sldMk cId="738734838" sldId="277"/>
            <ac:spMk id="4" creationId="{9A19D12C-675F-0290-7935-F307D58FB0D2}"/>
          </ac:spMkLst>
        </pc:spChg>
        <pc:spChg chg="add mod">
          <ac:chgData name="jithin kamineni" userId="a3b25fc357a5843c" providerId="LiveId" clId="{7CFD6DEA-D17A-42C0-841D-49D93E5862F4}" dt="2026-04-19T19:51:41.171" v="963"/>
          <ac:spMkLst>
            <pc:docMk/>
            <pc:sldMk cId="738734838" sldId="277"/>
            <ac:spMk id="8" creationId="{98CF5892-5C24-1469-2507-EE1A26E3AFF8}"/>
          </ac:spMkLst>
        </pc:spChg>
        <pc:spChg chg="add del mod">
          <ac:chgData name="jithin kamineni" userId="a3b25fc357a5843c" providerId="LiveId" clId="{7CFD6DEA-D17A-42C0-841D-49D93E5862F4}" dt="2026-04-19T19:54:47.720" v="1218" actId="21"/>
          <ac:spMkLst>
            <pc:docMk/>
            <pc:sldMk cId="738734838" sldId="277"/>
            <ac:spMk id="12" creationId="{2FFC4E51-B3BF-929E-7770-E07EFC0BD4CC}"/>
          </ac:spMkLst>
        </pc:spChg>
        <pc:spChg chg="add mod">
          <ac:chgData name="jithin kamineni" userId="a3b25fc357a5843c" providerId="LiveId" clId="{7CFD6DEA-D17A-42C0-841D-49D93E5862F4}" dt="2026-04-19T19:51:54.488" v="1010" actId="1036"/>
          <ac:spMkLst>
            <pc:docMk/>
            <pc:sldMk cId="738734838" sldId="277"/>
            <ac:spMk id="13" creationId="{B99BFFAD-2E8C-83AB-DE39-6A90BA214BCA}"/>
          </ac:spMkLst>
        </pc:spChg>
        <pc:spChg chg="add mod">
          <ac:chgData name="jithin kamineni" userId="a3b25fc357a5843c" providerId="LiveId" clId="{7CFD6DEA-D17A-42C0-841D-49D93E5862F4}" dt="2026-04-19T19:51:54.488" v="1010" actId="1036"/>
          <ac:spMkLst>
            <pc:docMk/>
            <pc:sldMk cId="738734838" sldId="277"/>
            <ac:spMk id="14" creationId="{BEBCEE84-5C9C-9A20-77D7-FCC7AAD88641}"/>
          </ac:spMkLst>
        </pc:spChg>
        <pc:spChg chg="add mod">
          <ac:chgData name="jithin kamineni" userId="a3b25fc357a5843c" providerId="LiveId" clId="{7CFD6DEA-D17A-42C0-841D-49D93E5862F4}" dt="2026-04-19T19:51:54.488" v="1010" actId="1036"/>
          <ac:spMkLst>
            <pc:docMk/>
            <pc:sldMk cId="738734838" sldId="277"/>
            <ac:spMk id="15" creationId="{50EB248B-1D32-8040-53FF-9773B3F3D700}"/>
          </ac:spMkLst>
        </pc:spChg>
        <pc:spChg chg="add mod">
          <ac:chgData name="jithin kamineni" userId="a3b25fc357a5843c" providerId="LiveId" clId="{7CFD6DEA-D17A-42C0-841D-49D93E5862F4}" dt="2026-04-19T19:54:14.692" v="1200" actId="1076"/>
          <ac:spMkLst>
            <pc:docMk/>
            <pc:sldMk cId="738734838" sldId="277"/>
            <ac:spMk id="19" creationId="{C151F9F7-91CF-6E54-0C3D-695DC24D4096}"/>
          </ac:spMkLst>
        </pc:spChg>
        <pc:spChg chg="add mod">
          <ac:chgData name="jithin kamineni" userId="a3b25fc357a5843c" providerId="LiveId" clId="{7CFD6DEA-D17A-42C0-841D-49D93E5862F4}" dt="2026-04-19T19:54:18.643" v="1201" actId="1076"/>
          <ac:spMkLst>
            <pc:docMk/>
            <pc:sldMk cId="738734838" sldId="277"/>
            <ac:spMk id="20" creationId="{CB594637-AD7B-8AB7-A9F4-8A8481B1053F}"/>
          </ac:spMkLst>
        </pc:spChg>
        <pc:spChg chg="add mod">
          <ac:chgData name="jithin kamineni" userId="a3b25fc357a5843c" providerId="LiveId" clId="{7CFD6DEA-D17A-42C0-841D-49D93E5862F4}" dt="2026-04-19T19:54:30.003" v="1203" actId="1076"/>
          <ac:spMkLst>
            <pc:docMk/>
            <pc:sldMk cId="738734838" sldId="277"/>
            <ac:spMk id="21" creationId="{9B6212C8-EAE5-83C8-BC55-93C6F900C829}"/>
          </ac:spMkLst>
        </pc:spChg>
        <pc:spChg chg="add mod">
          <ac:chgData name="jithin kamineni" userId="a3b25fc357a5843c" providerId="LiveId" clId="{7CFD6DEA-D17A-42C0-841D-49D93E5862F4}" dt="2026-04-19T19:54:48.058" v="1219"/>
          <ac:spMkLst>
            <pc:docMk/>
            <pc:sldMk cId="738734838" sldId="277"/>
            <ac:spMk id="22" creationId="{2FFC4E51-B3BF-929E-7770-E07EFC0BD4CC}"/>
          </ac:spMkLst>
        </pc:spChg>
        <pc:spChg chg="add mod">
          <ac:chgData name="jithin kamineni" userId="a3b25fc357a5843c" providerId="LiveId" clId="{7CFD6DEA-D17A-42C0-841D-49D93E5862F4}" dt="2026-04-19T19:54:58.328" v="1234" actId="20577"/>
          <ac:spMkLst>
            <pc:docMk/>
            <pc:sldMk cId="738734838" sldId="277"/>
            <ac:spMk id="23" creationId="{3D565E9D-3650-5154-21B5-DDA9516613FF}"/>
          </ac:spMkLst>
        </pc:spChg>
        <pc:picChg chg="add mod">
          <ac:chgData name="jithin kamineni" userId="a3b25fc357a5843c" providerId="LiveId" clId="{7CFD6DEA-D17A-42C0-841D-49D93E5862F4}" dt="2026-04-19T19:53:17.890" v="1143" actId="1076"/>
          <ac:picMkLst>
            <pc:docMk/>
            <pc:sldMk cId="738734838" sldId="277"/>
            <ac:picMk id="5" creationId="{667AB5C3-D63B-13FF-6440-3E98EEFBEC85}"/>
          </ac:picMkLst>
        </pc:picChg>
        <pc:picChg chg="add mod">
          <ac:chgData name="jithin kamineni" userId="a3b25fc357a5843c" providerId="LiveId" clId="{7CFD6DEA-D17A-42C0-841D-49D93E5862F4}" dt="2026-04-19T19:53:17.890" v="1143" actId="1076"/>
          <ac:picMkLst>
            <pc:docMk/>
            <pc:sldMk cId="738734838" sldId="277"/>
            <ac:picMk id="6" creationId="{857960AE-B5B8-6D26-5F78-1CE313E622B2}"/>
          </ac:picMkLst>
        </pc:picChg>
        <pc:picChg chg="add mod">
          <ac:chgData name="jithin kamineni" userId="a3b25fc357a5843c" providerId="LiveId" clId="{7CFD6DEA-D17A-42C0-841D-49D93E5862F4}" dt="2026-04-19T19:54:33.731" v="1204" actId="1076"/>
          <ac:picMkLst>
            <pc:docMk/>
            <pc:sldMk cId="738734838" sldId="277"/>
            <ac:picMk id="7" creationId="{90A448D9-C32E-0DF7-CD7F-7F55A6F484CD}"/>
          </ac:picMkLst>
        </pc:picChg>
        <pc:picChg chg="add mod">
          <ac:chgData name="jithin kamineni" userId="a3b25fc357a5843c" providerId="LiveId" clId="{7CFD6DEA-D17A-42C0-841D-49D93E5862F4}" dt="2026-04-19T19:51:41.171" v="963"/>
          <ac:picMkLst>
            <pc:docMk/>
            <pc:sldMk cId="738734838" sldId="277"/>
            <ac:picMk id="9" creationId="{9AA95557-A2B7-43F3-958C-7A97C4BD400B}"/>
          </ac:picMkLst>
        </pc:picChg>
        <pc:picChg chg="add mod">
          <ac:chgData name="jithin kamineni" userId="a3b25fc357a5843c" providerId="LiveId" clId="{7CFD6DEA-D17A-42C0-841D-49D93E5862F4}" dt="2026-04-19T19:51:41.171" v="963"/>
          <ac:picMkLst>
            <pc:docMk/>
            <pc:sldMk cId="738734838" sldId="277"/>
            <ac:picMk id="10" creationId="{4AB982C9-1D0F-3DB5-D0E8-8F6BA3AC3026}"/>
          </ac:picMkLst>
        </pc:picChg>
        <pc:picChg chg="add mod">
          <ac:chgData name="jithin kamineni" userId="a3b25fc357a5843c" providerId="LiveId" clId="{7CFD6DEA-D17A-42C0-841D-49D93E5862F4}" dt="2026-04-19T19:51:41.171" v="963"/>
          <ac:picMkLst>
            <pc:docMk/>
            <pc:sldMk cId="738734838" sldId="277"/>
            <ac:picMk id="11" creationId="{EF37E4D6-9D2B-B657-DEAA-7D32A88DB9E0}"/>
          </ac:picMkLst>
        </pc:picChg>
        <pc:picChg chg="add mod">
          <ac:chgData name="jithin kamineni" userId="a3b25fc357a5843c" providerId="LiveId" clId="{7CFD6DEA-D17A-42C0-841D-49D93E5862F4}" dt="2026-04-19T19:51:54.488" v="1010" actId="1036"/>
          <ac:picMkLst>
            <pc:docMk/>
            <pc:sldMk cId="738734838" sldId="277"/>
            <ac:picMk id="16" creationId="{758F04F0-6474-7D59-E2DE-33EA8A67AEAB}"/>
          </ac:picMkLst>
        </pc:picChg>
        <pc:picChg chg="add mod">
          <ac:chgData name="jithin kamineni" userId="a3b25fc357a5843c" providerId="LiveId" clId="{7CFD6DEA-D17A-42C0-841D-49D93E5862F4}" dt="2026-04-19T19:51:54.488" v="1010" actId="1036"/>
          <ac:picMkLst>
            <pc:docMk/>
            <pc:sldMk cId="738734838" sldId="277"/>
            <ac:picMk id="17" creationId="{BE8896E7-01AB-D11A-3FEA-25F44ABB8C6D}"/>
          </ac:picMkLst>
        </pc:picChg>
        <pc:picChg chg="add mod">
          <ac:chgData name="jithin kamineni" userId="a3b25fc357a5843c" providerId="LiveId" clId="{7CFD6DEA-D17A-42C0-841D-49D93E5862F4}" dt="2026-04-19T19:51:54.488" v="1010" actId="1036"/>
          <ac:picMkLst>
            <pc:docMk/>
            <pc:sldMk cId="738734838" sldId="277"/>
            <ac:picMk id="18" creationId="{A6F970C8-D0C6-035E-360A-CDE22441F386}"/>
          </ac:picMkLst>
        </pc:picChg>
      </pc:sldChg>
      <pc:sldChg chg="addSp modSp new mod">
        <pc:chgData name="jithin kamineni" userId="a3b25fc357a5843c" providerId="LiveId" clId="{7CFD6DEA-D17A-42C0-841D-49D93E5862F4}" dt="2026-04-19T20:15:47.673" v="1493" actId="123"/>
        <pc:sldMkLst>
          <pc:docMk/>
          <pc:sldMk cId="2411178675" sldId="278"/>
        </pc:sldMkLst>
        <pc:spChg chg="add mod">
          <ac:chgData name="jithin kamineni" userId="a3b25fc357a5843c" providerId="LiveId" clId="{7CFD6DEA-D17A-42C0-841D-49D93E5862F4}" dt="2026-04-19T20:04:42.810" v="1483" actId="1035"/>
          <ac:spMkLst>
            <pc:docMk/>
            <pc:sldMk cId="2411178675" sldId="278"/>
            <ac:spMk id="3" creationId="{B0C50801-C9D4-CD41-8D55-7F50E9031106}"/>
          </ac:spMkLst>
        </pc:spChg>
        <pc:spChg chg="add mod">
          <ac:chgData name="jithin kamineni" userId="a3b25fc357a5843c" providerId="LiveId" clId="{7CFD6DEA-D17A-42C0-841D-49D93E5862F4}" dt="2026-04-19T20:15:47.673" v="1493" actId="123"/>
          <ac:spMkLst>
            <pc:docMk/>
            <pc:sldMk cId="2411178675" sldId="278"/>
            <ac:spMk id="5" creationId="{BFA564F8-5186-825B-CB65-3D96C2D1FF26}"/>
          </ac:spMkLst>
        </pc:spChg>
      </pc:sldChg>
      <pc:sldChg chg="addSp modSp new mod">
        <pc:chgData name="jithin kamineni" userId="a3b25fc357a5843c" providerId="LiveId" clId="{7CFD6DEA-D17A-42C0-841D-49D93E5862F4}" dt="2026-04-19T20:16:18.566" v="1500" actId="14100"/>
        <pc:sldMkLst>
          <pc:docMk/>
          <pc:sldMk cId="2787193973" sldId="279"/>
        </pc:sldMkLst>
        <pc:spChg chg="add mod">
          <ac:chgData name="jithin kamineni" userId="a3b25fc357a5843c" providerId="LiveId" clId="{7CFD6DEA-D17A-42C0-841D-49D93E5862F4}" dt="2026-04-19T20:16:18.566" v="1500" actId="14100"/>
          <ac:spMkLst>
            <pc:docMk/>
            <pc:sldMk cId="2787193973" sldId="279"/>
            <ac:spMk id="3" creationId="{814E182C-681C-E0A7-451F-4F14E34C533C}"/>
          </ac:spMkLst>
        </pc:spChg>
      </pc:sldChg>
      <pc:sldChg chg="addSp modSp new">
        <pc:chgData name="jithin kamineni" userId="a3b25fc357a5843c" providerId="LiveId" clId="{7CFD6DEA-D17A-42C0-841D-49D93E5862F4}" dt="2026-04-19T20:16:58.100" v="1502"/>
        <pc:sldMkLst>
          <pc:docMk/>
          <pc:sldMk cId="3887271187" sldId="280"/>
        </pc:sldMkLst>
        <pc:spChg chg="add mod">
          <ac:chgData name="jithin kamineni" userId="a3b25fc357a5843c" providerId="LiveId" clId="{7CFD6DEA-D17A-42C0-841D-49D93E5862F4}" dt="2026-04-19T20:16:58.100" v="1502"/>
          <ac:spMkLst>
            <pc:docMk/>
            <pc:sldMk cId="3887271187" sldId="280"/>
            <ac:spMk id="2" creationId="{F47A8FF0-0DDB-8E0C-1597-985F5A7F68C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6CD94-6680-2C1E-13EF-6F09626DED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28039C-72FE-DA50-D491-01AA06CC3F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3E2AB9-6B73-4EEA-5FD2-798FD594CF40}"/>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5" name="Footer Placeholder 4">
            <a:extLst>
              <a:ext uri="{FF2B5EF4-FFF2-40B4-BE49-F238E27FC236}">
                <a16:creationId xmlns:a16="http://schemas.microsoft.com/office/drawing/2014/main" id="{9C038A54-37E8-C45F-37B2-BC27E14729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92B853-4BF6-D453-4BBA-845FB23A8884}"/>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3674557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78D2-F803-36B2-30FB-08B3F662D4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278026-F5A0-A006-ABC0-1004545161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885ABA-8B38-09AF-9D8E-17D94A97987C}"/>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5" name="Footer Placeholder 4">
            <a:extLst>
              <a:ext uri="{FF2B5EF4-FFF2-40B4-BE49-F238E27FC236}">
                <a16:creationId xmlns:a16="http://schemas.microsoft.com/office/drawing/2014/main" id="{8D641353-0A07-C17E-2734-ED373472D8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3B3880-BD4B-E14A-1873-C6BFD3CFA636}"/>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132531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05B5-DC2C-631A-C5F2-9A23755FEF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2352863-A0F2-2BE8-4AE2-22BCD7376C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352F91-09FC-95DA-A51F-C392FA642D80}"/>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5" name="Footer Placeholder 4">
            <a:extLst>
              <a:ext uri="{FF2B5EF4-FFF2-40B4-BE49-F238E27FC236}">
                <a16:creationId xmlns:a16="http://schemas.microsoft.com/office/drawing/2014/main" id="{1EB9A12A-C923-5829-E8F4-95FE0A25E2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74CFF1-38EC-C57A-BB4D-5E43C94F3F9C}"/>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3520942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1F272-2463-8326-9E4C-4158DDD67B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1E4647-2188-0903-5A23-F4EFFCF4E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BCC6CC-55F8-C232-4F7C-3B52E3A5D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A85E8F-3C0D-927B-514A-654330A9C265}"/>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6" name="Footer Placeholder 5">
            <a:extLst>
              <a:ext uri="{FF2B5EF4-FFF2-40B4-BE49-F238E27FC236}">
                <a16:creationId xmlns:a16="http://schemas.microsoft.com/office/drawing/2014/main" id="{DED17462-8B9E-6FB6-F551-A3D6709EBE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34D8B1-E78D-2A3D-F922-A7059080EBAC}"/>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3414624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4C321-15CD-54F0-74CB-D0C4CFF0EF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179460-1B0C-44F8-A75E-DE398BD3CF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93765D-6391-6B9D-DFEE-153871E0C3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9BB223-1345-82BA-E56B-560ADA6139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F48ED3-2CFF-1AA0-2539-36FD33A74C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C4FA4E-4E96-4AA6-69C6-3066725CD03C}"/>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8" name="Footer Placeholder 7">
            <a:extLst>
              <a:ext uri="{FF2B5EF4-FFF2-40B4-BE49-F238E27FC236}">
                <a16:creationId xmlns:a16="http://schemas.microsoft.com/office/drawing/2014/main" id="{755C53A6-1F1F-171A-B47F-D5EA6A64DD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127C6B1-F24D-A4DE-B0B3-7B36146F6DDC}"/>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269897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C9069-F9B7-0389-532B-3C1AC27E2C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0BFC54-0AEF-A69D-308F-265B2092C343}"/>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4" name="Footer Placeholder 3">
            <a:extLst>
              <a:ext uri="{FF2B5EF4-FFF2-40B4-BE49-F238E27FC236}">
                <a16:creationId xmlns:a16="http://schemas.microsoft.com/office/drawing/2014/main" id="{F038D102-6A8D-987E-C230-011660622C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2AE7FBF-BAF4-07C8-B046-8C30BF661871}"/>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1855424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D948E7-8D9A-0B39-9A31-2FB359C6BA0E}"/>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3" name="Footer Placeholder 2">
            <a:extLst>
              <a:ext uri="{FF2B5EF4-FFF2-40B4-BE49-F238E27FC236}">
                <a16:creationId xmlns:a16="http://schemas.microsoft.com/office/drawing/2014/main" id="{D4B9549A-D32A-611A-DA13-CDC952FA66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C9FF8A-25D2-3A24-EBDA-15F46493B94B}"/>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3614612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9A7EC-AA8A-171F-6C8B-0EAE8E2865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56545B5-4195-E1A8-6902-DD92C925AD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B15817-214B-CEB5-C3CD-A63C2362A9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13E613-6F0F-5A58-054B-DB8E9AA9B372}"/>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6" name="Footer Placeholder 5">
            <a:extLst>
              <a:ext uri="{FF2B5EF4-FFF2-40B4-BE49-F238E27FC236}">
                <a16:creationId xmlns:a16="http://schemas.microsoft.com/office/drawing/2014/main" id="{63BB9118-E644-A727-9BFA-8336F50B63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5093E1-C1C1-F32C-941D-EDC03DDB7FCD}"/>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2408228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35625-7B91-3ABB-B62C-6B2733428F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6BBC40A-96A2-89B6-26B2-53C1C1320F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F2378B-6D8A-2E30-881E-3CA71510CF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7A67B8-3759-67F5-F682-CD5B9E6823EE}"/>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6" name="Footer Placeholder 5">
            <a:extLst>
              <a:ext uri="{FF2B5EF4-FFF2-40B4-BE49-F238E27FC236}">
                <a16:creationId xmlns:a16="http://schemas.microsoft.com/office/drawing/2014/main" id="{F2779A2F-91B8-C17C-CD35-BA60E59FA7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444F44-BE7A-8EF1-D9D3-03D286EC91FE}"/>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2576105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BCA5A-2317-D591-0C3B-171C6F49A3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E4DE07-80BA-6807-193A-0002A47FB1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8E9FA9-4F6C-A77A-98A5-4EC5E6888CE6}"/>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5" name="Footer Placeholder 4">
            <a:extLst>
              <a:ext uri="{FF2B5EF4-FFF2-40B4-BE49-F238E27FC236}">
                <a16:creationId xmlns:a16="http://schemas.microsoft.com/office/drawing/2014/main" id="{CE9765EA-08F5-7ED5-1A29-D4421F5B50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354BA0-3B54-0A70-D6A9-DE39F289FEB2}"/>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1004421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03E2BD-E0B8-4C36-E24D-AE6D718CE1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C820C1-B3FE-8F38-0953-BA7FDA8A58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C1D580-E471-566E-F09E-B2EC200B4AAA}"/>
              </a:ext>
            </a:extLst>
          </p:cNvPr>
          <p:cNvSpPr>
            <a:spLocks noGrp="1"/>
          </p:cNvSpPr>
          <p:nvPr>
            <p:ph type="dt" sz="half" idx="10"/>
          </p:nvPr>
        </p:nvSpPr>
        <p:spPr/>
        <p:txBody>
          <a:bodyPr/>
          <a:lstStyle/>
          <a:p>
            <a:fld id="{59B442EE-7AC3-4039-A9FA-C8C153BE41B3}" type="datetimeFigureOut">
              <a:rPr lang="en-IN" smtClean="0"/>
              <a:t>20-04-2026</a:t>
            </a:fld>
            <a:endParaRPr lang="en-IN"/>
          </a:p>
        </p:txBody>
      </p:sp>
      <p:sp>
        <p:nvSpPr>
          <p:cNvPr id="5" name="Footer Placeholder 4">
            <a:extLst>
              <a:ext uri="{FF2B5EF4-FFF2-40B4-BE49-F238E27FC236}">
                <a16:creationId xmlns:a16="http://schemas.microsoft.com/office/drawing/2014/main" id="{D0987D85-138F-CD70-10F1-10496FCA92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A4A2B6-5AA1-01E2-22A2-017ED7004710}"/>
              </a:ext>
            </a:extLst>
          </p:cNvPr>
          <p:cNvSpPr>
            <a:spLocks noGrp="1"/>
          </p:cNvSpPr>
          <p:nvPr>
            <p:ph type="sldNum" sz="quarter" idx="12"/>
          </p:nvPr>
        </p:nvSpPr>
        <p:spPr/>
        <p:txBody>
          <a:bodyPr/>
          <a:lstStyle/>
          <a:p>
            <a:fld id="{4E96B77E-E87C-4305-A056-32C90F80853E}" type="slidenum">
              <a:rPr lang="en-IN" smtClean="0"/>
              <a:t>‹#›</a:t>
            </a:fld>
            <a:endParaRPr lang="en-IN"/>
          </a:p>
        </p:txBody>
      </p:sp>
    </p:spTree>
    <p:extLst>
      <p:ext uri="{BB962C8B-B14F-4D97-AF65-F5344CB8AC3E}">
        <p14:creationId xmlns:p14="http://schemas.microsoft.com/office/powerpoint/2010/main" val="2775547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A0EF2-233D-950A-F5A7-AEC5E32987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C281D1-480C-36A9-4181-134F30B128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B43535-60D7-4A42-9610-AA223811BB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B442EE-7AC3-4039-A9FA-C8C153BE41B3}" type="datetimeFigureOut">
              <a:rPr lang="en-IN" smtClean="0"/>
              <a:t>20-04-2026</a:t>
            </a:fld>
            <a:endParaRPr lang="en-IN"/>
          </a:p>
        </p:txBody>
      </p:sp>
      <p:sp>
        <p:nvSpPr>
          <p:cNvPr id="5" name="Footer Placeholder 4">
            <a:extLst>
              <a:ext uri="{FF2B5EF4-FFF2-40B4-BE49-F238E27FC236}">
                <a16:creationId xmlns:a16="http://schemas.microsoft.com/office/drawing/2014/main" id="{93A3CEAE-3693-BE18-48F3-59DC949064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AD2C897-C667-8AE8-24C2-68312FF03C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96B77E-E87C-4305-A056-32C90F80853E}" type="slidenum">
              <a:rPr lang="en-IN" smtClean="0"/>
              <a:t>‹#›</a:t>
            </a:fld>
            <a:endParaRPr lang="en-IN"/>
          </a:p>
        </p:txBody>
      </p:sp>
    </p:spTree>
    <p:extLst>
      <p:ext uri="{BB962C8B-B14F-4D97-AF65-F5344CB8AC3E}">
        <p14:creationId xmlns:p14="http://schemas.microsoft.com/office/powerpoint/2010/main" val="1208108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DFBB3F4-4C1F-528D-5DFC-322C0A9D8795}"/>
              </a:ext>
            </a:extLst>
          </p:cNvPr>
          <p:cNvSpPr>
            <a:spLocks noGrp="1"/>
          </p:cNvSpPr>
          <p:nvPr/>
        </p:nvSpPr>
        <p:spPr>
          <a:xfrm>
            <a:off x="0" y="1525364"/>
            <a:ext cx="12191999" cy="1157057"/>
          </a:xfrm>
          <a:prstGeom prst="rect">
            <a:avLst/>
          </a:prstGeom>
        </p:spPr>
        <p:txBody>
          <a:bodyPr vert="horz" lIns="91440" tIns="45720" rIns="91440" bIns="45720" rtlCol="0" anchor="ctr">
            <a:noAutofit/>
          </a:bodyPr>
          <a:lstStyle>
            <a:defPPr>
              <a:defRPr lang="en-US"/>
            </a:defPPr>
            <a:lvl1pPr marL="0" algn="ctr" defTabSz="914400" rtl="0" eaLnBrk="1" latinLnBrk="0" hangingPunct="1">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dirty="0">
                <a:latin typeface="Times New Roman" panose="02020603050405020304" pitchFamily="18" charset="0"/>
                <a:cs typeface="Times New Roman" panose="02020603050405020304" pitchFamily="18" charset="0"/>
              </a:rPr>
              <a:t>Deep Learning Based Waste Classification and Recycling Guidance System</a:t>
            </a:r>
            <a:endParaRPr lang="en-US" sz="4000" b="1" dirty="0">
              <a:solidFill>
                <a:srgbClr val="00B050"/>
              </a:solidFill>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9795643F-4907-A09E-BB52-BF3FD1D30687}"/>
              </a:ext>
            </a:extLst>
          </p:cNvPr>
          <p:cNvSpPr>
            <a:spLocks noGrp="1"/>
          </p:cNvSpPr>
          <p:nvPr/>
        </p:nvSpPr>
        <p:spPr>
          <a:xfrm>
            <a:off x="-1396" y="3747831"/>
            <a:ext cx="12192000" cy="1752600"/>
          </a:xfrm>
          <a:prstGeom prst="rect">
            <a:avLst/>
          </a:prstGeom>
        </p:spPr>
        <p:txBody>
          <a:bodyPr vert="horz" lIns="91440" tIns="45720" rIns="91440" bIns="45720" rtlCol="0">
            <a:normAutofit fontScale="92500" lnSpcReduction="20000"/>
          </a:bodyPr>
          <a:lstStyle>
            <a:defPPr>
              <a:defRPr lang="en-US"/>
            </a:defPPr>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500" dirty="0">
                <a:solidFill>
                  <a:schemeClr val="tx1"/>
                </a:solidFill>
                <a:latin typeface="Times New Roman" panose="02020603050405020304" pitchFamily="18" charset="0"/>
                <a:cs typeface="Times New Roman" panose="02020603050405020304" pitchFamily="18" charset="0"/>
              </a:rPr>
              <a:t>PRESENTED BY</a:t>
            </a:r>
          </a:p>
          <a:p>
            <a:r>
              <a:rPr lang="en-US" sz="5000" b="1" dirty="0">
                <a:solidFill>
                  <a:srgbClr val="7030A0"/>
                </a:solidFill>
                <a:latin typeface="Tahoma" panose="020B0604030504040204" pitchFamily="34" charset="0"/>
                <a:ea typeface="Tahoma" panose="020B0604030504040204" pitchFamily="34" charset="0"/>
                <a:cs typeface="Tahoma" panose="020B0604030504040204" pitchFamily="34" charset="0"/>
              </a:rPr>
              <a:t>  </a:t>
            </a:r>
            <a:r>
              <a:rPr lang="en-US" sz="3400" b="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Mr. Tarun Sahukari (228W1A1257)</a:t>
            </a:r>
          </a:p>
          <a:p>
            <a:r>
              <a:rPr lang="en-US" sz="3400" b="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Mr. Jitin Venkata Sai Kamineni (228W1A1223)</a:t>
            </a:r>
          </a:p>
          <a:p>
            <a:endParaRPr lang="en-US" b="1" dirty="0">
              <a:solidFill>
                <a:srgbClr val="7030A0"/>
              </a:solidFill>
              <a:latin typeface="Tahoma" panose="020B0604030504040204" pitchFamily="34" charset="0"/>
              <a:ea typeface="Tahoma" panose="020B0604030504040204" pitchFamily="34" charset="0"/>
              <a:cs typeface="Tahoma" panose="020B0604030504040204" pitchFamily="34" charset="0"/>
            </a:endParaRPr>
          </a:p>
          <a:p>
            <a:endParaRPr lang="en-US" dirty="0"/>
          </a:p>
        </p:txBody>
      </p:sp>
      <p:pic>
        <p:nvPicPr>
          <p:cNvPr id="6" name="Picture 5">
            <a:extLst>
              <a:ext uri="{FF2B5EF4-FFF2-40B4-BE49-F238E27FC236}">
                <a16:creationId xmlns:a16="http://schemas.microsoft.com/office/drawing/2014/main" id="{296C0864-8D81-3EC6-D995-1E6FCEDFC5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8" y="0"/>
            <a:ext cx="1866772" cy="13177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descr="Image result for vrsec">
            <a:extLst>
              <a:ext uri="{FF2B5EF4-FFF2-40B4-BE49-F238E27FC236}">
                <a16:creationId xmlns:a16="http://schemas.microsoft.com/office/drawing/2014/main" id="{7E75A6E1-D770-71A1-044E-B058284952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72801" y="13164"/>
            <a:ext cx="1211452" cy="13166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6">
            <a:extLst>
              <a:ext uri="{FF2B5EF4-FFF2-40B4-BE49-F238E27FC236}">
                <a16:creationId xmlns:a16="http://schemas.microsoft.com/office/drawing/2014/main" id="{97FB8FEA-1FF8-CB2C-0E63-BD8E0BA997E1}"/>
              </a:ext>
            </a:extLst>
          </p:cNvPr>
          <p:cNvSpPr txBox="1"/>
          <p:nvPr/>
        </p:nvSpPr>
        <p:spPr>
          <a:xfrm>
            <a:off x="0" y="372906"/>
            <a:ext cx="12192000" cy="758857"/>
          </a:xfrm>
          <a:prstGeom prst="rect">
            <a:avLst/>
          </a:prstGeom>
          <a:noFill/>
        </p:spPr>
        <p:txBody>
          <a:bodyPr wrap="square" lIns="19998" tIns="9999" rIns="19998" bIns="999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dirty="0">
                <a:solidFill>
                  <a:srgbClr val="0000FF"/>
                </a:solidFill>
                <a:latin typeface="Times New Roman" panose="02020603050405020304" pitchFamily="18" charset="0"/>
                <a:cs typeface="Times New Roman" panose="02020603050405020304" pitchFamily="18" charset="0"/>
              </a:rPr>
              <a:t>Department of Information Technology</a:t>
            </a:r>
          </a:p>
          <a:p>
            <a:pPr algn="ctr"/>
            <a:r>
              <a:rPr lang="en-IN" sz="2400" b="1" dirty="0">
                <a:solidFill>
                  <a:srgbClr val="FF0000"/>
                </a:solidFill>
                <a:latin typeface="Times New Roman" panose="02020603050405020304" pitchFamily="18" charset="0"/>
                <a:cs typeface="Times New Roman" panose="02020603050405020304" pitchFamily="18" charset="0"/>
              </a:rPr>
              <a:t>V R Siddhartha Engineering College </a:t>
            </a:r>
          </a:p>
        </p:txBody>
      </p:sp>
      <p:sp>
        <p:nvSpPr>
          <p:cNvPr id="9" name="TextBox 7">
            <a:extLst>
              <a:ext uri="{FF2B5EF4-FFF2-40B4-BE49-F238E27FC236}">
                <a16:creationId xmlns:a16="http://schemas.microsoft.com/office/drawing/2014/main" id="{63336B9B-4969-03E4-176D-38FB59CC81F1}"/>
              </a:ext>
            </a:extLst>
          </p:cNvPr>
          <p:cNvSpPr txBox="1"/>
          <p:nvPr/>
        </p:nvSpPr>
        <p:spPr>
          <a:xfrm>
            <a:off x="7748" y="2830140"/>
            <a:ext cx="12191998"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err="1">
                <a:solidFill>
                  <a:srgbClr val="FF0000"/>
                </a:solidFill>
                <a:latin typeface="Times New Roman" panose="02020603050405020304" pitchFamily="18" charset="0"/>
                <a:cs typeface="Times New Roman" panose="02020603050405020304" pitchFamily="18" charset="0"/>
              </a:rPr>
              <a:t>B.Tech</a:t>
            </a:r>
            <a:r>
              <a:rPr lang="en-US" sz="2000" b="1" dirty="0">
                <a:solidFill>
                  <a:srgbClr val="FF0000"/>
                </a:solidFill>
                <a:latin typeface="Times New Roman" panose="02020603050405020304" pitchFamily="18" charset="0"/>
                <a:cs typeface="Times New Roman" panose="02020603050405020304" pitchFamily="18" charset="0"/>
              </a:rPr>
              <a:t> in Information Technology</a:t>
            </a:r>
          </a:p>
          <a:p>
            <a:pPr algn="ctr"/>
            <a:r>
              <a:rPr lang="en-US" sz="2000" b="1" dirty="0">
                <a:solidFill>
                  <a:srgbClr val="BF11A6"/>
                </a:solidFill>
                <a:latin typeface="Times New Roman" panose="02020603050405020304" pitchFamily="18" charset="0"/>
                <a:cs typeface="Times New Roman" panose="02020603050405020304" pitchFamily="18" charset="0"/>
              </a:rPr>
              <a:t>Major Project Review Presentation</a:t>
            </a:r>
          </a:p>
        </p:txBody>
      </p:sp>
      <p:sp>
        <p:nvSpPr>
          <p:cNvPr id="10" name="Rectangle 9">
            <a:extLst>
              <a:ext uri="{FF2B5EF4-FFF2-40B4-BE49-F238E27FC236}">
                <a16:creationId xmlns:a16="http://schemas.microsoft.com/office/drawing/2014/main" id="{54A07D28-69AC-06A9-082E-93E572E121B5}"/>
              </a:ext>
            </a:extLst>
          </p:cNvPr>
          <p:cNvSpPr/>
          <p:nvPr/>
        </p:nvSpPr>
        <p:spPr>
          <a:xfrm>
            <a:off x="7748" y="5668845"/>
            <a:ext cx="12191998" cy="984885"/>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latin typeface="Times New Roman" panose="02020603050405020304" pitchFamily="18" charset="0"/>
                <a:cs typeface="Times New Roman" panose="02020603050405020304" pitchFamily="18" charset="0"/>
              </a:rPr>
              <a:t>Under the guidance of </a:t>
            </a:r>
          </a:p>
          <a:p>
            <a:pPr algn="ctr"/>
            <a:r>
              <a:rPr lang="en-US" sz="2000" dirty="0">
                <a:latin typeface="Times New Roman"/>
                <a:cs typeface="Times New Roman"/>
              </a:rPr>
              <a:t> </a:t>
            </a:r>
            <a:r>
              <a:rPr lang="en-US" b="1" dirty="0">
                <a:solidFill>
                  <a:srgbClr val="FF0000"/>
                </a:solidFill>
                <a:latin typeface="Times New Roman"/>
                <a:cs typeface="Times New Roman"/>
              </a:rPr>
              <a:t>Dr. Ramesh Mande</a:t>
            </a:r>
          </a:p>
          <a:p>
            <a:pPr algn="ctr"/>
            <a:r>
              <a:rPr lang="en-US" b="1" dirty="0">
                <a:solidFill>
                  <a:srgbClr val="FF0000"/>
                </a:solidFill>
                <a:latin typeface="Times New Roman" panose="02020603050405020304" pitchFamily="18" charset="0"/>
                <a:cs typeface="Times New Roman" panose="02020603050405020304" pitchFamily="18" charset="0"/>
              </a:rPr>
              <a:t>ASSISTANT PROFESSOR</a:t>
            </a:r>
          </a:p>
        </p:txBody>
      </p:sp>
    </p:spTree>
    <p:extLst>
      <p:ext uri="{BB962C8B-B14F-4D97-AF65-F5344CB8AC3E}">
        <p14:creationId xmlns:p14="http://schemas.microsoft.com/office/powerpoint/2010/main" val="3107129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54E77C16-5C9E-3939-8949-033697B09C03}"/>
              </a:ext>
            </a:extLst>
          </p:cNvPr>
          <p:cNvSpPr txBox="1">
            <a:spLocks/>
          </p:cNvSpPr>
          <p:nvPr/>
        </p:nvSpPr>
        <p:spPr>
          <a:xfrm>
            <a:off x="345931" y="790797"/>
            <a:ext cx="11500138" cy="669489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sz="1800" dirty="0">
                <a:latin typeface="Times New Roman" panose="02020603050405020304" pitchFamily="18" charset="0"/>
                <a:cs typeface="Times New Roman" panose="02020603050405020304" pitchFamily="18" charset="0"/>
              </a:rPr>
              <a:t>Introduction and Problem statement</a:t>
            </a:r>
          </a:p>
          <a:p>
            <a:pPr algn="just">
              <a:lnSpc>
                <a:spcPct val="150000"/>
              </a:lnSpc>
            </a:pPr>
            <a:r>
              <a:rPr lang="en-US" sz="1800" dirty="0">
                <a:latin typeface="Times New Roman" panose="02020603050405020304" pitchFamily="18" charset="0"/>
                <a:cs typeface="Times New Roman" panose="02020603050405020304" pitchFamily="18" charset="0"/>
              </a:rPr>
              <a:t>Objectives and Outcomes of the Project</a:t>
            </a:r>
          </a:p>
          <a:p>
            <a:pPr algn="just">
              <a:lnSpc>
                <a:spcPct val="150000"/>
              </a:lnSpc>
            </a:pPr>
            <a:r>
              <a:rPr lang="en-US" sz="1800" dirty="0">
                <a:latin typeface="Times New Roman" panose="02020603050405020304" pitchFamily="18" charset="0"/>
                <a:cs typeface="Times New Roman" panose="02020603050405020304" pitchFamily="18" charset="0"/>
              </a:rPr>
              <a:t>Literature review and Summary </a:t>
            </a:r>
          </a:p>
          <a:p>
            <a:pPr algn="just">
              <a:lnSpc>
                <a:spcPct val="150000"/>
              </a:lnSpc>
            </a:pPr>
            <a:r>
              <a:rPr lang="en-US" sz="1800" dirty="0">
                <a:latin typeface="Times New Roman" panose="02020603050405020304" pitchFamily="18" charset="0"/>
                <a:cs typeface="Times New Roman" panose="02020603050405020304" pitchFamily="18" charset="0"/>
              </a:rPr>
              <a:t>Datasets and Requirements</a:t>
            </a:r>
          </a:p>
          <a:p>
            <a:pPr algn="just">
              <a:lnSpc>
                <a:spcPct val="150000"/>
              </a:lnSpc>
            </a:pPr>
            <a:r>
              <a:rPr lang="en-US" sz="1800" dirty="0">
                <a:latin typeface="Times New Roman" panose="02020603050405020304" pitchFamily="18" charset="0"/>
                <a:cs typeface="Times New Roman" panose="02020603050405020304" pitchFamily="18" charset="0"/>
              </a:rPr>
              <a:t>Algorithms used in the Project</a:t>
            </a:r>
          </a:p>
          <a:p>
            <a:pPr algn="just">
              <a:lnSpc>
                <a:spcPct val="150000"/>
              </a:lnSpc>
            </a:pPr>
            <a:r>
              <a:rPr lang="en-US" sz="1800" dirty="0">
                <a:latin typeface="Times New Roman" panose="02020603050405020304" pitchFamily="18" charset="0"/>
                <a:cs typeface="Times New Roman" panose="02020603050405020304" pitchFamily="18" charset="0"/>
              </a:rPr>
              <a:t>Architecture/Project flow diagram</a:t>
            </a:r>
          </a:p>
          <a:p>
            <a:pPr algn="just">
              <a:lnSpc>
                <a:spcPct val="150000"/>
              </a:lnSpc>
            </a:pPr>
            <a:r>
              <a:rPr lang="en-US" sz="1800" dirty="0">
                <a:latin typeface="Times New Roman" panose="02020603050405020304" pitchFamily="18" charset="0"/>
                <a:cs typeface="Times New Roman" panose="02020603050405020304" pitchFamily="18" charset="0"/>
              </a:rPr>
              <a:t>Implementation steps and Execution</a:t>
            </a:r>
          </a:p>
          <a:p>
            <a:pPr algn="just">
              <a:lnSpc>
                <a:spcPct val="150000"/>
              </a:lnSpc>
            </a:pPr>
            <a:r>
              <a:rPr lang="en-US" sz="1800" dirty="0">
                <a:latin typeface="Times New Roman" panose="02020603050405020304" pitchFamily="18" charset="0"/>
                <a:cs typeface="Times New Roman" panose="02020603050405020304" pitchFamily="18" charset="0"/>
              </a:rPr>
              <a:t>Results obtained </a:t>
            </a:r>
          </a:p>
          <a:p>
            <a:pPr algn="just">
              <a:lnSpc>
                <a:spcPct val="150000"/>
              </a:lnSpc>
            </a:pPr>
            <a:r>
              <a:rPr lang="en-US" sz="1800" dirty="0">
                <a:latin typeface="Times New Roman" panose="02020603050405020304" pitchFamily="18" charset="0"/>
                <a:cs typeface="Times New Roman" panose="02020603050405020304" pitchFamily="18" charset="0"/>
              </a:rPr>
              <a:t>Result analysis</a:t>
            </a:r>
          </a:p>
          <a:p>
            <a:pPr algn="just">
              <a:lnSpc>
                <a:spcPct val="150000"/>
              </a:lnSpc>
            </a:pPr>
            <a:r>
              <a:rPr lang="en-US" sz="1800" dirty="0">
                <a:latin typeface="Times New Roman" panose="02020603050405020304" pitchFamily="18" charset="0"/>
                <a:cs typeface="Times New Roman" panose="02020603050405020304" pitchFamily="18" charset="0"/>
              </a:rPr>
              <a:t>Conclusion and Future work</a:t>
            </a:r>
          </a:p>
          <a:p>
            <a:pPr algn="just">
              <a:lnSpc>
                <a:spcPct val="150000"/>
              </a:lnSpc>
            </a:pPr>
            <a:r>
              <a:rPr lang="en-US" sz="1800" dirty="0">
                <a:latin typeface="Times New Roman" panose="02020603050405020304" pitchFamily="18" charset="0"/>
                <a:cs typeface="Times New Roman" panose="02020603050405020304" pitchFamily="18" charset="0"/>
              </a:rPr>
              <a:t>References</a:t>
            </a:r>
            <a:endParaRPr lang="en-IN" sz="1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976ECD1-3484-2ED0-EC2D-C40DF9106755}"/>
              </a:ext>
            </a:extLst>
          </p:cNvPr>
          <p:cNvSpPr txBox="1"/>
          <p:nvPr/>
        </p:nvSpPr>
        <p:spPr>
          <a:xfrm>
            <a:off x="3048762" y="0"/>
            <a:ext cx="6094476" cy="646331"/>
          </a:xfrm>
          <a:prstGeom prst="rect">
            <a:avLst/>
          </a:prstGeom>
          <a:noFill/>
        </p:spPr>
        <p:txBody>
          <a:bodyPr wrap="square">
            <a:spAutoFit/>
          </a:bodyPr>
          <a:lstStyle/>
          <a:p>
            <a:pPr algn="ctr"/>
            <a:r>
              <a:rPr lang="en-US" sz="3600" dirty="0">
                <a:latin typeface="Times New Roman" panose="02020603050405020304" pitchFamily="18" charset="0"/>
                <a:cs typeface="Times New Roman" panose="02020603050405020304" pitchFamily="18" charset="0"/>
              </a:rPr>
              <a:t>Agenda</a:t>
            </a:r>
            <a:endParaRPr lang="en-IN" sz="4000" dirty="0"/>
          </a:p>
        </p:txBody>
      </p:sp>
    </p:spTree>
    <p:extLst>
      <p:ext uri="{BB962C8B-B14F-4D97-AF65-F5344CB8AC3E}">
        <p14:creationId xmlns:p14="http://schemas.microsoft.com/office/powerpoint/2010/main" val="4093545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01;p3">
            <a:extLst>
              <a:ext uri="{FF2B5EF4-FFF2-40B4-BE49-F238E27FC236}">
                <a16:creationId xmlns:a16="http://schemas.microsoft.com/office/drawing/2014/main" id="{3F5EF1BD-F0A4-CCD5-2F21-A715D77C02F6}"/>
              </a:ext>
            </a:extLst>
          </p:cNvPr>
          <p:cNvSpPr/>
          <p:nvPr/>
        </p:nvSpPr>
        <p:spPr>
          <a:xfrm flipH="1">
            <a:off x="299719" y="1403986"/>
            <a:ext cx="11592561" cy="2585283"/>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Waste management has become a major environmental concern due to the rapid increase in daily waste generation from households, industries, and public spaces.</a:t>
            </a:r>
          </a:p>
          <a:p>
            <a:pPr marL="285750" marR="0" lvl="0" indent="-285750" algn="just" rtl="0">
              <a:lnSpc>
                <a:spcPct val="100000"/>
              </a:lnSpc>
              <a:spcBef>
                <a:spcPts val="0"/>
              </a:spcBef>
              <a:spcAft>
                <a:spcPts val="0"/>
              </a:spcAft>
              <a:buClr>
                <a:schemeClr val="dk1"/>
              </a:buClr>
              <a:buSzPts val="1800"/>
              <a:buFont typeface="Arial"/>
              <a:buChar char="•"/>
            </a:pPr>
            <a:endParaRPr lang="en-US"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Improper identification and segregation of waste reduce recycling efficiency, increase landfill burden, and create long-term environmental and resource management problems.</a:t>
            </a:r>
          </a:p>
          <a:p>
            <a:pPr marL="285750" marR="0" lvl="0" indent="-285750" algn="just" rtl="0">
              <a:lnSpc>
                <a:spcPct val="100000"/>
              </a:lnSpc>
              <a:spcBef>
                <a:spcPts val="0"/>
              </a:spcBef>
              <a:spcAft>
                <a:spcPts val="0"/>
              </a:spcAft>
              <a:buClr>
                <a:schemeClr val="dk1"/>
              </a:buClr>
              <a:buSzPts val="1800"/>
              <a:buFont typeface="Arial"/>
              <a:buChar char="•"/>
            </a:pPr>
            <a:endParaRPr lang="en-US"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To support efficient and sustainable waste handling, this work develops an intelligent framework that combines deep learning-based waste classification, object detection, and recycling guidance generation for improved waste analysis and disposal support.</a:t>
            </a:r>
            <a:endParaRPr dirty="0"/>
          </a:p>
        </p:txBody>
      </p:sp>
      <p:sp>
        <p:nvSpPr>
          <p:cNvPr id="7" name="Google Shape;107;p4">
            <a:extLst>
              <a:ext uri="{FF2B5EF4-FFF2-40B4-BE49-F238E27FC236}">
                <a16:creationId xmlns:a16="http://schemas.microsoft.com/office/drawing/2014/main" id="{AEE90B50-FAFE-E863-172C-7AE9D9527D1D}"/>
              </a:ext>
            </a:extLst>
          </p:cNvPr>
          <p:cNvSpPr txBox="1"/>
          <p:nvPr/>
        </p:nvSpPr>
        <p:spPr>
          <a:xfrm>
            <a:off x="0" y="40640"/>
            <a:ext cx="12192000" cy="566928"/>
          </a:xfrm>
          <a:prstGeom prst="rect">
            <a:avLst/>
          </a:prstGeom>
          <a:noFill/>
          <a:ln>
            <a:noFill/>
          </a:ln>
        </p:spPr>
        <p:txBody>
          <a:bodyPr spcFirstLastPara="1" wrap="square" lIns="91425" tIns="45700" rIns="91425" bIns="45700" anchor="t" anchorCtr="0">
            <a:normAutofit lnSpcReduction="10000"/>
          </a:bodyPr>
          <a:lstStyle/>
          <a:p>
            <a:pPr marL="0" marR="0" lvl="0" indent="0" algn="ctr" rtl="0">
              <a:lnSpc>
                <a:spcPct val="90000"/>
              </a:lnSpc>
              <a:spcBef>
                <a:spcPts val="0"/>
              </a:spcBef>
              <a:spcAft>
                <a:spcPts val="0"/>
              </a:spcAft>
              <a:buClr>
                <a:schemeClr val="dk1"/>
              </a:buClr>
              <a:buSzPts val="3600"/>
              <a:buFont typeface="Times New Roman"/>
              <a:buNone/>
            </a:pPr>
            <a:r>
              <a:rPr lang="en-US" sz="3600" b="0" i="0" u="none" strike="noStrike" cap="none" dirty="0">
                <a:solidFill>
                  <a:schemeClr val="dk1"/>
                </a:solidFill>
                <a:latin typeface="Times New Roman"/>
                <a:ea typeface="Times New Roman"/>
                <a:cs typeface="Times New Roman"/>
                <a:sym typeface="Times New Roman"/>
              </a:rPr>
              <a:t>Introduction</a:t>
            </a:r>
            <a:endParaRPr lang="en-US" sz="3600" b="0" i="0" u="none" strike="noStrike" cap="none" dirty="0">
              <a:solidFill>
                <a:schemeClr val="dk1"/>
              </a:solidFill>
              <a:latin typeface="Play"/>
              <a:ea typeface="Play"/>
              <a:cs typeface="Play"/>
              <a:sym typeface="Play"/>
            </a:endParaRPr>
          </a:p>
        </p:txBody>
      </p:sp>
    </p:spTree>
    <p:extLst>
      <p:ext uri="{BB962C8B-B14F-4D97-AF65-F5344CB8AC3E}">
        <p14:creationId xmlns:p14="http://schemas.microsoft.com/office/powerpoint/2010/main" val="1895564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5751F5-1018-7BF3-6411-00A4EB5F8401}"/>
              </a:ext>
            </a:extLst>
          </p:cNvPr>
          <p:cNvSpPr txBox="1"/>
          <p:nvPr/>
        </p:nvSpPr>
        <p:spPr>
          <a:xfrm>
            <a:off x="3048762" y="0"/>
            <a:ext cx="6094476" cy="590931"/>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0"/>
              </a:spcAft>
              <a:buClr>
                <a:prstClr val="black"/>
              </a:buClr>
              <a:buSzPts val="3600"/>
              <a:buFont typeface="Times New Roman"/>
              <a:buNone/>
              <a:tabLst/>
              <a:defRPr/>
            </a:pPr>
            <a:r>
              <a:rPr kumimoji="0" lang="en-US" sz="3600" b="0" i="0" u="none" strike="noStrike" kern="1200" cap="none" spc="0" normalizeH="0" baseline="0" noProof="0" dirty="0">
                <a:ln>
                  <a:noFill/>
                </a:ln>
                <a:solidFill>
                  <a:prstClr val="black"/>
                </a:solidFill>
                <a:effectLst/>
                <a:uLnTx/>
                <a:uFillTx/>
                <a:latin typeface="Times New Roman"/>
                <a:ea typeface="Times New Roman"/>
                <a:cs typeface="Times New Roman"/>
                <a:sym typeface="Times New Roman"/>
              </a:rPr>
              <a:t>Problem Statement</a:t>
            </a:r>
            <a:endParaRPr kumimoji="0" lang="en-US" sz="3600" b="0" i="0" u="none" strike="noStrike" kern="1200" cap="none" spc="0" normalizeH="0" baseline="0" noProof="0" dirty="0">
              <a:ln>
                <a:noFill/>
              </a:ln>
              <a:solidFill>
                <a:prstClr val="black"/>
              </a:solidFill>
              <a:effectLst/>
              <a:uLnTx/>
              <a:uFillTx/>
              <a:latin typeface="Play"/>
              <a:ea typeface="Play"/>
              <a:cs typeface="Play"/>
              <a:sym typeface="Play"/>
            </a:endParaRPr>
          </a:p>
        </p:txBody>
      </p:sp>
      <p:sp>
        <p:nvSpPr>
          <p:cNvPr id="7" name="TextBox 6">
            <a:extLst>
              <a:ext uri="{FF2B5EF4-FFF2-40B4-BE49-F238E27FC236}">
                <a16:creationId xmlns:a16="http://schemas.microsoft.com/office/drawing/2014/main" id="{E581F1C6-42CA-EF36-6165-19F29E4BEBD9}"/>
              </a:ext>
            </a:extLst>
          </p:cNvPr>
          <p:cNvSpPr txBox="1"/>
          <p:nvPr/>
        </p:nvSpPr>
        <p:spPr>
          <a:xfrm>
            <a:off x="249555" y="1410301"/>
            <a:ext cx="11692890" cy="2585323"/>
          </a:xfrm>
          <a:prstGeom prst="rect">
            <a:avLst/>
          </a:prstGeom>
          <a:noFill/>
        </p:spPr>
        <p:txBody>
          <a:bodyPr wrap="square">
            <a:spAutoFit/>
          </a:bodyPr>
          <a:lstStyle/>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Traditional waste management mainly relies on manual sorting, which is time-consuming, labor-intensive, and highly dependent on human judgment, making it difficult to manage large quantities of mixed waste efficiently.</a:t>
            </a:r>
          </a:p>
          <a:p>
            <a:pPr marL="285750" marR="0" lvl="0" indent="-285750" algn="just" rtl="0">
              <a:lnSpc>
                <a:spcPct val="100000"/>
              </a:lnSpc>
              <a:spcBef>
                <a:spcPts val="0"/>
              </a:spcBef>
              <a:spcAft>
                <a:spcPts val="0"/>
              </a:spcAft>
              <a:buClr>
                <a:schemeClr val="dk1"/>
              </a:buClr>
              <a:buSzPts val="1800"/>
              <a:buFont typeface="Arial"/>
              <a:buChar char="•"/>
            </a:pPr>
            <a:endParaRPr lang="en-US"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These limitations often result in poor segregation of recyclable and non-recyclable materials, lower recycling effectiveness, and increased environmental issues such as landfill accumulation, resource loss, and pollution.</a:t>
            </a:r>
          </a:p>
          <a:p>
            <a:pPr marL="285750" marR="0" lvl="0" indent="-285750" algn="just" rtl="0">
              <a:lnSpc>
                <a:spcPct val="100000"/>
              </a:lnSpc>
              <a:spcBef>
                <a:spcPts val="0"/>
              </a:spcBef>
              <a:spcAft>
                <a:spcPts val="0"/>
              </a:spcAft>
              <a:buClr>
                <a:schemeClr val="dk1"/>
              </a:buClr>
              <a:buSzPts val="1800"/>
              <a:buFont typeface="Arial"/>
              <a:buChar char="•"/>
            </a:pPr>
            <a:endParaRPr lang="en-US"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To address these challenges, this project presents a deep learning-based waste classification, detection, and recycling guidance framework that combines ResNet-50, hybrid models, YOLOv8, and Retrieval-Augmented Generation to identify waste materials and support proper recycling for sustainable waste management.</a:t>
            </a:r>
            <a:endParaRPr lang="en-US" dirty="0"/>
          </a:p>
        </p:txBody>
      </p:sp>
    </p:spTree>
    <p:extLst>
      <p:ext uri="{BB962C8B-B14F-4D97-AF65-F5344CB8AC3E}">
        <p14:creationId xmlns:p14="http://schemas.microsoft.com/office/powerpoint/2010/main" val="2077170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A095F0-E8FB-E59D-9922-C56256754B1D}"/>
              </a:ext>
            </a:extLst>
          </p:cNvPr>
          <p:cNvSpPr txBox="1"/>
          <p:nvPr/>
        </p:nvSpPr>
        <p:spPr>
          <a:xfrm>
            <a:off x="3048762" y="0"/>
            <a:ext cx="6094476" cy="590931"/>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0"/>
              </a:spcAft>
              <a:buClr>
                <a:prstClr val="black"/>
              </a:buClr>
              <a:buSzPts val="3600"/>
              <a:buFont typeface="Times New Roman"/>
              <a:buNone/>
              <a:tabLst/>
              <a:defRPr/>
            </a:pPr>
            <a:r>
              <a:rPr kumimoji="0" lang="en-US" sz="3600" b="0" i="0" u="none" strike="noStrike" kern="1200" cap="none" spc="0" normalizeH="0" baseline="0" noProof="0" dirty="0">
                <a:ln>
                  <a:noFill/>
                </a:ln>
                <a:solidFill>
                  <a:prstClr val="black"/>
                </a:solidFill>
                <a:effectLst/>
                <a:uLnTx/>
                <a:uFillTx/>
                <a:latin typeface="Times New Roman"/>
                <a:ea typeface="Times New Roman"/>
                <a:cs typeface="Times New Roman"/>
                <a:sym typeface="Times New Roman"/>
              </a:rPr>
              <a:t>Objectives and Outcomes</a:t>
            </a:r>
            <a:endParaRPr kumimoji="0" lang="en-US" sz="3600" b="0" i="0" u="none" strike="noStrike" kern="1200" cap="none" spc="0" normalizeH="0" baseline="0" noProof="0" dirty="0">
              <a:ln>
                <a:noFill/>
              </a:ln>
              <a:solidFill>
                <a:prstClr val="black"/>
              </a:solidFill>
              <a:effectLst/>
              <a:uLnTx/>
              <a:uFillTx/>
              <a:latin typeface="Play"/>
              <a:ea typeface="Play"/>
              <a:cs typeface="Play"/>
              <a:sym typeface="Play"/>
            </a:endParaRPr>
          </a:p>
        </p:txBody>
      </p:sp>
      <p:graphicFrame>
        <p:nvGraphicFramePr>
          <p:cNvPr id="3" name="Google Shape;114;p5">
            <a:extLst>
              <a:ext uri="{FF2B5EF4-FFF2-40B4-BE49-F238E27FC236}">
                <a16:creationId xmlns:a16="http://schemas.microsoft.com/office/drawing/2014/main" id="{B7B66461-7CCB-0591-4474-36B314B54BA3}"/>
              </a:ext>
            </a:extLst>
          </p:cNvPr>
          <p:cNvGraphicFramePr/>
          <p:nvPr>
            <p:extLst>
              <p:ext uri="{D42A27DB-BD31-4B8C-83A1-F6EECF244321}">
                <p14:modId xmlns:p14="http://schemas.microsoft.com/office/powerpoint/2010/main" val="4276762083"/>
              </p:ext>
            </p:extLst>
          </p:nvPr>
        </p:nvGraphicFramePr>
        <p:xfrm>
          <a:off x="563300" y="806433"/>
          <a:ext cx="11065400" cy="5564900"/>
        </p:xfrm>
        <a:graphic>
          <a:graphicData uri="http://schemas.openxmlformats.org/drawingml/2006/table">
            <a:tbl>
              <a:tblPr firstRow="1" bandRow="1">
                <a:tableStyleId>{00A15C55-8517-42AA-B614-E9B94910E393}</a:tableStyleId>
              </a:tblPr>
              <a:tblGrid>
                <a:gridCol w="5532700">
                  <a:extLst>
                    <a:ext uri="{9D8B030D-6E8A-4147-A177-3AD203B41FA5}">
                      <a16:colId xmlns:a16="http://schemas.microsoft.com/office/drawing/2014/main" val="20000"/>
                    </a:ext>
                  </a:extLst>
                </a:gridCol>
                <a:gridCol w="5532700">
                  <a:extLst>
                    <a:ext uri="{9D8B030D-6E8A-4147-A177-3AD203B41FA5}">
                      <a16:colId xmlns:a16="http://schemas.microsoft.com/office/drawing/2014/main" val="20001"/>
                    </a:ext>
                  </a:extLst>
                </a:gridCol>
              </a:tblGrid>
              <a:tr h="459900">
                <a:tc>
                  <a:txBody>
                    <a:bodyPr/>
                    <a:lstStyle/>
                    <a:p>
                      <a:pPr marL="0" marR="0" lvl="0" indent="0" algn="just" rtl="0">
                        <a:spcBef>
                          <a:spcPts val="0"/>
                        </a:spcBef>
                        <a:spcAft>
                          <a:spcPts val="0"/>
                        </a:spcAft>
                        <a:buNone/>
                      </a:pPr>
                      <a:r>
                        <a:rPr lang="en-US" sz="1800" b="1" u="none" strike="noStrike" cap="none" dirty="0">
                          <a:latin typeface="Times New Roman" panose="02020603050405020304" pitchFamily="18" charset="0"/>
                          <a:cs typeface="Times New Roman" panose="02020603050405020304" pitchFamily="18" charset="0"/>
                          <a:sym typeface="Times New Roman"/>
                        </a:rPr>
                        <a:t> OBJECTIVES</a:t>
                      </a:r>
                      <a:endParaRPr sz="1800" b="1" u="none" strike="noStrike" cap="none" dirty="0">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tc>
                  <a:txBody>
                    <a:bodyPr/>
                    <a:lstStyle/>
                    <a:p>
                      <a:pPr marL="0" marR="0" lvl="0" indent="0" algn="just" rtl="0">
                        <a:spcBef>
                          <a:spcPts val="0"/>
                        </a:spcBef>
                        <a:spcAft>
                          <a:spcPts val="0"/>
                        </a:spcAft>
                        <a:buNone/>
                      </a:pPr>
                      <a:r>
                        <a:rPr lang="en-US" sz="1800" b="1" u="none" strike="noStrike" cap="none" dirty="0">
                          <a:latin typeface="Times New Roman" panose="02020603050405020304" pitchFamily="18" charset="0"/>
                          <a:cs typeface="Times New Roman" panose="02020603050405020304" pitchFamily="18" charset="0"/>
                          <a:sym typeface="Times New Roman"/>
                        </a:rPr>
                        <a:t>OUTCOMES</a:t>
                      </a:r>
                      <a:endParaRPr sz="1800" b="1" u="none" strike="noStrike" cap="none" dirty="0">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0"/>
                  </a:ext>
                </a:extLst>
              </a:tr>
              <a:tr h="1021000">
                <a:tc>
                  <a:txBody>
                    <a:bodyPr/>
                    <a:lstStyle/>
                    <a:p>
                      <a:pPr marL="0" marR="0" lvl="0" indent="0" algn="just" rtl="0">
                        <a:spcBef>
                          <a:spcPts val="0"/>
                        </a:spcBef>
                        <a:spcAft>
                          <a:spcPts val="0"/>
                        </a:spcAft>
                        <a:buNone/>
                      </a:pPr>
                      <a:r>
                        <a:rPr lang="en-US" sz="1800" b="0" u="none" strike="noStrike" cap="none" dirty="0">
                          <a:solidFill>
                            <a:schemeClr val="tx1"/>
                          </a:solidFill>
                          <a:latin typeface="Times New Roman" panose="02020603050405020304" pitchFamily="18" charset="0"/>
                          <a:cs typeface="Times New Roman" panose="02020603050405020304" pitchFamily="18" charset="0"/>
                          <a:sym typeface="Times New Roman"/>
                        </a:rPr>
                        <a:t>Develop deep learning and hybrid models for accurate waste classification.</a:t>
                      </a:r>
                      <a:endParaRPr sz="1800" b="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tc>
                  <a:txBody>
                    <a:bodyPr/>
                    <a:lstStyle/>
                    <a:p>
                      <a:pPr marL="0" marR="0" lvl="0" indent="0" algn="just"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An efficient waste classification system capable of identifying waste categories with improved accuracy.</a:t>
                      </a:r>
                      <a:endParaRPr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1"/>
                  </a:ext>
                </a:extLst>
              </a:tr>
              <a:tr h="1021000">
                <a:tc>
                  <a:txBody>
                    <a:bodyPr/>
                    <a:lstStyle/>
                    <a:p>
                      <a:pPr marL="0" marR="0" lvl="0" indent="0" algn="just"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Build a YOLOv8 model to detect and localize multiple waste objects from a single image.</a:t>
                      </a:r>
                      <a:endParaRPr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tc>
                  <a:txBody>
                    <a:bodyPr/>
                    <a:lstStyle/>
                    <a:p>
                      <a:pPr marL="0" marR="0" lvl="0" indent="0" algn="just"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A robust multi-class waste detection model for recognizing multiple materials in mixed waste images.</a:t>
                      </a:r>
                      <a:endParaRPr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2"/>
                  </a:ext>
                </a:extLst>
              </a:tr>
              <a:tr h="1021000">
                <a:tc>
                  <a:txBody>
                    <a:bodyPr/>
                    <a:lstStyle/>
                    <a:p>
                      <a:pPr marL="0" marR="0" lvl="0" indent="0" algn="just"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Integrate a RAG-based module to generate recycling guidance from detected waste classes.</a:t>
                      </a:r>
                      <a:endParaRPr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tc>
                  <a:txBody>
                    <a:bodyPr/>
                    <a:lstStyle/>
                    <a:p>
                      <a:pPr marL="0" marR="0" lvl="0" indent="0" algn="just"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Context-aware recycling guidance for material-specific disposal and recycling recommendations.</a:t>
                      </a:r>
                      <a:endParaRPr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3"/>
                  </a:ext>
                </a:extLst>
              </a:tr>
              <a:tr h="1021000">
                <a:tc>
                  <a:txBody>
                    <a:bodyPr/>
                    <a:lstStyle/>
                    <a:p>
                      <a:pPr marL="0" marR="0" lvl="0" indent="0" algn="just"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Design an interactive interface for image upload, result visualization, and recycling support.</a:t>
                      </a:r>
                      <a:endParaRPr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tc>
                  <a:txBody>
                    <a:bodyPr/>
                    <a:lstStyle/>
                    <a:p>
                      <a:pPr marL="0" marR="0" lvl="0" indent="0" algn="just"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A functional end-to-end application that displays detection results and recycling guidance effectively.</a:t>
                      </a:r>
                      <a:endParaRPr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txBody>
                  <a:tcPr marL="91450" marR="91450" marT="45725" marB="45725"/>
                </a:tc>
                <a:extLst>
                  <a:ext uri="{0D108BD9-81ED-4DB2-BD59-A6C34878D82A}">
                    <a16:rowId xmlns:a16="http://schemas.microsoft.com/office/drawing/2014/main" val="10004"/>
                  </a:ext>
                </a:extLst>
              </a:tr>
              <a:tr h="1021000">
                <a:tc>
                  <a:txBody>
                    <a:bodyPr/>
                    <a:lstStyle/>
                    <a:p>
                      <a:pPr marL="0" marR="0" lvl="0" indent="0" algn="just" rtl="0">
                        <a:spcBef>
                          <a:spcPts val="0"/>
                        </a:spcBef>
                        <a:spcAft>
                          <a:spcPts val="0"/>
                        </a:spcAft>
                        <a:buNone/>
                      </a:pPr>
                      <a:r>
                        <a:rPr lang="en-US"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rPr>
                        <a:t>Provide structured output to support proper waste segregation and sustainable handling.</a:t>
                      </a:r>
                      <a:endParaRPr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txBody>
                  <a:tcPr marL="91450" marR="91450" marT="45725" marB="45725"/>
                </a:tc>
                <a:tc>
                  <a:txBody>
                    <a:bodyPr/>
                    <a:lstStyle/>
                    <a:p>
                      <a:pPr marL="0" marR="0" lvl="0" indent="0" algn="just" rtl="0">
                        <a:spcBef>
                          <a:spcPts val="0"/>
                        </a:spcBef>
                        <a:spcAft>
                          <a:spcPts val="0"/>
                        </a:spcAft>
                        <a:buNone/>
                      </a:pPr>
                      <a:r>
                        <a:rPr lang="en-US"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Improved user awareness and practical support for sustainable waste management.</a:t>
                      </a:r>
                      <a:endParaRPr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txBody>
                  <a:tcPr marL="91450" marR="91450" marT="45725" marB="45725"/>
                </a:tc>
                <a:extLst>
                  <a:ext uri="{0D108BD9-81ED-4DB2-BD59-A6C34878D82A}">
                    <a16:rowId xmlns:a16="http://schemas.microsoft.com/office/drawing/2014/main" val="3832950485"/>
                  </a:ext>
                </a:extLst>
              </a:tr>
            </a:tbl>
          </a:graphicData>
        </a:graphic>
      </p:graphicFrame>
    </p:spTree>
    <p:extLst>
      <p:ext uri="{BB962C8B-B14F-4D97-AF65-F5344CB8AC3E}">
        <p14:creationId xmlns:p14="http://schemas.microsoft.com/office/powerpoint/2010/main" val="796198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40531A1-94E3-3418-8C89-F7C8716662A4}"/>
              </a:ext>
            </a:extLst>
          </p:cNvPr>
          <p:cNvGraphicFramePr>
            <a:graphicFrameLocks noGrp="1"/>
          </p:cNvGraphicFramePr>
          <p:nvPr>
            <p:extLst>
              <p:ext uri="{D42A27DB-BD31-4B8C-83A1-F6EECF244321}">
                <p14:modId xmlns:p14="http://schemas.microsoft.com/office/powerpoint/2010/main" val="128475415"/>
              </p:ext>
            </p:extLst>
          </p:nvPr>
        </p:nvGraphicFramePr>
        <p:xfrm>
          <a:off x="0" y="518160"/>
          <a:ext cx="12192000" cy="6339840"/>
        </p:xfrm>
        <a:graphic>
          <a:graphicData uri="http://schemas.openxmlformats.org/drawingml/2006/table">
            <a:tbl>
              <a:tblPr firstRow="1" bandRow="1">
                <a:tableStyleId>{5C22544A-7EE6-4342-B048-85BDC9FD1C3A}</a:tableStyleId>
              </a:tblPr>
              <a:tblGrid>
                <a:gridCol w="451413">
                  <a:extLst>
                    <a:ext uri="{9D8B030D-6E8A-4147-A177-3AD203B41FA5}">
                      <a16:colId xmlns:a16="http://schemas.microsoft.com/office/drawing/2014/main" val="3139747645"/>
                    </a:ext>
                  </a:extLst>
                </a:gridCol>
                <a:gridCol w="2907104">
                  <a:extLst>
                    <a:ext uri="{9D8B030D-6E8A-4147-A177-3AD203B41FA5}">
                      <a16:colId xmlns:a16="http://schemas.microsoft.com/office/drawing/2014/main" val="1302348349"/>
                    </a:ext>
                  </a:extLst>
                </a:gridCol>
                <a:gridCol w="1631367">
                  <a:extLst>
                    <a:ext uri="{9D8B030D-6E8A-4147-A177-3AD203B41FA5}">
                      <a16:colId xmlns:a16="http://schemas.microsoft.com/office/drawing/2014/main" val="313185203"/>
                    </a:ext>
                  </a:extLst>
                </a:gridCol>
                <a:gridCol w="3417219">
                  <a:extLst>
                    <a:ext uri="{9D8B030D-6E8A-4147-A177-3AD203B41FA5}">
                      <a16:colId xmlns:a16="http://schemas.microsoft.com/office/drawing/2014/main" val="1635799890"/>
                    </a:ext>
                  </a:extLst>
                </a:gridCol>
                <a:gridCol w="3784897">
                  <a:extLst>
                    <a:ext uri="{9D8B030D-6E8A-4147-A177-3AD203B41FA5}">
                      <a16:colId xmlns:a16="http://schemas.microsoft.com/office/drawing/2014/main" val="2748475234"/>
                    </a:ext>
                  </a:extLst>
                </a:gridCol>
              </a:tblGrid>
              <a:tr h="169722">
                <a:tc>
                  <a:txBody>
                    <a:bodyPr/>
                    <a:lstStyle/>
                    <a:p>
                      <a:pPr algn="just"/>
                      <a:r>
                        <a:rPr lang="en-IN" sz="1100" b="1" dirty="0">
                          <a:latin typeface="Times New Roman" panose="02020603050405020304" pitchFamily="18" charset="0"/>
                          <a:cs typeface="Times New Roman" panose="02020603050405020304" pitchFamily="18" charset="0"/>
                        </a:rPr>
                        <a:t>S.no</a:t>
                      </a:r>
                    </a:p>
                  </a:txBody>
                  <a:tcPr/>
                </a:tc>
                <a:tc>
                  <a:txBody>
                    <a:bodyPr/>
                    <a:lstStyle/>
                    <a:p>
                      <a:pPr algn="just"/>
                      <a:r>
                        <a:rPr lang="en-IN" sz="1100" b="1" dirty="0">
                          <a:latin typeface="Times New Roman" panose="02020603050405020304" pitchFamily="18" charset="0"/>
                          <a:cs typeface="Times New Roman" panose="02020603050405020304" pitchFamily="18" charset="0"/>
                        </a:rPr>
                        <a:t>Publication Details</a:t>
                      </a:r>
                    </a:p>
                  </a:txBody>
                  <a:tcPr/>
                </a:tc>
                <a:tc>
                  <a:txBody>
                    <a:bodyPr/>
                    <a:lstStyle/>
                    <a:p>
                      <a:pPr algn="just"/>
                      <a:r>
                        <a:rPr lang="en-IN" sz="1100" b="1" dirty="0">
                          <a:latin typeface="Times New Roman" panose="02020603050405020304" pitchFamily="18" charset="0"/>
                          <a:cs typeface="Times New Roman" panose="02020603050405020304" pitchFamily="18" charset="0"/>
                        </a:rPr>
                        <a:t>Dataset Used</a:t>
                      </a:r>
                    </a:p>
                  </a:txBody>
                  <a:tcPr/>
                </a:tc>
                <a:tc>
                  <a:txBody>
                    <a:bodyPr/>
                    <a:lstStyle/>
                    <a:p>
                      <a:pPr algn="just"/>
                      <a:r>
                        <a:rPr lang="en-IN" sz="1100" b="1" dirty="0">
                          <a:latin typeface="Times New Roman" panose="02020603050405020304" pitchFamily="18" charset="0"/>
                          <a:cs typeface="Times New Roman" panose="02020603050405020304" pitchFamily="18" charset="0"/>
                        </a:rPr>
                        <a:t>Algorithms Used and Results</a:t>
                      </a:r>
                    </a:p>
                  </a:txBody>
                  <a:tcPr/>
                </a:tc>
                <a:tc>
                  <a:txBody>
                    <a:bodyPr/>
                    <a:lstStyle/>
                    <a:p>
                      <a:pPr algn="just"/>
                      <a:r>
                        <a:rPr lang="en-IN" sz="1100" b="1"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1826557509"/>
                  </a:ext>
                </a:extLst>
              </a:tr>
              <a:tr h="622313">
                <a:tc>
                  <a:txBody>
                    <a:bodyPr/>
                    <a:lstStyle/>
                    <a:p>
                      <a:pPr algn="just">
                        <a:buNone/>
                      </a:pPr>
                      <a:r>
                        <a:rPr lang="en-IN" sz="1100" b="0" dirty="0">
                          <a:latin typeface="Times New Roman" panose="02020603050405020304" pitchFamily="18" charset="0"/>
                          <a:cs typeface="Times New Roman" panose="02020603050405020304" pitchFamily="18" charset="0"/>
                        </a:rPr>
                        <a:t>1.</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0" dirty="0">
                          <a:latin typeface="Times New Roman" panose="02020603050405020304" pitchFamily="18" charset="0"/>
                          <a:cs typeface="Times New Roman" panose="02020603050405020304" pitchFamily="18" charset="0"/>
                        </a:rPr>
                        <a:t>Enhanced YOLOv8-Seg Instance Segmentation for Real-Time Submerged Debris Detection — Amjad A. </a:t>
                      </a:r>
                      <a:r>
                        <a:rPr lang="en-IN" sz="1100" b="0" dirty="0" err="1">
                          <a:latin typeface="Times New Roman" panose="02020603050405020304" pitchFamily="18" charset="0"/>
                          <a:cs typeface="Times New Roman" panose="02020603050405020304" pitchFamily="18" charset="0"/>
                        </a:rPr>
                        <a:t>Alsuwaylimi</a:t>
                      </a:r>
                      <a:r>
                        <a:rPr lang="en-IN" sz="1100" b="0" dirty="0">
                          <a:latin typeface="Times New Roman" panose="02020603050405020304" pitchFamily="18" charset="0"/>
                          <a:cs typeface="Times New Roman" panose="02020603050405020304" pitchFamily="18" charset="0"/>
                        </a:rPr>
                        <a:t>; 2024, IEEE Access. </a:t>
                      </a:r>
                    </a:p>
                    <a:p>
                      <a:pPr marL="0" indent="0" algn="just">
                        <a:buFont typeface="Arial" panose="020B0604020202020204" pitchFamily="34" charset="0"/>
                        <a:buNone/>
                      </a:pPr>
                      <a:endParaRPr lang="en-IN" sz="1100" b="0" dirty="0">
                        <a:latin typeface="Times New Roman" panose="02020603050405020304" pitchFamily="18" charset="0"/>
                        <a:cs typeface="Times New Roman" panose="02020603050405020304" pitchFamily="18" charset="0"/>
                      </a:endParaRPr>
                    </a:p>
                  </a:txBody>
                  <a:tcPr/>
                </a:tc>
                <a:tc>
                  <a:txBody>
                    <a:bodyPr/>
                    <a:lstStyle/>
                    <a:p>
                      <a:pPr algn="just"/>
                      <a:r>
                        <a:rPr lang="en-US" sz="1100" b="0" dirty="0" err="1">
                          <a:latin typeface="Times New Roman" panose="02020603050405020304" pitchFamily="18" charset="0"/>
                          <a:cs typeface="Times New Roman" panose="02020603050405020304" pitchFamily="18" charset="0"/>
                        </a:rPr>
                        <a:t>TrashCan</a:t>
                      </a:r>
                      <a:r>
                        <a:rPr lang="en-US" sz="1100" b="0" dirty="0">
                          <a:latin typeface="Times New Roman" panose="02020603050405020304" pitchFamily="18" charset="0"/>
                          <a:cs typeface="Times New Roman" panose="02020603050405020304" pitchFamily="18" charset="0"/>
                        </a:rPr>
                        <a:t> dataset with 7,212 annotated underwater images for submerged debris detection. </a:t>
                      </a:r>
                      <a:endParaRPr lang="en-IN" sz="1100" b="0" dirty="0">
                        <a:latin typeface="Times New Roman" panose="02020603050405020304" pitchFamily="18" charset="0"/>
                        <a:cs typeface="Times New Roman" panose="02020603050405020304" pitchFamily="18" charset="0"/>
                      </a:endParaRPr>
                    </a:p>
                  </a:txBody>
                  <a:tcPr/>
                </a:tc>
                <a:tc>
                  <a:txBody>
                    <a:bodyPr/>
                    <a:lstStyle/>
                    <a:p>
                      <a:pPr algn="just"/>
                      <a:r>
                        <a:rPr lang="en-US" sz="1100" b="0" dirty="0">
                          <a:latin typeface="Times New Roman" panose="02020603050405020304" pitchFamily="18" charset="0"/>
                          <a:cs typeface="Times New Roman" panose="02020603050405020304" pitchFamily="18" charset="0"/>
                        </a:rPr>
                        <a:t>Used Enhanced YOLOv8-Seg models for real-time debris detection and instance segmentation. The YOLOv8 baseline achieved Precision = 54.5%, Recall = 39.3%, and mAP@50 = 45.8%. </a:t>
                      </a:r>
                      <a:endParaRPr lang="en-IN" sz="1100" b="0" dirty="0">
                        <a:latin typeface="Times New Roman" panose="02020603050405020304" pitchFamily="18" charset="0"/>
                        <a:cs typeface="Times New Roman" panose="02020603050405020304" pitchFamily="18" charset="0"/>
                      </a:endParaRPr>
                    </a:p>
                  </a:txBody>
                  <a:tcPr/>
                </a:tc>
                <a:tc>
                  <a:txBody>
                    <a:bodyPr/>
                    <a:lstStyle/>
                    <a:p>
                      <a:pPr algn="just"/>
                      <a:r>
                        <a:rPr lang="en-US" sz="1100" b="0" dirty="0">
                          <a:latin typeface="Times New Roman" panose="02020603050405020304" pitchFamily="18" charset="0"/>
                          <a:cs typeface="Times New Roman" panose="02020603050405020304" pitchFamily="18" charset="0"/>
                        </a:rPr>
                        <a:t>The model is effective for underwater debris detection, but its scope is restricted to aquatic environments and it does not provide recycling or disposal guidance. </a:t>
                      </a:r>
                      <a:endParaRPr lang="en-IN" sz="11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9676442"/>
                  </a:ext>
                </a:extLst>
              </a:tr>
              <a:tr h="622313">
                <a:tc>
                  <a:txBody>
                    <a:bodyPr/>
                    <a:lstStyle/>
                    <a:p>
                      <a:pPr algn="just"/>
                      <a:r>
                        <a:rPr lang="en-IN" sz="1100" b="0" dirty="0">
                          <a:latin typeface="Times New Roman" panose="02020603050405020304" pitchFamily="18" charset="0"/>
                          <a:cs typeface="Times New Roman" panose="02020603050405020304" pitchFamily="18" charset="0"/>
                        </a:rPr>
                        <a:t>2.</a:t>
                      </a:r>
                    </a:p>
                  </a:txBody>
                  <a:tcPr/>
                </a:tc>
                <a:tc>
                  <a:txBody>
                    <a:bodyPr/>
                    <a:lstStyle/>
                    <a:p>
                      <a:pPr algn="just"/>
                      <a:r>
                        <a:rPr lang="en-IN" sz="1100" b="0" dirty="0">
                          <a:latin typeface="Times New Roman" panose="02020603050405020304" pitchFamily="18" charset="0"/>
                          <a:cs typeface="Times New Roman" panose="02020603050405020304" pitchFamily="18" charset="0"/>
                        </a:rPr>
                        <a:t>Contamination Detection from Highly Cluttered Waste Scenes using Computer Vision — Dishant </a:t>
                      </a:r>
                      <a:r>
                        <a:rPr lang="en-IN" sz="1100" b="0" dirty="0" err="1">
                          <a:latin typeface="Times New Roman" panose="02020603050405020304" pitchFamily="18" charset="0"/>
                          <a:cs typeface="Times New Roman" panose="02020603050405020304" pitchFamily="18" charset="0"/>
                        </a:rPr>
                        <a:t>Mewada</a:t>
                      </a:r>
                      <a:r>
                        <a:rPr lang="en-IN" sz="1100" b="0" dirty="0">
                          <a:latin typeface="Times New Roman" panose="02020603050405020304" pitchFamily="18" charset="0"/>
                          <a:cs typeface="Times New Roman" panose="02020603050405020304" pitchFamily="18" charset="0"/>
                        </a:rPr>
                        <a:t>, Cathaoir Agnew, Eoin M. Grua, Ciarán Eising; 2024, IEEE Access. </a:t>
                      </a:r>
                    </a:p>
                  </a:txBody>
                  <a:tcPr/>
                </a:tc>
                <a:tc>
                  <a:txBody>
                    <a:bodyPr/>
                    <a:lstStyle/>
                    <a:p>
                      <a:pPr algn="just"/>
                      <a:r>
                        <a:rPr lang="en-US" sz="1100" b="0" dirty="0">
                          <a:latin typeface="Times New Roman" panose="02020603050405020304" pitchFamily="18" charset="0"/>
                          <a:cs typeface="Times New Roman" panose="02020603050405020304" pitchFamily="18" charset="0"/>
                        </a:rPr>
                        <a:t>Custom recycling waste dataset collected from waste collection trucks and annotated for contamination detection. </a:t>
                      </a:r>
                      <a:endParaRPr lang="en-IN" sz="1100" b="0" dirty="0">
                        <a:latin typeface="Times New Roman" panose="02020603050405020304" pitchFamily="18" charset="0"/>
                        <a:cs typeface="Times New Roman" panose="02020603050405020304" pitchFamily="18" charset="0"/>
                      </a:endParaRPr>
                    </a:p>
                  </a:txBody>
                  <a:tcPr/>
                </a:tc>
                <a:tc>
                  <a:txBody>
                    <a:bodyPr/>
                    <a:lstStyle/>
                    <a:p>
                      <a:pPr algn="just"/>
                      <a:r>
                        <a:rPr lang="en-US" sz="1100" b="0" dirty="0">
                          <a:latin typeface="Times New Roman" panose="02020603050405020304" pitchFamily="18" charset="0"/>
                          <a:cs typeface="Times New Roman" panose="02020603050405020304" pitchFamily="18" charset="0"/>
                        </a:rPr>
                        <a:t>Used YOLOv8, Faster-RCNN, Cascade-RCNN, </a:t>
                      </a:r>
                      <a:r>
                        <a:rPr lang="en-US" sz="1100" b="0" dirty="0" err="1">
                          <a:latin typeface="Times New Roman" panose="02020603050405020304" pitchFamily="18" charset="0"/>
                          <a:cs typeface="Times New Roman" panose="02020603050405020304" pitchFamily="18" charset="0"/>
                        </a:rPr>
                        <a:t>RetinaNet</a:t>
                      </a:r>
                      <a:r>
                        <a:rPr lang="en-US" sz="1100" b="0" dirty="0">
                          <a:latin typeface="Times New Roman" panose="02020603050405020304" pitchFamily="18" charset="0"/>
                          <a:cs typeface="Times New Roman" panose="02020603050405020304" pitchFamily="18" charset="0"/>
                        </a:rPr>
                        <a:t>, and Transfer Learning. Achieved high </a:t>
                      </a:r>
                      <a:r>
                        <a:rPr lang="en-US" sz="1100" b="0" dirty="0" err="1">
                          <a:latin typeface="Times New Roman" panose="02020603050405020304" pitchFamily="18" charset="0"/>
                          <a:cs typeface="Times New Roman" panose="02020603050405020304" pitchFamily="18" charset="0"/>
                        </a:rPr>
                        <a:t>mAP</a:t>
                      </a:r>
                      <a:r>
                        <a:rPr lang="en-US" sz="1100" b="0" dirty="0">
                          <a:latin typeface="Times New Roman" panose="02020603050405020304" pitchFamily="18" charset="0"/>
                          <a:cs typeface="Times New Roman" panose="02020603050405020304" pitchFamily="18" charset="0"/>
                        </a:rPr>
                        <a:t> for contamination detection in dense and complex waste scenes. </a:t>
                      </a:r>
                      <a:endParaRPr lang="en-IN" sz="1100" b="0" dirty="0">
                        <a:latin typeface="Times New Roman" panose="02020603050405020304" pitchFamily="18" charset="0"/>
                        <a:cs typeface="Times New Roman" panose="02020603050405020304" pitchFamily="18" charset="0"/>
                      </a:endParaRPr>
                    </a:p>
                  </a:txBody>
                  <a:tcPr/>
                </a:tc>
                <a:tc>
                  <a:txBody>
                    <a:bodyPr/>
                    <a:lstStyle/>
                    <a:p>
                      <a:pPr algn="just"/>
                      <a:r>
                        <a:rPr lang="en-US" sz="1100" b="0" dirty="0">
                          <a:latin typeface="Times New Roman" panose="02020603050405020304" pitchFamily="18" charset="0"/>
                          <a:cs typeface="Times New Roman" panose="02020603050405020304" pitchFamily="18" charset="0"/>
                        </a:rPr>
                        <a:t>The system performs well for contamination detection in cluttered waste environments, but it mainly focuses on identifying contaminated materials and does not include recycling recommendation support. </a:t>
                      </a:r>
                      <a:endParaRPr lang="en-IN" sz="11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6689385"/>
                  </a:ext>
                </a:extLst>
              </a:tr>
              <a:tr h="622313">
                <a:tc>
                  <a:txBody>
                    <a:bodyPr/>
                    <a:lstStyle/>
                    <a:p>
                      <a:pPr algn="just"/>
                      <a:r>
                        <a:rPr lang="en-IN" sz="1100" b="0" dirty="0">
                          <a:latin typeface="Times New Roman" panose="02020603050405020304" pitchFamily="18" charset="0"/>
                          <a:cs typeface="Times New Roman" panose="02020603050405020304" pitchFamily="18" charset="0"/>
                        </a:rPr>
                        <a:t>3.</a:t>
                      </a:r>
                    </a:p>
                  </a:txBody>
                  <a:tcPr/>
                </a:tc>
                <a:tc>
                  <a:txBody>
                    <a:bodyPr/>
                    <a:lstStyle/>
                    <a:p>
                      <a:pPr algn="just"/>
                      <a:r>
                        <a:rPr lang="en-IN" sz="1100" b="0" dirty="0">
                          <a:latin typeface="Times New Roman" panose="02020603050405020304" pitchFamily="18" charset="0"/>
                          <a:cs typeface="Times New Roman" panose="02020603050405020304" pitchFamily="18" charset="0"/>
                        </a:rPr>
                        <a:t>A Reliable and Robust Deep Learning Model for Effective Recyclable Waste Classification — Hossen, M. M., Majid, M. E., Kashem, S. B. A., Khandakar, </a:t>
                      </a:r>
                      <a:r>
                        <a:rPr lang="en-IN" sz="1100" b="0" dirty="0" err="1">
                          <a:latin typeface="Times New Roman" panose="02020603050405020304" pitchFamily="18" charset="0"/>
                          <a:cs typeface="Times New Roman" panose="02020603050405020304" pitchFamily="18" charset="0"/>
                        </a:rPr>
                        <a:t>Nashbat</a:t>
                      </a:r>
                      <a:r>
                        <a:rPr lang="en-IN" sz="1100" b="0" dirty="0">
                          <a:latin typeface="Times New Roman" panose="02020603050405020304" pitchFamily="18" charset="0"/>
                          <a:cs typeface="Times New Roman" panose="02020603050405020304" pitchFamily="18" charset="0"/>
                        </a:rPr>
                        <a:t>; 2024, IEEE Access. </a:t>
                      </a:r>
                    </a:p>
                  </a:txBody>
                  <a:tcPr/>
                </a:tc>
                <a:tc>
                  <a:txBody>
                    <a:bodyPr/>
                    <a:lstStyle/>
                    <a:p>
                      <a:pPr algn="just"/>
                      <a:r>
                        <a:rPr lang="en-IN" sz="1100" b="0" dirty="0" err="1">
                          <a:latin typeface="Times New Roman" panose="02020603050405020304" pitchFamily="18" charset="0"/>
                          <a:cs typeface="Times New Roman" panose="02020603050405020304" pitchFamily="18" charset="0"/>
                        </a:rPr>
                        <a:t>TrashNet</a:t>
                      </a:r>
                      <a:r>
                        <a:rPr lang="en-IN" sz="1100" b="0" dirty="0">
                          <a:latin typeface="Times New Roman" panose="02020603050405020304" pitchFamily="18" charset="0"/>
                          <a:cs typeface="Times New Roman" panose="02020603050405020304" pitchFamily="18" charset="0"/>
                        </a:rPr>
                        <a:t> dataset with 2,527 images. </a:t>
                      </a:r>
                    </a:p>
                  </a:txBody>
                  <a:tcPr/>
                </a:tc>
                <a:tc>
                  <a:txBody>
                    <a:bodyPr/>
                    <a:lstStyle/>
                    <a:p>
                      <a:pPr algn="just"/>
                      <a:r>
                        <a:rPr lang="en-US" sz="1100" b="0" dirty="0">
                          <a:latin typeface="Times New Roman" panose="02020603050405020304" pitchFamily="18" charset="0"/>
                          <a:cs typeface="Times New Roman" panose="02020603050405020304" pitchFamily="18" charset="0"/>
                        </a:rPr>
                        <a:t>Proposed RWC-Net combining DenseNet-201 and MobileNet-V2. Achieved 95.01% overall accuracy and high F1-scores across recyclable waste classes. </a:t>
                      </a:r>
                      <a:endParaRPr lang="en-IN" sz="1100" b="0" dirty="0">
                        <a:latin typeface="Times New Roman" panose="02020603050405020304" pitchFamily="18" charset="0"/>
                        <a:cs typeface="Times New Roman" panose="02020603050405020304" pitchFamily="18" charset="0"/>
                      </a:endParaRPr>
                    </a:p>
                  </a:txBody>
                  <a:tcPr/>
                </a:tc>
                <a:tc>
                  <a:txBody>
                    <a:bodyPr/>
                    <a:lstStyle/>
                    <a:p>
                      <a:pPr algn="just"/>
                      <a:r>
                        <a:rPr lang="en-US" sz="1100" b="0" dirty="0">
                          <a:latin typeface="Times New Roman" panose="02020603050405020304" pitchFamily="18" charset="0"/>
                          <a:cs typeface="Times New Roman" panose="02020603050405020304" pitchFamily="18" charset="0"/>
                        </a:rPr>
                        <a:t>The approach is effective for recyclable waste classification, but its performance may not generalize well to real-world conditions because of limited dataset size, class imbalance, and the absence of object detection capability. </a:t>
                      </a:r>
                      <a:endParaRPr lang="en-IN" sz="11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9953023"/>
                  </a:ext>
                </a:extLst>
              </a:tr>
              <a:tr h="848609">
                <a:tc>
                  <a:txBody>
                    <a:bodyPr/>
                    <a:lstStyle/>
                    <a:p>
                      <a:pPr algn="just"/>
                      <a:r>
                        <a:rPr lang="en-IN" sz="1100" b="0" dirty="0">
                          <a:latin typeface="Times New Roman" panose="02020603050405020304" pitchFamily="18" charset="0"/>
                          <a:cs typeface="Times New Roman" panose="02020603050405020304" pitchFamily="18" charset="0"/>
                        </a:rPr>
                        <a:t>4.</a:t>
                      </a:r>
                    </a:p>
                  </a:txBody>
                  <a:tcPr/>
                </a:tc>
                <a:tc>
                  <a:txBody>
                    <a:bodyPr/>
                    <a:lstStyle/>
                    <a:p>
                      <a:pPr algn="just"/>
                      <a:r>
                        <a:rPr lang="en-IN" sz="1100" b="0" dirty="0">
                          <a:latin typeface="Times New Roman" panose="02020603050405020304" pitchFamily="18" charset="0"/>
                          <a:cs typeface="Times New Roman" panose="02020603050405020304" pitchFamily="18" charset="0"/>
                        </a:rPr>
                        <a:t>Recycle Waste Detection and Classification Model Using YOLO-V8 for Real-time Waste Management — </a:t>
                      </a:r>
                      <a:r>
                        <a:rPr lang="en-IN" sz="1100" b="0" dirty="0" err="1">
                          <a:latin typeface="Times New Roman" panose="02020603050405020304" pitchFamily="18" charset="0"/>
                          <a:cs typeface="Times New Roman" panose="02020603050405020304" pitchFamily="18" charset="0"/>
                        </a:rPr>
                        <a:t>Rastari</a:t>
                      </a:r>
                      <a:r>
                        <a:rPr lang="en-IN" sz="1100" b="0" dirty="0">
                          <a:latin typeface="Times New Roman" panose="02020603050405020304" pitchFamily="18" charset="0"/>
                          <a:cs typeface="Times New Roman" panose="02020603050405020304" pitchFamily="18" charset="0"/>
                        </a:rPr>
                        <a:t>, M. A. M., Roslan, R., Hamzah, R., Teo, N. H. I., </a:t>
                      </a:r>
                      <a:r>
                        <a:rPr lang="en-IN" sz="1100" b="0" dirty="0" err="1">
                          <a:latin typeface="Times New Roman" panose="02020603050405020304" pitchFamily="18" charset="0"/>
                          <a:cs typeface="Times New Roman" panose="02020603050405020304" pitchFamily="18" charset="0"/>
                        </a:rPr>
                        <a:t>Shahbudin</a:t>
                      </a:r>
                      <a:r>
                        <a:rPr lang="en-IN" sz="1100" b="0" dirty="0">
                          <a:latin typeface="Times New Roman" panose="02020603050405020304" pitchFamily="18" charset="0"/>
                          <a:cs typeface="Times New Roman" panose="02020603050405020304" pitchFamily="18" charset="0"/>
                        </a:rPr>
                        <a:t>; 2024, IEEE IICAIET. </a:t>
                      </a:r>
                    </a:p>
                  </a:txBody>
                  <a:tcPr/>
                </a:tc>
                <a:tc>
                  <a:txBody>
                    <a:bodyPr/>
                    <a:lstStyle/>
                    <a:p>
                      <a:pPr algn="just"/>
                      <a:r>
                        <a:rPr lang="en-IN" sz="1100" b="0" dirty="0">
                          <a:latin typeface="Times New Roman" panose="02020603050405020304" pitchFamily="18" charset="0"/>
                          <a:cs typeface="Times New Roman" panose="02020603050405020304" pitchFamily="18" charset="0"/>
                        </a:rPr>
                        <a:t>Garbage Classification Dataset, Recycled Waste Image Dataset, and Augmented Waste Image Dataset with 10,057 images after augmentation. </a:t>
                      </a:r>
                    </a:p>
                  </a:txBody>
                  <a:tcPr/>
                </a:tc>
                <a:tc>
                  <a:txBody>
                    <a:bodyPr/>
                    <a:lstStyle/>
                    <a:p>
                      <a:pPr algn="just"/>
                      <a:r>
                        <a:rPr lang="en-US" sz="1100" b="0" dirty="0">
                          <a:latin typeface="Times New Roman" panose="02020603050405020304" pitchFamily="18" charset="0"/>
                          <a:cs typeface="Times New Roman" panose="02020603050405020304" pitchFamily="18" charset="0"/>
                        </a:rPr>
                        <a:t>Used YOLO-v8 for real-time recyclable waste classification. Achieved 97.63% accuracy and classified waste materials such as paper, glass, metal, and plastic. </a:t>
                      </a:r>
                      <a:endParaRPr lang="en-IN" sz="1100" b="0" dirty="0">
                        <a:latin typeface="Times New Roman" panose="02020603050405020304" pitchFamily="18" charset="0"/>
                        <a:cs typeface="Times New Roman" panose="02020603050405020304" pitchFamily="18" charset="0"/>
                      </a:endParaRPr>
                    </a:p>
                  </a:txBody>
                  <a:tcPr/>
                </a:tc>
                <a:tc>
                  <a:txBody>
                    <a:bodyPr/>
                    <a:lstStyle/>
                    <a:p>
                      <a:pPr algn="just"/>
                      <a:r>
                        <a:rPr lang="en-US" sz="1100" b="0" dirty="0">
                          <a:latin typeface="Times New Roman" panose="02020603050405020304" pitchFamily="18" charset="0"/>
                          <a:cs typeface="Times New Roman" panose="02020603050405020304" pitchFamily="18" charset="0"/>
                        </a:rPr>
                        <a:t>The method shows strong performance in controlled settings, but its generalization is limited by fewer waste categories, high-quality image dependency, and lack of evaluation on mixed or overlapping waste scenes. </a:t>
                      </a:r>
                      <a:endParaRPr lang="en-IN" sz="11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48451522"/>
                  </a:ext>
                </a:extLst>
              </a:tr>
              <a:tr h="961756">
                <a:tc>
                  <a:txBody>
                    <a:bodyPr/>
                    <a:lstStyle/>
                    <a:p>
                      <a:pPr algn="just"/>
                      <a:r>
                        <a:rPr lang="en-IN" sz="1100" b="0" dirty="0">
                          <a:latin typeface="Times New Roman" panose="02020603050405020304" pitchFamily="18" charset="0"/>
                          <a:cs typeface="Times New Roman" panose="02020603050405020304" pitchFamily="18" charset="0"/>
                        </a:rPr>
                        <a:t>5.</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100" b="0" dirty="0">
                          <a:latin typeface="Times New Roman" panose="02020603050405020304" pitchFamily="18" charset="0"/>
                          <a:cs typeface="Times New Roman" panose="02020603050405020304" pitchFamily="18" charset="0"/>
                        </a:rPr>
                        <a:t>Title: </a:t>
                      </a:r>
                      <a:r>
                        <a:rPr lang="en-US" sz="1100" b="0" dirty="0">
                          <a:latin typeface="Times New Roman" panose="02020603050405020304" pitchFamily="18" charset="0"/>
                          <a:cs typeface="Times New Roman" panose="02020603050405020304" pitchFamily="18" charset="0"/>
                        </a:rPr>
                        <a:t>Enhancing Waste Sorting and Recycling Efficiency: Robust Deep Learning-Based Approach for Classification and Detection </a:t>
                      </a:r>
                      <a:r>
                        <a:rPr lang="en-IN" sz="1100" b="0" dirty="0">
                          <a:latin typeface="Times New Roman" panose="02020603050405020304" pitchFamily="18" charset="0"/>
                          <a:cs typeface="Times New Roman" panose="02020603050405020304" pitchFamily="18" charset="0"/>
                        </a:rPr>
                        <a:t>—</a:t>
                      </a:r>
                      <a:r>
                        <a:rPr lang="en-US" sz="1100" b="0" dirty="0">
                          <a:latin typeface="Times New Roman" panose="02020603050405020304" pitchFamily="18" charset="0"/>
                          <a:cs typeface="Times New Roman" panose="02020603050405020304" pitchFamily="18" charset="0"/>
                        </a:rPr>
                        <a:t> </a:t>
                      </a:r>
                      <a:r>
                        <a:rPr lang="en-IN" sz="1100" b="0" i="0" dirty="0">
                          <a:solidFill>
                            <a:srgbClr val="222222"/>
                          </a:solidFill>
                          <a:effectLst/>
                          <a:latin typeface="Times New Roman" panose="02020603050405020304" pitchFamily="18" charset="0"/>
                          <a:cs typeface="Times New Roman" panose="02020603050405020304" pitchFamily="18" charset="0"/>
                        </a:rPr>
                        <a:t>Sayem, F. R., Islam, M. S. B., </a:t>
                      </a:r>
                      <a:r>
                        <a:rPr lang="en-IN" sz="1100" b="0" i="0" dirty="0" err="1">
                          <a:solidFill>
                            <a:srgbClr val="222222"/>
                          </a:solidFill>
                          <a:effectLst/>
                          <a:latin typeface="Times New Roman" panose="02020603050405020304" pitchFamily="18" charset="0"/>
                          <a:cs typeface="Times New Roman" panose="02020603050405020304" pitchFamily="18" charset="0"/>
                        </a:rPr>
                        <a:t>Naznine</a:t>
                      </a:r>
                      <a:r>
                        <a:rPr lang="en-IN" sz="1100" b="0" i="0" dirty="0">
                          <a:solidFill>
                            <a:srgbClr val="222222"/>
                          </a:solidFill>
                          <a:effectLst/>
                          <a:latin typeface="Times New Roman" panose="02020603050405020304" pitchFamily="18" charset="0"/>
                          <a:cs typeface="Times New Roman" panose="02020603050405020304" pitchFamily="18" charset="0"/>
                        </a:rPr>
                        <a:t>, M., </a:t>
                      </a:r>
                      <a:r>
                        <a:rPr lang="en-IN" sz="1100" b="0" i="0" dirty="0" err="1">
                          <a:solidFill>
                            <a:srgbClr val="222222"/>
                          </a:solidFill>
                          <a:effectLst/>
                          <a:latin typeface="Times New Roman" panose="02020603050405020304" pitchFamily="18" charset="0"/>
                          <a:cs typeface="Times New Roman" panose="02020603050405020304" pitchFamily="18" charset="0"/>
                        </a:rPr>
                        <a:t>Nashbat</a:t>
                      </a:r>
                      <a:r>
                        <a:rPr lang="en-IN" sz="1100" b="0" i="0" dirty="0">
                          <a:solidFill>
                            <a:srgbClr val="222222"/>
                          </a:solidFill>
                          <a:effectLst/>
                          <a:latin typeface="Times New Roman" panose="02020603050405020304" pitchFamily="18" charset="0"/>
                          <a:cs typeface="Times New Roman" panose="02020603050405020304" pitchFamily="18" charset="0"/>
                        </a:rPr>
                        <a:t>, M., Hasan-Zia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Neural Computing and Applications (2025)</a:t>
                      </a:r>
                      <a:endParaRPr lang="en-IN" sz="11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100" b="0" dirty="0" err="1">
                          <a:latin typeface="Times New Roman" panose="02020603050405020304" pitchFamily="18" charset="0"/>
                          <a:cs typeface="Times New Roman" panose="02020603050405020304" pitchFamily="18" charset="0"/>
                        </a:rPr>
                        <a:t>WasteRecycling</a:t>
                      </a:r>
                      <a:r>
                        <a:rPr lang="en-IN" sz="1100" b="0" dirty="0">
                          <a:latin typeface="Times New Roman" panose="02020603050405020304" pitchFamily="18" charset="0"/>
                          <a:cs typeface="Times New Roman" panose="02020603050405020304" pitchFamily="18" charset="0"/>
                        </a:rPr>
                        <a:t> Plant dataset (WARP)</a:t>
                      </a:r>
                      <a:endParaRPr lang="en-US" sz="1100" b="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1100" b="0" dirty="0">
                        <a:latin typeface="Times New Roman" panose="02020603050405020304" pitchFamily="18" charset="0"/>
                        <a:cs typeface="Times New Roman" panose="02020603050405020304" pitchFamily="18" charset="0"/>
                      </a:endParaRPr>
                    </a:p>
                  </a:txBody>
                  <a:tcPr/>
                </a:tc>
                <a:tc>
                  <a:txBody>
                    <a:bodyPr/>
                    <a:lstStyle/>
                    <a:p>
                      <a:pPr marL="0" indent="0" algn="just">
                        <a:buFont typeface="Arial" panose="020B0604020202020204" pitchFamily="34" charset="0"/>
                        <a:buNone/>
                      </a:pPr>
                      <a:r>
                        <a:rPr lang="en-IN" sz="1100" b="0" dirty="0">
                          <a:latin typeface="Times New Roman" panose="02020603050405020304" pitchFamily="18" charset="0"/>
                          <a:cs typeface="Times New Roman" panose="02020603050405020304" pitchFamily="18" charset="0"/>
                        </a:rPr>
                        <a:t>Used a Dual-Stream Network (DenseNet-201 + Multi-Axis Vision Transformer) for waste classification. Achieved 83.11% classification accuracy on the </a:t>
                      </a:r>
                      <a:r>
                        <a:rPr lang="en-IN" sz="1100" b="0" dirty="0" err="1">
                          <a:latin typeface="Times New Roman" panose="02020603050405020304" pitchFamily="18" charset="0"/>
                          <a:cs typeface="Times New Roman" panose="02020603050405020304" pitchFamily="18" charset="0"/>
                        </a:rPr>
                        <a:t>WaRP</a:t>
                      </a:r>
                      <a:r>
                        <a:rPr lang="en-IN" sz="1100" b="0" dirty="0">
                          <a:latin typeface="Times New Roman" panose="02020603050405020304" pitchFamily="18" charset="0"/>
                          <a:cs typeface="Times New Roman" panose="02020603050405020304" pitchFamily="18" charset="0"/>
                        </a:rPr>
                        <a:t> dataset. GELAN-E model obtained 63% mAP@50 for waste object detection. Models improved waste sorting and recycling efficiency.</a:t>
                      </a:r>
                    </a:p>
                  </a:txBody>
                  <a:tcPr/>
                </a:tc>
                <a:tc>
                  <a:txBody>
                    <a:bodyPr/>
                    <a:lstStyle/>
                    <a:p>
                      <a:pPr marL="0" indent="0" algn="just">
                        <a:buFont typeface="Arial" panose="020B0604020202020204" pitchFamily="34" charset="0"/>
                        <a:buNone/>
                      </a:pPr>
                      <a:r>
                        <a:rPr lang="en-US" sz="1100" b="0" dirty="0">
                          <a:latin typeface="Times New Roman" panose="02020603050405020304" pitchFamily="18" charset="0"/>
                          <a:cs typeface="Times New Roman" panose="02020603050405020304" pitchFamily="18" charset="0"/>
                        </a:rPr>
                        <a:t>Class imbalance in categories like bottles and detergents affects performance. Visually similar waste items and complex backgrounds cause misclassification. High computational cost of the 2S_DenseViT model limits real-time deployment. Reliance on RGB images only restricts accuracy; multimodal data could improve results.</a:t>
                      </a:r>
                    </a:p>
                  </a:txBody>
                  <a:tcPr/>
                </a:tc>
                <a:extLst>
                  <a:ext uri="{0D108BD9-81ED-4DB2-BD59-A6C34878D82A}">
                    <a16:rowId xmlns:a16="http://schemas.microsoft.com/office/drawing/2014/main" val="274170808"/>
                  </a:ext>
                </a:extLst>
              </a:tr>
              <a:tr h="848609">
                <a:tc>
                  <a:txBody>
                    <a:bodyPr/>
                    <a:lstStyle/>
                    <a:p>
                      <a:pPr algn="just"/>
                      <a:r>
                        <a:rPr lang="en-IN" sz="1100" b="0" dirty="0">
                          <a:latin typeface="Times New Roman" panose="02020603050405020304" pitchFamily="18" charset="0"/>
                          <a:cs typeface="Times New Roman" panose="02020603050405020304" pitchFamily="18" charset="0"/>
                        </a:rPr>
                        <a:t>6.</a:t>
                      </a:r>
                    </a:p>
                  </a:txBody>
                  <a:tcPr/>
                </a:tc>
                <a:tc>
                  <a:txBody>
                    <a:bodyPr/>
                    <a:lstStyle/>
                    <a:p>
                      <a:pPr algn="just"/>
                      <a:r>
                        <a:rPr lang="en-IN" sz="1100" b="0" dirty="0">
                          <a:latin typeface="Times New Roman" panose="02020603050405020304" pitchFamily="18" charset="0"/>
                          <a:cs typeface="Times New Roman" panose="02020603050405020304" pitchFamily="18" charset="0"/>
                        </a:rPr>
                        <a:t>Title: </a:t>
                      </a:r>
                      <a:r>
                        <a:rPr lang="en-US" sz="1100" b="0" dirty="0">
                          <a:latin typeface="Times New Roman" panose="02020603050405020304" pitchFamily="18" charset="0"/>
                          <a:cs typeface="Times New Roman" panose="02020603050405020304" pitchFamily="18" charset="0"/>
                        </a:rPr>
                        <a:t>E-Waste Intelligent Robotic Technology (EIRT): A Deep Learning approach for Electronic Waste Detection, Classification and Sorting </a:t>
                      </a:r>
                      <a:r>
                        <a:rPr lang="en-IN" sz="1100" b="0" dirty="0">
                          <a:latin typeface="Times New Roman" panose="02020603050405020304" pitchFamily="18" charset="0"/>
                          <a:cs typeface="Times New Roman" panose="02020603050405020304" pitchFamily="18" charset="0"/>
                        </a:rPr>
                        <a:t>— </a:t>
                      </a:r>
                      <a:r>
                        <a:rPr lang="en-IN" sz="1100" b="0" i="0" dirty="0">
                          <a:solidFill>
                            <a:srgbClr val="222222"/>
                          </a:solidFill>
                          <a:effectLst/>
                          <a:latin typeface="Times New Roman" panose="02020603050405020304" pitchFamily="18" charset="0"/>
                          <a:cs typeface="Times New Roman" panose="02020603050405020304" pitchFamily="18" charset="0"/>
                        </a:rPr>
                        <a:t>Joseph, I. O., Wangare, N. L., </a:t>
                      </a:r>
                      <a:r>
                        <a:rPr lang="en-IN" sz="1100" b="0" i="0" dirty="0" err="1">
                          <a:solidFill>
                            <a:srgbClr val="222222"/>
                          </a:solidFill>
                          <a:effectLst/>
                          <a:latin typeface="Times New Roman" panose="02020603050405020304" pitchFamily="18" charset="0"/>
                          <a:cs typeface="Times New Roman" panose="02020603050405020304" pitchFamily="18" charset="0"/>
                        </a:rPr>
                        <a:t>Mahoque</a:t>
                      </a:r>
                      <a:r>
                        <a:rPr lang="en-IN" sz="1100" b="0" i="0" dirty="0">
                          <a:solidFill>
                            <a:srgbClr val="222222"/>
                          </a:solidFill>
                          <a:effectLst/>
                          <a:latin typeface="Times New Roman" panose="02020603050405020304" pitchFamily="18" charset="0"/>
                          <a:cs typeface="Times New Roman" panose="02020603050405020304" pitchFamily="18" charset="0"/>
                        </a:rPr>
                        <a:t>, T. P., Tewari, P., &amp; Majumdar</a:t>
                      </a:r>
                      <a:endParaRPr lang="en-IN" sz="1100" b="0" dirty="0">
                        <a:latin typeface="Times New Roman" panose="02020603050405020304" pitchFamily="18" charset="0"/>
                        <a:cs typeface="Times New Roman" panose="02020603050405020304" pitchFamily="18" charset="0"/>
                      </a:endParaRPr>
                    </a:p>
                    <a:p>
                      <a:pPr algn="just"/>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14th ICCCNT IEEE Conference </a:t>
                      </a:r>
                      <a:endParaRPr lang="en-US" sz="1100" b="0" i="0" dirty="0">
                        <a:latin typeface="Times New Roman" panose="02020603050405020304" pitchFamily="18" charset="0"/>
                        <a:cs typeface="Times New Roman" panose="02020603050405020304" pitchFamily="18" charset="0"/>
                      </a:endParaRPr>
                    </a:p>
                  </a:txBody>
                  <a:tcPr/>
                </a:tc>
                <a:tc>
                  <a:txBody>
                    <a:bodyPr/>
                    <a:lstStyle/>
                    <a:p>
                      <a:pPr algn="just"/>
                      <a:r>
                        <a:rPr lang="en-IN" sz="1100" b="0" dirty="0" err="1">
                          <a:latin typeface="Times New Roman" panose="02020603050405020304" pitchFamily="18" charset="0"/>
                          <a:cs typeface="Times New Roman" panose="02020603050405020304" pitchFamily="18" charset="0"/>
                        </a:rPr>
                        <a:t>TrashBox</a:t>
                      </a:r>
                      <a:r>
                        <a:rPr lang="en-IN" sz="1100" b="0" dirty="0">
                          <a:latin typeface="Times New Roman" panose="02020603050405020304" pitchFamily="18" charset="0"/>
                          <a:cs typeface="Times New Roman" panose="02020603050405020304" pitchFamily="18" charset="0"/>
                        </a:rPr>
                        <a:t>, Waste Pictures, </a:t>
                      </a:r>
                      <a:r>
                        <a:rPr lang="en-IN" sz="1100" b="0" dirty="0" err="1">
                          <a:latin typeface="Times New Roman" panose="02020603050405020304" pitchFamily="18" charset="0"/>
                          <a:cs typeface="Times New Roman" panose="02020603050405020304" pitchFamily="18" charset="0"/>
                        </a:rPr>
                        <a:t>eWaste</a:t>
                      </a:r>
                      <a:r>
                        <a:rPr lang="en-IN" sz="1100" b="0" dirty="0">
                          <a:latin typeface="Times New Roman" panose="02020603050405020304" pitchFamily="18" charset="0"/>
                          <a:cs typeface="Times New Roman" panose="02020603050405020304" pitchFamily="18" charset="0"/>
                        </a:rPr>
                        <a:t> datasets (total ~5,336 images)</a:t>
                      </a:r>
                      <a:endParaRPr lang="en-US" sz="1100" b="0" dirty="0">
                        <a:latin typeface="Times New Roman" panose="02020603050405020304" pitchFamily="18" charset="0"/>
                        <a:cs typeface="Times New Roman" panose="02020603050405020304" pitchFamily="18" charset="0"/>
                      </a:endParaRPr>
                    </a:p>
                  </a:txBody>
                  <a:tcPr/>
                </a:tc>
                <a:tc>
                  <a:txBody>
                    <a:bodyPr/>
                    <a:lstStyle/>
                    <a:p>
                      <a:pPr marL="0" indent="0" algn="just">
                        <a:buFont typeface="Arial" panose="020B0604020202020204" pitchFamily="34" charset="0"/>
                        <a:buNone/>
                      </a:pPr>
                      <a:r>
                        <a:rPr lang="en-US" sz="1100" b="0" dirty="0">
                          <a:latin typeface="Times New Roman" panose="02020603050405020304" pitchFamily="18" charset="0"/>
                          <a:cs typeface="Times New Roman" panose="02020603050405020304" pitchFamily="18" charset="0"/>
                        </a:rPr>
                        <a:t>Used EfficientNet-D2 for automated e-waste classification. Achieved 82.32% accuracy across all categories. Classified five e-waste types: Battery, Electronic Board, Home Appliances, Mobile Phone, Mouse. Demonstrated potential for improved e-waste sorting and recycling management.</a:t>
                      </a:r>
                    </a:p>
                  </a:txBody>
                  <a:tcPr/>
                </a:tc>
                <a:tc>
                  <a:txBody>
                    <a:bodyPr/>
                    <a:lstStyle/>
                    <a:p>
                      <a:pPr marL="0" indent="0" algn="just">
                        <a:buFont typeface="Arial" panose="020B0604020202020204" pitchFamily="34" charset="0"/>
                        <a:buNone/>
                      </a:pPr>
                      <a:r>
                        <a:rPr lang="en-US" sz="1100" b="0" dirty="0">
                          <a:latin typeface="Times New Roman" panose="02020603050405020304" pitchFamily="18" charset="0"/>
                          <a:cs typeface="Times New Roman" panose="02020603050405020304" pitchFamily="18" charset="0"/>
                        </a:rPr>
                        <a:t>Performance limited by small dataset and few e-waste categories. Limited environmental variability affects real-world scalability. Robotic system physically handles only three classes, restricting sorting. Sensor reliability and performance in cluttered scenes are not evaluated.</a:t>
                      </a:r>
                    </a:p>
                  </a:txBody>
                  <a:tcPr/>
                </a:tc>
                <a:extLst>
                  <a:ext uri="{0D108BD9-81ED-4DB2-BD59-A6C34878D82A}">
                    <a16:rowId xmlns:a16="http://schemas.microsoft.com/office/drawing/2014/main" val="2506911710"/>
                  </a:ext>
                </a:extLst>
              </a:tr>
            </a:tbl>
          </a:graphicData>
        </a:graphic>
      </p:graphicFrame>
      <p:sp>
        <p:nvSpPr>
          <p:cNvPr id="6" name="Google Shape;137;p9">
            <a:extLst>
              <a:ext uri="{FF2B5EF4-FFF2-40B4-BE49-F238E27FC236}">
                <a16:creationId xmlns:a16="http://schemas.microsoft.com/office/drawing/2014/main" id="{0931F95B-F0AC-DAF6-8F45-F4396633794C}"/>
              </a:ext>
            </a:extLst>
          </p:cNvPr>
          <p:cNvSpPr txBox="1"/>
          <p:nvPr/>
        </p:nvSpPr>
        <p:spPr>
          <a:xfrm>
            <a:off x="0" y="-27432"/>
            <a:ext cx="12192000" cy="576707"/>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3600"/>
              <a:buFont typeface="Times New Roman"/>
              <a:buNone/>
            </a:pPr>
            <a:r>
              <a:rPr lang="en-US" sz="3600" b="0" i="0" u="none" strike="noStrike" cap="none" dirty="0">
                <a:solidFill>
                  <a:schemeClr val="dk1"/>
                </a:solidFill>
                <a:latin typeface="Times New Roman"/>
                <a:ea typeface="Times New Roman"/>
                <a:cs typeface="Times New Roman"/>
                <a:sym typeface="Times New Roman"/>
              </a:rPr>
              <a:t>Literature Review</a:t>
            </a:r>
            <a:endParaRPr dirty="0"/>
          </a:p>
        </p:txBody>
      </p:sp>
    </p:spTree>
    <p:extLst>
      <p:ext uri="{BB962C8B-B14F-4D97-AF65-F5344CB8AC3E}">
        <p14:creationId xmlns:p14="http://schemas.microsoft.com/office/powerpoint/2010/main" val="3451166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1;p8">
            <a:extLst>
              <a:ext uri="{FF2B5EF4-FFF2-40B4-BE49-F238E27FC236}">
                <a16:creationId xmlns:a16="http://schemas.microsoft.com/office/drawing/2014/main" id="{C8A6C369-8339-5053-EB1B-650DB5856B0C}"/>
              </a:ext>
            </a:extLst>
          </p:cNvPr>
          <p:cNvSpPr txBox="1"/>
          <p:nvPr/>
        </p:nvSpPr>
        <p:spPr>
          <a:xfrm>
            <a:off x="0" y="40641"/>
            <a:ext cx="12192000" cy="68072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3600"/>
              <a:buFont typeface="Times New Roman"/>
              <a:buNone/>
            </a:pPr>
            <a:r>
              <a:rPr lang="en-US" sz="3600" b="0" i="0" u="none" strike="noStrike" cap="none" dirty="0">
                <a:solidFill>
                  <a:schemeClr val="dk1"/>
                </a:solidFill>
                <a:latin typeface="Times New Roman"/>
                <a:ea typeface="Times New Roman"/>
                <a:cs typeface="Times New Roman"/>
                <a:sym typeface="Times New Roman"/>
              </a:rPr>
              <a:t>Literature Summary</a:t>
            </a:r>
            <a:endParaRPr sz="3600" b="0" i="0" u="none" strike="noStrike" cap="none" dirty="0">
              <a:solidFill>
                <a:schemeClr val="dk1"/>
              </a:solidFill>
              <a:latin typeface="Times New Roman"/>
              <a:ea typeface="Times New Roman"/>
              <a:cs typeface="Times New Roman"/>
              <a:sym typeface="Times New Roman"/>
            </a:endParaRPr>
          </a:p>
        </p:txBody>
      </p:sp>
      <p:sp>
        <p:nvSpPr>
          <p:cNvPr id="4" name="Rectangle 1">
            <a:extLst>
              <a:ext uri="{FF2B5EF4-FFF2-40B4-BE49-F238E27FC236}">
                <a16:creationId xmlns:a16="http://schemas.microsoft.com/office/drawing/2014/main" id="{7CBA6253-15BD-74F5-ED96-0BB18DFF07D7}"/>
              </a:ext>
            </a:extLst>
          </p:cNvPr>
          <p:cNvSpPr>
            <a:spLocks noChangeArrowheads="1"/>
          </p:cNvSpPr>
          <p:nvPr/>
        </p:nvSpPr>
        <p:spPr bwMode="auto">
          <a:xfrm>
            <a:off x="152400" y="1313227"/>
            <a:ext cx="118872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models such as YOLOv8,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DenseNet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MobileNet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EfficientNet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Vision Transformer-based networks are widely used for automated waste detection and classification.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Commonly used datasets include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TrashCan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TrashNet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Garbage Classification,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WaRP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TrashBox</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eWaste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datasets, which support training and evaluation under different waste-management scenarios.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and optimized models improve performance through feature fusion, transfer learning, data augmentation, and lightweight architectures, leading to better accuracy and more efficient waste recognition.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existing studies are limited to classification only or detection only and do not provide additional support for recycling or disposal decisions.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limitations include small datasets, class imbalance, controlled image conditions, and lack of evaluation on cluttered or overlapping waste scenes, which affect real-world deployment.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gaps highlight the need for an integrated waste management system that combines accurate waste recognition with practical recycling guidance.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0515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7;p9">
            <a:extLst>
              <a:ext uri="{FF2B5EF4-FFF2-40B4-BE49-F238E27FC236}">
                <a16:creationId xmlns:a16="http://schemas.microsoft.com/office/drawing/2014/main" id="{59955A2F-BF2A-82E6-FE24-6951CA1EC820}"/>
              </a:ext>
            </a:extLst>
          </p:cNvPr>
          <p:cNvSpPr txBox="1"/>
          <p:nvPr/>
        </p:nvSpPr>
        <p:spPr>
          <a:xfrm>
            <a:off x="0" y="-27432"/>
            <a:ext cx="12192000" cy="576707"/>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3600"/>
              <a:buFont typeface="Times New Roman"/>
              <a:buNone/>
            </a:pPr>
            <a:r>
              <a:rPr lang="en-US" sz="3600" b="0" i="0" u="none" strike="noStrike" cap="none" dirty="0">
                <a:solidFill>
                  <a:schemeClr val="dk1"/>
                </a:solidFill>
                <a:latin typeface="Times New Roman"/>
                <a:ea typeface="Times New Roman"/>
                <a:cs typeface="Times New Roman"/>
                <a:sym typeface="Times New Roman"/>
              </a:rPr>
              <a:t>Datasets and Requirement specifications</a:t>
            </a:r>
            <a:endParaRPr dirty="0"/>
          </a:p>
        </p:txBody>
      </p:sp>
      <p:sp>
        <p:nvSpPr>
          <p:cNvPr id="4" name="TextBox 3">
            <a:extLst>
              <a:ext uri="{FF2B5EF4-FFF2-40B4-BE49-F238E27FC236}">
                <a16:creationId xmlns:a16="http://schemas.microsoft.com/office/drawing/2014/main" id="{32DCA1EB-EC80-C5C8-3A7D-F84D3D183C51}"/>
              </a:ext>
            </a:extLst>
          </p:cNvPr>
          <p:cNvSpPr txBox="1"/>
          <p:nvPr/>
        </p:nvSpPr>
        <p:spPr>
          <a:xfrm>
            <a:off x="441198" y="364609"/>
            <a:ext cx="6094476" cy="369332"/>
          </a:xfrm>
          <a:prstGeom prst="rect">
            <a:avLst/>
          </a:prstGeom>
          <a:noFill/>
        </p:spPr>
        <p:txBody>
          <a:bodyPr wrap="square">
            <a:spAutoFit/>
          </a:bodyPr>
          <a:lstStyle/>
          <a:p>
            <a:r>
              <a:rPr lang="en-US" sz="1800" b="1" i="0" u="none" strike="noStrike" cap="none" dirty="0">
                <a:solidFill>
                  <a:schemeClr val="dk1"/>
                </a:solidFill>
                <a:latin typeface="Times New Roman"/>
                <a:ea typeface="Times New Roman"/>
                <a:cs typeface="Times New Roman"/>
                <a:sym typeface="Times New Roman"/>
              </a:rPr>
              <a:t>Datasets Used :</a:t>
            </a:r>
            <a:endParaRPr lang="en-IN" dirty="0"/>
          </a:p>
        </p:txBody>
      </p:sp>
      <p:sp>
        <p:nvSpPr>
          <p:cNvPr id="6" name="Rectangle 2">
            <a:extLst>
              <a:ext uri="{FF2B5EF4-FFF2-40B4-BE49-F238E27FC236}">
                <a16:creationId xmlns:a16="http://schemas.microsoft.com/office/drawing/2014/main" id="{0CC7065B-7EA5-B1B0-2EBE-94FB84C072A5}"/>
              </a:ext>
            </a:extLst>
          </p:cNvPr>
          <p:cNvSpPr>
            <a:spLocks noChangeArrowheads="1"/>
          </p:cNvSpPr>
          <p:nvPr/>
        </p:nvSpPr>
        <p:spPr bwMode="auto">
          <a:xfrm flipH="1">
            <a:off x="441198" y="615246"/>
            <a:ext cx="1145743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Garbage Classification Dataset</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the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ResNet-50</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Contains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waste categories</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 total of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19,762 images</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Classes include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Metal, Glass, Biological Waste, Paper, Battery, Trash, Cardboard, Shoes, Clothes, and Plastic</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Kaggle – Garbage Classification V2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Combined Garbage Classification + </a:t>
            </a:r>
            <a:r>
              <a:rPr kumimoji="0" lang="en-US" altLang="en-US" sz="17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TrashBox</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DenseNet121 + EfficientNet-B0</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ResNet-50 + </a:t>
            </a:r>
            <a:r>
              <a:rPr kumimoji="0" lang="en-US" altLang="en-US" sz="17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by merging both datasets for balanced training.</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classes</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Metal, Glass, Paper, Cardboard, Clothes, and Plastic</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4,000 images each</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Kaggle – Garbage Classification V2 and </a:t>
            </a:r>
            <a:r>
              <a:rPr kumimoji="0" lang="en-US" altLang="en-US" sz="1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TrashBox</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Garbage Classification Dataset (YOLOv8 Format)</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the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YOLOv8</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detection model.</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from </a:t>
            </a:r>
            <a:r>
              <a:rPr kumimoji="0" lang="en-US" altLang="en-US" sz="17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Roboflow</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Universe</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multi-class waste detection.</a:t>
            </a:r>
            <a:b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Roboflow</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Universe – Garbage Classification 3 </a:t>
            </a:r>
          </a:p>
        </p:txBody>
      </p:sp>
      <p:sp>
        <p:nvSpPr>
          <p:cNvPr id="8" name="TextBox 7">
            <a:extLst>
              <a:ext uri="{FF2B5EF4-FFF2-40B4-BE49-F238E27FC236}">
                <a16:creationId xmlns:a16="http://schemas.microsoft.com/office/drawing/2014/main" id="{E075A8F5-FAD3-037E-7C87-A9B2EA48E31C}"/>
              </a:ext>
            </a:extLst>
          </p:cNvPr>
          <p:cNvSpPr txBox="1"/>
          <p:nvPr/>
        </p:nvSpPr>
        <p:spPr>
          <a:xfrm>
            <a:off x="441198" y="4308999"/>
            <a:ext cx="9544050" cy="255454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Requirements Specifications :</a:t>
            </a:r>
          </a:p>
          <a:p>
            <a:endParaRPr lang="en-IN" sz="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Programming Language:</a:t>
            </a:r>
            <a:r>
              <a:rPr lang="en-IN" sz="1700" dirty="0">
                <a:latin typeface="Times New Roman" panose="02020603050405020304" pitchFamily="18" charset="0"/>
                <a:cs typeface="Times New Roman" panose="02020603050405020304" pitchFamily="18" charset="0"/>
              </a:rPr>
              <a:t> Python </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Classification Models:</a:t>
            </a:r>
            <a:r>
              <a:rPr lang="en-IN" sz="1700" dirty="0">
                <a:latin typeface="Times New Roman" panose="02020603050405020304" pitchFamily="18" charset="0"/>
                <a:cs typeface="Times New Roman" panose="02020603050405020304" pitchFamily="18" charset="0"/>
              </a:rPr>
              <a:t> ResNet-50, DenseNet121 + EfficientNet-B0, ResNet-50 + </a:t>
            </a:r>
            <a:r>
              <a:rPr lang="en-IN" sz="1700" dirty="0" err="1">
                <a:latin typeface="Times New Roman" panose="02020603050405020304" pitchFamily="18" charset="0"/>
                <a:cs typeface="Times New Roman" panose="02020603050405020304" pitchFamily="18" charset="0"/>
              </a:rPr>
              <a:t>ViT</a:t>
            </a:r>
            <a:r>
              <a:rPr lang="en-IN" sz="17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Object Detection Model:</a:t>
            </a:r>
            <a:r>
              <a:rPr lang="en-IN" sz="1700" dirty="0">
                <a:latin typeface="Times New Roman" panose="02020603050405020304" pitchFamily="18" charset="0"/>
                <a:cs typeface="Times New Roman" panose="02020603050405020304" pitchFamily="18" charset="0"/>
              </a:rPr>
              <a:t> YOLOv8 </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RAG Module:</a:t>
            </a:r>
            <a:r>
              <a:rPr lang="en-IN" sz="1700" dirty="0">
                <a:latin typeface="Times New Roman" panose="02020603050405020304" pitchFamily="18" charset="0"/>
                <a:cs typeface="Times New Roman" panose="02020603050405020304" pitchFamily="18" charset="0"/>
              </a:rPr>
              <a:t> FAISS, Google Gemini API </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Image Processing:</a:t>
            </a:r>
            <a:r>
              <a:rPr lang="en-IN" sz="1700" dirty="0">
                <a:latin typeface="Times New Roman" panose="02020603050405020304" pitchFamily="18" charset="0"/>
                <a:cs typeface="Times New Roman" panose="02020603050405020304" pitchFamily="18" charset="0"/>
              </a:rPr>
              <a:t> OpenCV </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Web Interface:</a:t>
            </a:r>
            <a:r>
              <a:rPr lang="en-IN" sz="1700" dirty="0">
                <a:latin typeface="Times New Roman" panose="02020603050405020304" pitchFamily="18" charset="0"/>
                <a:cs typeface="Times New Roman" panose="02020603050405020304" pitchFamily="18" charset="0"/>
              </a:rPr>
              <a:t> </a:t>
            </a:r>
            <a:r>
              <a:rPr lang="en-IN" sz="1700" dirty="0" err="1">
                <a:latin typeface="Times New Roman" panose="02020603050405020304" pitchFamily="18" charset="0"/>
                <a:cs typeface="Times New Roman" panose="02020603050405020304" pitchFamily="18" charset="0"/>
              </a:rPr>
              <a:t>Streamlit</a:t>
            </a:r>
            <a:r>
              <a:rPr lang="en-IN" sz="17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Execution Environment:</a:t>
            </a:r>
            <a:r>
              <a:rPr lang="en-IN" sz="1700" dirty="0">
                <a:latin typeface="Times New Roman" panose="02020603050405020304" pitchFamily="18" charset="0"/>
                <a:cs typeface="Times New Roman" panose="02020603050405020304" pitchFamily="18" charset="0"/>
              </a:rPr>
              <a:t> Kaggle Notebook</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Recycling Support: </a:t>
            </a:r>
            <a:r>
              <a:rPr lang="en-IN" sz="1700" dirty="0">
                <a:latin typeface="Times New Roman" panose="02020603050405020304" pitchFamily="18" charset="0"/>
                <a:cs typeface="Times New Roman" panose="02020603050405020304" pitchFamily="18" charset="0"/>
              </a:rPr>
              <a:t>Rule-Based System</a:t>
            </a:r>
          </a:p>
        </p:txBody>
      </p:sp>
    </p:spTree>
    <p:extLst>
      <p:ext uri="{BB962C8B-B14F-4D97-AF65-F5344CB8AC3E}">
        <p14:creationId xmlns:p14="http://schemas.microsoft.com/office/powerpoint/2010/main" val="144083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1;p11">
            <a:extLst>
              <a:ext uri="{FF2B5EF4-FFF2-40B4-BE49-F238E27FC236}">
                <a16:creationId xmlns:a16="http://schemas.microsoft.com/office/drawing/2014/main" id="{A7C1B44E-ACA4-6642-1827-BF304597FB17}"/>
              </a:ext>
            </a:extLst>
          </p:cNvPr>
          <p:cNvSpPr txBox="1"/>
          <p:nvPr/>
        </p:nvSpPr>
        <p:spPr>
          <a:xfrm>
            <a:off x="3048000" y="0"/>
            <a:ext cx="609600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0000"/>
              </a:buClr>
              <a:buSzPts val="3600"/>
              <a:buFont typeface="Times New Roman"/>
              <a:buNone/>
            </a:pPr>
            <a:r>
              <a:rPr lang="en-US" sz="3600" b="0" i="0" u="none" strike="noStrike" cap="none" dirty="0">
                <a:solidFill>
                  <a:srgbClr val="000000"/>
                </a:solidFill>
                <a:latin typeface="Times New Roman"/>
                <a:ea typeface="Times New Roman"/>
                <a:cs typeface="Times New Roman"/>
                <a:sym typeface="Times New Roman"/>
              </a:rPr>
              <a:t>Algorithms used in the Project</a:t>
            </a:r>
          </a:p>
        </p:txBody>
      </p:sp>
      <p:sp>
        <p:nvSpPr>
          <p:cNvPr id="4" name="TextBox 3">
            <a:extLst>
              <a:ext uri="{FF2B5EF4-FFF2-40B4-BE49-F238E27FC236}">
                <a16:creationId xmlns:a16="http://schemas.microsoft.com/office/drawing/2014/main" id="{39A1B7A0-E1FD-7C61-17DD-371051467506}"/>
              </a:ext>
            </a:extLst>
          </p:cNvPr>
          <p:cNvSpPr txBox="1"/>
          <p:nvPr/>
        </p:nvSpPr>
        <p:spPr>
          <a:xfrm>
            <a:off x="750570" y="1316395"/>
            <a:ext cx="10690860" cy="397031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ResNet-50 + Rule-Based System</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1:</a:t>
            </a:r>
            <a:r>
              <a:rPr lang="en-US" dirty="0">
                <a:latin typeface="Times New Roman" panose="02020603050405020304" pitchFamily="18" charset="0"/>
                <a:cs typeface="Times New Roman" panose="02020603050405020304" pitchFamily="18" charset="0"/>
              </a:rPr>
              <a:t> Collect the Garbage Classification dataset and organize waste images into predefined classes such as metal, glass, paper, cardboard, clothes, and plastic.</a:t>
            </a:r>
          </a:p>
          <a:p>
            <a:r>
              <a:rPr lang="en-US" b="1" dirty="0">
                <a:latin typeface="Times New Roman" panose="02020603050405020304" pitchFamily="18" charset="0"/>
                <a:cs typeface="Times New Roman" panose="02020603050405020304" pitchFamily="18" charset="0"/>
              </a:rPr>
              <a:t>Step 2:</a:t>
            </a:r>
            <a:r>
              <a:rPr lang="en-US" dirty="0">
                <a:latin typeface="Times New Roman" panose="02020603050405020304" pitchFamily="18" charset="0"/>
                <a:cs typeface="Times New Roman" panose="02020603050405020304" pitchFamily="18" charset="0"/>
              </a:rPr>
              <a:t> Resize all images to a fixed input size and apply preprocessing techniques such as normalization and augmentation for stable training.</a:t>
            </a:r>
          </a:p>
          <a:p>
            <a:r>
              <a:rPr lang="en-US" b="1" dirty="0">
                <a:latin typeface="Times New Roman" panose="02020603050405020304" pitchFamily="18" charset="0"/>
                <a:cs typeface="Times New Roman" panose="02020603050405020304" pitchFamily="18" charset="0"/>
              </a:rPr>
              <a:t>Step 3:</a:t>
            </a:r>
            <a:r>
              <a:rPr lang="en-US" dirty="0">
                <a:latin typeface="Times New Roman" panose="02020603050405020304" pitchFamily="18" charset="0"/>
                <a:cs typeface="Times New Roman" panose="02020603050405020304" pitchFamily="18" charset="0"/>
              </a:rPr>
              <a:t> Split the dataset into training, validation, and testing sets for proper model learning and evaluation.</a:t>
            </a:r>
          </a:p>
          <a:p>
            <a:r>
              <a:rPr lang="en-US" b="1" dirty="0">
                <a:latin typeface="Times New Roman" panose="02020603050405020304" pitchFamily="18" charset="0"/>
                <a:cs typeface="Times New Roman" panose="02020603050405020304" pitchFamily="18" charset="0"/>
              </a:rPr>
              <a:t>Step 4:</a:t>
            </a:r>
            <a:r>
              <a:rPr lang="en-US" dirty="0">
                <a:latin typeface="Times New Roman" panose="02020603050405020304" pitchFamily="18" charset="0"/>
                <a:cs typeface="Times New Roman" panose="02020603050405020304" pitchFamily="18" charset="0"/>
              </a:rPr>
              <a:t> Use ResNet-50 as the deep learning classifier to extract visual features and classify the input waste image into the correct category.</a:t>
            </a:r>
          </a:p>
          <a:p>
            <a:r>
              <a:rPr lang="en-US" b="1" dirty="0">
                <a:latin typeface="Times New Roman" panose="02020603050405020304" pitchFamily="18" charset="0"/>
                <a:cs typeface="Times New Roman" panose="02020603050405020304" pitchFamily="18" charset="0"/>
              </a:rPr>
              <a:t>Step 5:</a:t>
            </a:r>
            <a:r>
              <a:rPr lang="en-US" dirty="0">
                <a:latin typeface="Times New Roman" panose="02020603050405020304" pitchFamily="18" charset="0"/>
                <a:cs typeface="Times New Roman" panose="02020603050405020304" pitchFamily="18" charset="0"/>
              </a:rPr>
              <a:t> Generate the predicted waste label based on the highest classification probability.</a:t>
            </a:r>
          </a:p>
          <a:p>
            <a:r>
              <a:rPr lang="en-US" b="1" dirty="0">
                <a:latin typeface="Times New Roman" panose="02020603050405020304" pitchFamily="18" charset="0"/>
                <a:cs typeface="Times New Roman" panose="02020603050405020304" pitchFamily="18" charset="0"/>
              </a:rPr>
              <a:t>Step 6:</a:t>
            </a:r>
            <a:r>
              <a:rPr lang="en-US" dirty="0">
                <a:latin typeface="Times New Roman" panose="02020603050405020304" pitchFamily="18" charset="0"/>
                <a:cs typeface="Times New Roman" panose="02020603050405020304" pitchFamily="18" charset="0"/>
              </a:rPr>
              <a:t> Apply a rule-based system to map the predicted waste class to the corresponding recycling and disposal method.</a:t>
            </a:r>
          </a:p>
          <a:p>
            <a:r>
              <a:rPr lang="en-US" b="1" dirty="0">
                <a:latin typeface="Times New Roman" panose="02020603050405020304" pitchFamily="18" charset="0"/>
                <a:cs typeface="Times New Roman" panose="02020603050405020304" pitchFamily="18" charset="0"/>
              </a:rPr>
              <a:t>Step 7:</a:t>
            </a:r>
            <a:r>
              <a:rPr lang="en-US" dirty="0">
                <a:latin typeface="Times New Roman" panose="02020603050405020304" pitchFamily="18" charset="0"/>
                <a:cs typeface="Times New Roman" panose="02020603050405020304" pitchFamily="18" charset="0"/>
              </a:rPr>
              <a:t> Display the final output as classified waste type along with the recycling guidance.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3028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3EC27F-F669-72E0-59DF-A066A350CED0}"/>
              </a:ext>
            </a:extLst>
          </p:cNvPr>
          <p:cNvSpPr txBox="1"/>
          <p:nvPr/>
        </p:nvSpPr>
        <p:spPr>
          <a:xfrm>
            <a:off x="762000" y="818723"/>
            <a:ext cx="10830560" cy="563231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DenseNet121 + EfficientNet-B0 + Rule-Based System</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1:</a:t>
            </a:r>
            <a:r>
              <a:rPr lang="en-US" dirty="0">
                <a:latin typeface="Times New Roman" panose="02020603050405020304" pitchFamily="18" charset="0"/>
                <a:cs typeface="Times New Roman" panose="02020603050405020304" pitchFamily="18" charset="0"/>
              </a:rPr>
              <a:t> Use the combined Garbage Classification and </a:t>
            </a:r>
            <a:r>
              <a:rPr lang="en-US" dirty="0" err="1">
                <a:latin typeface="Times New Roman" panose="02020603050405020304" pitchFamily="18" charset="0"/>
                <a:cs typeface="Times New Roman" panose="02020603050405020304" pitchFamily="18" charset="0"/>
              </a:rPr>
              <a:t>TrashBox</a:t>
            </a:r>
            <a:r>
              <a:rPr lang="en-US" dirty="0">
                <a:latin typeface="Times New Roman" panose="02020603050405020304" pitchFamily="18" charset="0"/>
                <a:cs typeface="Times New Roman" panose="02020603050405020304" pitchFamily="18" charset="0"/>
              </a:rPr>
              <a:t> dataset with balanced waste classes for training.</a:t>
            </a:r>
          </a:p>
          <a:p>
            <a:r>
              <a:rPr lang="en-US" b="1" dirty="0">
                <a:latin typeface="Times New Roman" panose="02020603050405020304" pitchFamily="18" charset="0"/>
                <a:cs typeface="Times New Roman" panose="02020603050405020304" pitchFamily="18" charset="0"/>
              </a:rPr>
              <a:t>Step 2:</a:t>
            </a:r>
            <a:r>
              <a:rPr lang="en-US" dirty="0">
                <a:latin typeface="Times New Roman" panose="02020603050405020304" pitchFamily="18" charset="0"/>
                <a:cs typeface="Times New Roman" panose="02020603050405020304" pitchFamily="18" charset="0"/>
              </a:rPr>
              <a:t> Resize and preprocess the waste images to create a uniform input for both models.</a:t>
            </a:r>
          </a:p>
          <a:p>
            <a:r>
              <a:rPr lang="en-US" b="1" dirty="0">
                <a:latin typeface="Times New Roman" panose="02020603050405020304" pitchFamily="18" charset="0"/>
                <a:cs typeface="Times New Roman" panose="02020603050405020304" pitchFamily="18" charset="0"/>
              </a:rPr>
              <a:t>Step 3:</a:t>
            </a:r>
            <a:r>
              <a:rPr lang="en-US" dirty="0">
                <a:latin typeface="Times New Roman" panose="02020603050405020304" pitchFamily="18" charset="0"/>
                <a:cs typeface="Times New Roman" panose="02020603050405020304" pitchFamily="18" charset="0"/>
              </a:rPr>
              <a:t> Split the dataset into training, validation, and testing sets for proper evaluation.</a:t>
            </a:r>
          </a:p>
          <a:p>
            <a:r>
              <a:rPr lang="en-US" b="1" dirty="0">
                <a:latin typeface="Times New Roman" panose="02020603050405020304" pitchFamily="18" charset="0"/>
                <a:cs typeface="Times New Roman" panose="02020603050405020304" pitchFamily="18" charset="0"/>
              </a:rPr>
              <a:t>Step 4:</a:t>
            </a:r>
            <a:r>
              <a:rPr lang="en-US" dirty="0">
                <a:latin typeface="Times New Roman" panose="02020603050405020304" pitchFamily="18" charset="0"/>
                <a:cs typeface="Times New Roman" panose="02020603050405020304" pitchFamily="18" charset="0"/>
              </a:rPr>
              <a:t> Use DenseNet121 and EfficientNet-B0 as parallel feature extractors to learn complementary image features.</a:t>
            </a:r>
          </a:p>
          <a:p>
            <a:r>
              <a:rPr lang="en-US" b="1" dirty="0">
                <a:latin typeface="Times New Roman" panose="02020603050405020304" pitchFamily="18" charset="0"/>
                <a:cs typeface="Times New Roman" panose="02020603050405020304" pitchFamily="18" charset="0"/>
              </a:rPr>
              <a:t>Step 5:</a:t>
            </a:r>
            <a:r>
              <a:rPr lang="en-US" dirty="0">
                <a:latin typeface="Times New Roman" panose="02020603050405020304" pitchFamily="18" charset="0"/>
                <a:cs typeface="Times New Roman" panose="02020603050405020304" pitchFamily="18" charset="0"/>
              </a:rPr>
              <a:t> Fuse the extracted features and pass them through classification layers to predict the waste category.</a:t>
            </a:r>
          </a:p>
          <a:p>
            <a:r>
              <a:rPr lang="en-US" b="1" dirty="0">
                <a:latin typeface="Times New Roman" panose="02020603050405020304" pitchFamily="18" charset="0"/>
                <a:cs typeface="Times New Roman" panose="02020603050405020304" pitchFamily="18" charset="0"/>
              </a:rPr>
              <a:t>Step 6:</a:t>
            </a:r>
            <a:r>
              <a:rPr lang="en-US" dirty="0">
                <a:latin typeface="Times New Roman" panose="02020603050405020304" pitchFamily="18" charset="0"/>
                <a:cs typeface="Times New Roman" panose="02020603050405020304" pitchFamily="18" charset="0"/>
              </a:rPr>
              <a:t> Apply a rule-based system to map the predicted class to the corresponding recycling method.</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ResNet-50 + Vision Transformer + Rule-Based System</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 1:</a:t>
            </a:r>
            <a:r>
              <a:rPr lang="en-US" dirty="0">
                <a:latin typeface="Times New Roman" panose="02020603050405020304" pitchFamily="18" charset="0"/>
                <a:cs typeface="Times New Roman" panose="02020603050405020304" pitchFamily="18" charset="0"/>
              </a:rPr>
              <a:t> Use the balanced combined waste dataset containing classes such as metal, glass, paper, cardboard, clothes, and plastic.</a:t>
            </a:r>
          </a:p>
          <a:p>
            <a:r>
              <a:rPr lang="en-US" b="1" dirty="0">
                <a:latin typeface="Times New Roman" panose="02020603050405020304" pitchFamily="18" charset="0"/>
                <a:cs typeface="Times New Roman" panose="02020603050405020304" pitchFamily="18" charset="0"/>
              </a:rPr>
              <a:t>Step 2:</a:t>
            </a:r>
            <a:r>
              <a:rPr lang="en-US" dirty="0">
                <a:latin typeface="Times New Roman" panose="02020603050405020304" pitchFamily="18" charset="0"/>
                <a:cs typeface="Times New Roman" panose="02020603050405020304" pitchFamily="18" charset="0"/>
              </a:rPr>
              <a:t> Resize and normalize all images so that they can be processed by both ResNet-50 and Vision Transformer.</a:t>
            </a:r>
          </a:p>
          <a:p>
            <a:r>
              <a:rPr lang="en-US" b="1" dirty="0">
                <a:latin typeface="Times New Roman" panose="02020603050405020304" pitchFamily="18" charset="0"/>
                <a:cs typeface="Times New Roman" panose="02020603050405020304" pitchFamily="18" charset="0"/>
              </a:rPr>
              <a:t>Step 3:</a:t>
            </a:r>
            <a:r>
              <a:rPr lang="en-US" dirty="0">
                <a:latin typeface="Times New Roman" panose="02020603050405020304" pitchFamily="18" charset="0"/>
                <a:cs typeface="Times New Roman" panose="02020603050405020304" pitchFamily="18" charset="0"/>
              </a:rPr>
              <a:t> Split the dataset into training, validation, and testing sets for systematic learning.</a:t>
            </a:r>
          </a:p>
          <a:p>
            <a:r>
              <a:rPr lang="en-US" b="1" dirty="0">
                <a:latin typeface="Times New Roman" panose="02020603050405020304" pitchFamily="18" charset="0"/>
                <a:cs typeface="Times New Roman" panose="02020603050405020304" pitchFamily="18" charset="0"/>
              </a:rPr>
              <a:t>Step 4:</a:t>
            </a:r>
            <a:r>
              <a:rPr lang="en-US" dirty="0">
                <a:latin typeface="Times New Roman" panose="02020603050405020304" pitchFamily="18" charset="0"/>
                <a:cs typeface="Times New Roman" panose="02020603050405020304" pitchFamily="18" charset="0"/>
              </a:rPr>
              <a:t> Use ResNet-50 to extract local visual features and Vision Transformer to capture global contextual information.</a:t>
            </a:r>
          </a:p>
          <a:p>
            <a:r>
              <a:rPr lang="en-US" b="1" dirty="0">
                <a:latin typeface="Times New Roman" panose="02020603050405020304" pitchFamily="18" charset="0"/>
                <a:cs typeface="Times New Roman" panose="02020603050405020304" pitchFamily="18" charset="0"/>
              </a:rPr>
              <a:t>Step 5:</a:t>
            </a:r>
            <a:r>
              <a:rPr lang="en-US" dirty="0">
                <a:latin typeface="Times New Roman" panose="02020603050405020304" pitchFamily="18" charset="0"/>
                <a:cs typeface="Times New Roman" panose="02020603050405020304" pitchFamily="18" charset="0"/>
              </a:rPr>
              <a:t> Fuse both feature representations and pass them through classification layers to predict the waste category.</a:t>
            </a:r>
          </a:p>
          <a:p>
            <a:r>
              <a:rPr lang="en-US" b="1" dirty="0">
                <a:latin typeface="Times New Roman" panose="02020603050405020304" pitchFamily="18" charset="0"/>
                <a:cs typeface="Times New Roman" panose="02020603050405020304" pitchFamily="18" charset="0"/>
              </a:rPr>
              <a:t>Step 6:</a:t>
            </a:r>
            <a:r>
              <a:rPr lang="en-US" dirty="0">
                <a:latin typeface="Times New Roman" panose="02020603050405020304" pitchFamily="18" charset="0"/>
                <a:cs typeface="Times New Roman" panose="02020603050405020304" pitchFamily="18" charset="0"/>
              </a:rPr>
              <a:t> Use a rule-based system to generate the recycling and disposal guidance for the predicted waste class.</a:t>
            </a:r>
          </a:p>
        </p:txBody>
      </p:sp>
      <p:sp>
        <p:nvSpPr>
          <p:cNvPr id="4" name="Google Shape;151;p11">
            <a:extLst>
              <a:ext uri="{FF2B5EF4-FFF2-40B4-BE49-F238E27FC236}">
                <a16:creationId xmlns:a16="http://schemas.microsoft.com/office/drawing/2014/main" id="{A95CA624-718F-507A-F3DC-A81A3D2470BD}"/>
              </a:ext>
            </a:extLst>
          </p:cNvPr>
          <p:cNvSpPr txBox="1"/>
          <p:nvPr/>
        </p:nvSpPr>
        <p:spPr>
          <a:xfrm>
            <a:off x="3048000" y="0"/>
            <a:ext cx="609600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0000"/>
              </a:buClr>
              <a:buSzPts val="3600"/>
              <a:buFont typeface="Times New Roman"/>
              <a:buNone/>
            </a:pPr>
            <a:r>
              <a:rPr lang="en-US" sz="3600" b="0" i="0" u="none" strike="noStrike" cap="none" dirty="0">
                <a:solidFill>
                  <a:srgbClr val="000000"/>
                </a:solidFill>
                <a:latin typeface="Times New Roman"/>
                <a:ea typeface="Times New Roman"/>
                <a:cs typeface="Times New Roman"/>
                <a:sym typeface="Times New Roman"/>
              </a:rPr>
              <a:t>Algorithms used in the Project</a:t>
            </a:r>
          </a:p>
        </p:txBody>
      </p:sp>
    </p:spTree>
    <p:extLst>
      <p:ext uri="{BB962C8B-B14F-4D97-AF65-F5344CB8AC3E}">
        <p14:creationId xmlns:p14="http://schemas.microsoft.com/office/powerpoint/2010/main" val="4245735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1;p11">
            <a:extLst>
              <a:ext uri="{FF2B5EF4-FFF2-40B4-BE49-F238E27FC236}">
                <a16:creationId xmlns:a16="http://schemas.microsoft.com/office/drawing/2014/main" id="{A8B4E337-84BB-B3EA-0FF0-B5EBB991DE88}"/>
              </a:ext>
            </a:extLst>
          </p:cNvPr>
          <p:cNvSpPr txBox="1"/>
          <p:nvPr/>
        </p:nvSpPr>
        <p:spPr>
          <a:xfrm>
            <a:off x="3048000" y="0"/>
            <a:ext cx="609600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0000"/>
              </a:buClr>
              <a:buSzPts val="3600"/>
              <a:buFont typeface="Times New Roman"/>
              <a:buNone/>
            </a:pPr>
            <a:r>
              <a:rPr lang="en-US" sz="3600" b="0" i="0" u="none" strike="noStrike" cap="none" dirty="0">
                <a:solidFill>
                  <a:srgbClr val="000000"/>
                </a:solidFill>
                <a:latin typeface="Times New Roman"/>
                <a:ea typeface="Times New Roman"/>
                <a:cs typeface="Times New Roman"/>
                <a:sym typeface="Times New Roman"/>
              </a:rPr>
              <a:t>Algorithms used in the Project</a:t>
            </a:r>
          </a:p>
        </p:txBody>
      </p:sp>
      <p:sp>
        <p:nvSpPr>
          <p:cNvPr id="4" name="TextBox 3">
            <a:extLst>
              <a:ext uri="{FF2B5EF4-FFF2-40B4-BE49-F238E27FC236}">
                <a16:creationId xmlns:a16="http://schemas.microsoft.com/office/drawing/2014/main" id="{DC70544D-CBCF-8E02-E703-B9AF0B7A71F5}"/>
              </a:ext>
            </a:extLst>
          </p:cNvPr>
          <p:cNvSpPr txBox="1"/>
          <p:nvPr/>
        </p:nvSpPr>
        <p:spPr>
          <a:xfrm>
            <a:off x="675640" y="1048107"/>
            <a:ext cx="10840720" cy="4247317"/>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YOLOv8 + RAG Module</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1:</a:t>
            </a:r>
            <a:r>
              <a:rPr lang="en-US" dirty="0">
                <a:latin typeface="Times New Roman" panose="02020603050405020304" pitchFamily="18" charset="0"/>
                <a:cs typeface="Times New Roman" panose="02020603050405020304" pitchFamily="18" charset="0"/>
              </a:rPr>
              <a:t> Collect the garbage detection dataset in YOLOv8 format from </a:t>
            </a:r>
            <a:r>
              <a:rPr lang="en-US" dirty="0" err="1">
                <a:latin typeface="Times New Roman" panose="02020603050405020304" pitchFamily="18" charset="0"/>
                <a:cs typeface="Times New Roman" panose="02020603050405020304" pitchFamily="18" charset="0"/>
              </a:rPr>
              <a:t>Roboflow</a:t>
            </a:r>
            <a:r>
              <a:rPr lang="en-US" dirty="0">
                <a:latin typeface="Times New Roman" panose="02020603050405020304" pitchFamily="18" charset="0"/>
                <a:cs typeface="Times New Roman" panose="02020603050405020304" pitchFamily="18" charset="0"/>
              </a:rPr>
              <a:t> Universe along with a recycling knowledge base from environmental and municipal resources.</a:t>
            </a:r>
          </a:p>
          <a:p>
            <a:pPr>
              <a:buNone/>
            </a:pPr>
            <a:r>
              <a:rPr lang="en-US" b="1" dirty="0">
                <a:latin typeface="Times New Roman" panose="02020603050405020304" pitchFamily="18" charset="0"/>
                <a:cs typeface="Times New Roman" panose="02020603050405020304" pitchFamily="18" charset="0"/>
              </a:rPr>
              <a:t>Step 2:</a:t>
            </a:r>
            <a:r>
              <a:rPr lang="en-US" dirty="0">
                <a:latin typeface="Times New Roman" panose="02020603050405020304" pitchFamily="18" charset="0"/>
                <a:cs typeface="Times New Roman" panose="02020603050405020304" pitchFamily="18" charset="0"/>
              </a:rPr>
              <a:t> Resize the images, prepare annotations, and split the dataset into training, validation, and testing sets.</a:t>
            </a:r>
          </a:p>
          <a:p>
            <a:pPr>
              <a:buNone/>
            </a:pPr>
            <a:r>
              <a:rPr lang="en-US" b="1" dirty="0">
                <a:latin typeface="Times New Roman" panose="02020603050405020304" pitchFamily="18" charset="0"/>
                <a:cs typeface="Times New Roman" panose="02020603050405020304" pitchFamily="18" charset="0"/>
              </a:rPr>
              <a:t>Step 3:</a:t>
            </a:r>
            <a:r>
              <a:rPr lang="en-US" dirty="0">
                <a:latin typeface="Times New Roman" panose="02020603050405020304" pitchFamily="18" charset="0"/>
                <a:cs typeface="Times New Roman" panose="02020603050405020304" pitchFamily="18" charset="0"/>
              </a:rPr>
              <a:t> Train the YOLOv8 model to detect and localize multiple waste categories such as paper, plastic, glass, metal, cardboard, and biodegradable waste.</a:t>
            </a:r>
          </a:p>
          <a:p>
            <a:pPr>
              <a:buNone/>
            </a:pPr>
            <a:r>
              <a:rPr lang="en-US" b="1" dirty="0">
                <a:latin typeface="Times New Roman" panose="02020603050405020304" pitchFamily="18" charset="0"/>
                <a:cs typeface="Times New Roman" panose="02020603050405020304" pitchFamily="18" charset="0"/>
              </a:rPr>
              <a:t>Step 4:</a:t>
            </a:r>
            <a:r>
              <a:rPr lang="en-US" dirty="0">
                <a:latin typeface="Times New Roman" panose="02020603050405020304" pitchFamily="18" charset="0"/>
                <a:cs typeface="Times New Roman" panose="02020603050405020304" pitchFamily="18" charset="0"/>
              </a:rPr>
              <a:t> Upload an input waste image through the interface and pass it to the trained YOLOv8 detector.</a:t>
            </a:r>
          </a:p>
          <a:p>
            <a:pPr>
              <a:buNone/>
            </a:pPr>
            <a:r>
              <a:rPr lang="en-US" b="1" dirty="0">
                <a:latin typeface="Times New Roman" panose="02020603050405020304" pitchFamily="18" charset="0"/>
                <a:cs typeface="Times New Roman" panose="02020603050405020304" pitchFamily="18" charset="0"/>
              </a:rPr>
              <a:t>Step 5:</a:t>
            </a:r>
            <a:r>
              <a:rPr lang="en-US" dirty="0">
                <a:latin typeface="Times New Roman" panose="02020603050405020304" pitchFamily="18" charset="0"/>
                <a:cs typeface="Times New Roman" panose="02020603050405020304" pitchFamily="18" charset="0"/>
              </a:rPr>
              <a:t> Generate bounding boxes, class labels, and confidence scores for each detected waste object in the image.</a:t>
            </a:r>
          </a:p>
          <a:p>
            <a:pPr>
              <a:buNone/>
            </a:pPr>
            <a:r>
              <a:rPr lang="en-US" b="1" dirty="0">
                <a:latin typeface="Times New Roman" panose="02020603050405020304" pitchFamily="18" charset="0"/>
                <a:cs typeface="Times New Roman" panose="02020603050405020304" pitchFamily="18" charset="0"/>
              </a:rPr>
              <a:t>Step 6:</a:t>
            </a:r>
            <a:r>
              <a:rPr lang="en-US" dirty="0">
                <a:latin typeface="Times New Roman" panose="02020603050405020304" pitchFamily="18" charset="0"/>
                <a:cs typeface="Times New Roman" panose="02020603050405020304" pitchFamily="18" charset="0"/>
              </a:rPr>
              <a:t> Extract the detected waste labels and pass them to the Retrieval-Augmented Generation module.</a:t>
            </a:r>
          </a:p>
          <a:p>
            <a:pPr>
              <a:buNone/>
            </a:pPr>
            <a:r>
              <a:rPr lang="en-US" b="1" dirty="0">
                <a:latin typeface="Times New Roman" panose="02020603050405020304" pitchFamily="18" charset="0"/>
                <a:cs typeface="Times New Roman" panose="02020603050405020304" pitchFamily="18" charset="0"/>
              </a:rPr>
              <a:t>Step 7:</a:t>
            </a:r>
            <a:r>
              <a:rPr lang="en-US" dirty="0">
                <a:latin typeface="Times New Roman" panose="02020603050405020304" pitchFamily="18" charset="0"/>
                <a:cs typeface="Times New Roman" panose="02020603050405020304" pitchFamily="18" charset="0"/>
              </a:rPr>
              <a:t> Use FAISS to retrieve relevant recycling knowledge for each detected waste category from the prepared knowledge base.</a:t>
            </a:r>
          </a:p>
          <a:p>
            <a:pPr>
              <a:buNone/>
            </a:pPr>
            <a:r>
              <a:rPr lang="en-US" b="1" dirty="0">
                <a:latin typeface="Times New Roman" panose="02020603050405020304" pitchFamily="18" charset="0"/>
                <a:cs typeface="Times New Roman" panose="02020603050405020304" pitchFamily="18" charset="0"/>
              </a:rPr>
              <a:t>Step 8:</a:t>
            </a:r>
            <a:r>
              <a:rPr lang="en-US" dirty="0">
                <a:latin typeface="Times New Roman" panose="02020603050405020304" pitchFamily="18" charset="0"/>
                <a:cs typeface="Times New Roman" panose="02020603050405020304" pitchFamily="18" charset="0"/>
              </a:rPr>
              <a:t> Provide the retrieved context to the language model to generate structured recycling guidance.</a:t>
            </a:r>
          </a:p>
          <a:p>
            <a:pPr>
              <a:buNone/>
            </a:pPr>
            <a:r>
              <a:rPr lang="en-US" b="1" dirty="0">
                <a:latin typeface="Times New Roman" panose="02020603050405020304" pitchFamily="18" charset="0"/>
                <a:cs typeface="Times New Roman" panose="02020603050405020304" pitchFamily="18" charset="0"/>
              </a:rPr>
              <a:t>Step 9:</a:t>
            </a:r>
            <a:r>
              <a:rPr lang="en-US" dirty="0">
                <a:latin typeface="Times New Roman" panose="02020603050405020304" pitchFamily="18" charset="0"/>
                <a:cs typeface="Times New Roman" panose="02020603050405020304" pitchFamily="18" charset="0"/>
              </a:rPr>
              <a:t> Display the final output as the detected waste image with bounding boxes, labels, confidence scores, and step-by-step recycling recommendations.</a:t>
            </a:r>
          </a:p>
        </p:txBody>
      </p:sp>
    </p:spTree>
    <p:extLst>
      <p:ext uri="{BB962C8B-B14F-4D97-AF65-F5344CB8AC3E}">
        <p14:creationId xmlns:p14="http://schemas.microsoft.com/office/powerpoint/2010/main" val="3654515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63;p13">
            <a:extLst>
              <a:ext uri="{FF2B5EF4-FFF2-40B4-BE49-F238E27FC236}">
                <a16:creationId xmlns:a16="http://schemas.microsoft.com/office/drawing/2014/main" id="{6CB50DFD-C859-3DC5-9B91-5360091C1C95}"/>
              </a:ext>
            </a:extLst>
          </p:cNvPr>
          <p:cNvSpPr txBox="1"/>
          <p:nvPr/>
        </p:nvSpPr>
        <p:spPr>
          <a:xfrm>
            <a:off x="0" y="8509"/>
            <a:ext cx="12192000" cy="5675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3600"/>
              <a:buFont typeface="Times New Roman"/>
              <a:buNone/>
            </a:pPr>
            <a:r>
              <a:rPr lang="en-US" sz="3600" b="0" i="0" u="none" strike="noStrike" cap="none">
                <a:solidFill>
                  <a:schemeClr val="dk1"/>
                </a:solidFill>
                <a:latin typeface="Times New Roman"/>
                <a:ea typeface="Times New Roman"/>
                <a:cs typeface="Times New Roman"/>
                <a:sym typeface="Times New Roman"/>
              </a:rPr>
              <a:t>Architecture Diagram</a:t>
            </a:r>
            <a:endParaRPr/>
          </a:p>
        </p:txBody>
      </p:sp>
      <p:pic>
        <p:nvPicPr>
          <p:cNvPr id="3" name="Google Shape;164;p13">
            <a:extLst>
              <a:ext uri="{FF2B5EF4-FFF2-40B4-BE49-F238E27FC236}">
                <a16:creationId xmlns:a16="http://schemas.microsoft.com/office/drawing/2014/main" id="{175625AF-87ED-4013-2806-B8E8EF2E2067}"/>
              </a:ext>
            </a:extLst>
          </p:cNvPr>
          <p:cNvPicPr preferRelativeResize="0"/>
          <p:nvPr/>
        </p:nvPicPr>
        <p:blipFill rotWithShape="1">
          <a:blip r:embed="rId2">
            <a:alphaModFix/>
          </a:blip>
          <a:srcRect/>
          <a:stretch/>
        </p:blipFill>
        <p:spPr>
          <a:xfrm>
            <a:off x="1965960" y="630936"/>
            <a:ext cx="8882443" cy="6209411"/>
          </a:xfrm>
          <a:prstGeom prst="rect">
            <a:avLst/>
          </a:prstGeom>
          <a:noFill/>
          <a:ln>
            <a:noFill/>
          </a:ln>
        </p:spPr>
      </p:pic>
    </p:spTree>
    <p:extLst>
      <p:ext uri="{BB962C8B-B14F-4D97-AF65-F5344CB8AC3E}">
        <p14:creationId xmlns:p14="http://schemas.microsoft.com/office/powerpoint/2010/main" val="38106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F33481-E969-F18C-DBC5-5410B016027D}"/>
              </a:ext>
            </a:extLst>
          </p:cNvPr>
          <p:cNvSpPr txBox="1"/>
          <p:nvPr/>
        </p:nvSpPr>
        <p:spPr>
          <a:xfrm>
            <a:off x="142240" y="671691"/>
            <a:ext cx="11851640" cy="618630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Step 1 – Dataset Collection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garbage detection dataset is collected from </a:t>
            </a:r>
            <a:r>
              <a:rPr lang="en-US" dirty="0" err="1">
                <a:latin typeface="Times New Roman" panose="02020603050405020304" pitchFamily="18" charset="0"/>
                <a:cs typeface="Times New Roman" panose="02020603050405020304" pitchFamily="18" charset="0"/>
              </a:rPr>
              <a:t>Roboflow</a:t>
            </a:r>
            <a:r>
              <a:rPr lang="en-US" dirty="0">
                <a:latin typeface="Times New Roman" panose="02020603050405020304" pitchFamily="18" charset="0"/>
                <a:cs typeface="Times New Roman" panose="02020603050405020304" pitchFamily="18" charset="0"/>
              </a:rPr>
              <a:t> Universe in YOLOv8 format, containing annotated waste images of Paper, Plastic, Glass, Metal, Cardboard, and Biodegradable classes.</a:t>
            </a:r>
          </a:p>
          <a:p>
            <a:r>
              <a:rPr lang="en-US" b="1" dirty="0">
                <a:latin typeface="Times New Roman" panose="02020603050405020304" pitchFamily="18" charset="0"/>
                <a:cs typeface="Times New Roman" panose="02020603050405020304" pitchFamily="18" charset="0"/>
              </a:rPr>
              <a:t>Step 2 – Knowledge Base Preparation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recycling knowledge base is prepared separately using environmental guidelines, municipal waste management documents, and curated recycling resources for the RAG module.</a:t>
            </a:r>
          </a:p>
          <a:p>
            <a:r>
              <a:rPr lang="en-US" b="1" dirty="0">
                <a:latin typeface="Times New Roman" panose="02020603050405020304" pitchFamily="18" charset="0"/>
                <a:cs typeface="Times New Roman" panose="02020603050405020304" pitchFamily="18" charset="0"/>
              </a:rPr>
              <a:t>Step 3 – Dataset Organization and Splitting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waste image dataset is organized into training, validation, and testing sets in the ratio of 70%, 20%, and 10% for systematic model development.</a:t>
            </a:r>
          </a:p>
          <a:p>
            <a:r>
              <a:rPr lang="en-US" b="1" dirty="0">
                <a:latin typeface="Times New Roman" panose="02020603050405020304" pitchFamily="18" charset="0"/>
                <a:cs typeface="Times New Roman" panose="02020603050405020304" pitchFamily="18" charset="0"/>
              </a:rPr>
              <a:t>Step 4 – Image Resizing and Preprocessing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 images are resized to 640 × 640 pixels to match the input requirement of the YOLOv8 model. Preprocessing and augmentation techniques such as flipping, scaling, translation, and brightness variation are applied to improve robustness and reduce overfitting.</a:t>
            </a:r>
          </a:p>
          <a:p>
            <a:r>
              <a:rPr lang="en-US" b="1" dirty="0">
                <a:latin typeface="Times New Roman" panose="02020603050405020304" pitchFamily="18" charset="0"/>
                <a:cs typeface="Times New Roman" panose="02020603050405020304" pitchFamily="18" charset="0"/>
              </a:rPr>
              <a:t>Step 5 – YOLOv8 Model Training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YOLOv8 model is trained in the Kaggle Notebook environment using Python to learn multi-class object detection and localization of waste objects.</a:t>
            </a:r>
          </a:p>
          <a:p>
            <a:r>
              <a:rPr lang="en-US" b="1" dirty="0">
                <a:latin typeface="Times New Roman" panose="02020603050405020304" pitchFamily="18" charset="0"/>
                <a:cs typeface="Times New Roman" panose="02020603050405020304" pitchFamily="18" charset="0"/>
              </a:rPr>
              <a:t>Step 6 – Waste Image Inference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During inference, the trained YOLOv8 model processes the uploaded waste image and predicts bounding boxes, class labels, and confidence scores for each detected object.</a:t>
            </a:r>
          </a:p>
          <a:p>
            <a:r>
              <a:rPr lang="en-US" b="1" dirty="0">
                <a:latin typeface="Times New Roman" panose="02020603050405020304" pitchFamily="18" charset="0"/>
                <a:cs typeface="Times New Roman" panose="02020603050405020304" pitchFamily="18" charset="0"/>
              </a:rPr>
              <a:t>Step 7 – Detected Waste Label Extraction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detected waste labels are extracted from the YOLOv8 output. If multiple waste objects are identified, each label is processed individually for recommendation generation.</a:t>
            </a:r>
          </a:p>
        </p:txBody>
      </p:sp>
      <p:sp>
        <p:nvSpPr>
          <p:cNvPr id="7" name="TextBox 6">
            <a:extLst>
              <a:ext uri="{FF2B5EF4-FFF2-40B4-BE49-F238E27FC236}">
                <a16:creationId xmlns:a16="http://schemas.microsoft.com/office/drawing/2014/main" id="{F1C10748-C425-2262-D2A1-F07CB4EC1410}"/>
              </a:ext>
            </a:extLst>
          </p:cNvPr>
          <p:cNvSpPr txBox="1"/>
          <p:nvPr/>
        </p:nvSpPr>
        <p:spPr>
          <a:xfrm>
            <a:off x="2471420" y="-152061"/>
            <a:ext cx="7249160" cy="823752"/>
          </a:xfrm>
          <a:prstGeom prst="rect">
            <a:avLst/>
          </a:prstGeom>
          <a:noFill/>
        </p:spPr>
        <p:txBody>
          <a:bodyPr wrap="square">
            <a:spAutoFit/>
          </a:bodyPr>
          <a:lstStyle/>
          <a:p>
            <a:pPr algn="ctr">
              <a:lnSpc>
                <a:spcPct val="150000"/>
              </a:lnSpc>
            </a:pPr>
            <a:r>
              <a:rPr lang="en-US" sz="3600" dirty="0">
                <a:latin typeface="Times New Roman" panose="02020603050405020304" pitchFamily="18" charset="0"/>
                <a:cs typeface="Times New Roman" panose="02020603050405020304" pitchFamily="18" charset="0"/>
              </a:rPr>
              <a:t>Implementation steps and Execution</a:t>
            </a:r>
          </a:p>
        </p:txBody>
      </p:sp>
    </p:spTree>
    <p:extLst>
      <p:ext uri="{BB962C8B-B14F-4D97-AF65-F5344CB8AC3E}">
        <p14:creationId xmlns:p14="http://schemas.microsoft.com/office/powerpoint/2010/main" val="2189882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0413B2-3A62-E79A-4263-BFB2113CB14C}"/>
              </a:ext>
            </a:extLst>
          </p:cNvPr>
          <p:cNvSpPr txBox="1"/>
          <p:nvPr/>
        </p:nvSpPr>
        <p:spPr>
          <a:xfrm>
            <a:off x="304800" y="620881"/>
            <a:ext cx="11673840" cy="2585323"/>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Step 8 – Knowledge Retrieval using RAG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extracted waste labels are passed to the RAG module, where FAISS retrieves relevant recycling information from the prepared knowledge base.</a:t>
            </a:r>
          </a:p>
          <a:p>
            <a:r>
              <a:rPr lang="en-US" b="1" dirty="0">
                <a:latin typeface="Times New Roman" panose="02020603050405020304" pitchFamily="18" charset="0"/>
                <a:cs typeface="Times New Roman" panose="02020603050405020304" pitchFamily="18" charset="0"/>
              </a:rPr>
              <a:t>Step 9 – Recycling Guidance Generation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retrieved context is provided to the Google Gemini API, which generates structured recycling guidance including sorting, recycling, and disposal recommendations.</a:t>
            </a:r>
          </a:p>
          <a:p>
            <a:r>
              <a:rPr lang="en-US" b="1" dirty="0">
                <a:latin typeface="Times New Roman" panose="02020603050405020304" pitchFamily="18" charset="0"/>
                <a:cs typeface="Times New Roman" panose="02020603050405020304" pitchFamily="18" charset="0"/>
              </a:rPr>
              <a:t>Step 10 – Final Output and Interface Display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final output is displayed through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web interface, showing the uploaded image, detected waste objects, confidence scores, and generated recycling summary.</a:t>
            </a:r>
          </a:p>
        </p:txBody>
      </p:sp>
    </p:spTree>
    <p:extLst>
      <p:ext uri="{BB962C8B-B14F-4D97-AF65-F5344CB8AC3E}">
        <p14:creationId xmlns:p14="http://schemas.microsoft.com/office/powerpoint/2010/main" val="1525418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69B04E8-E545-1966-969A-72B997CAC0D8}"/>
              </a:ext>
            </a:extLst>
          </p:cNvPr>
          <p:cNvSpPr txBox="1"/>
          <p:nvPr/>
        </p:nvSpPr>
        <p:spPr>
          <a:xfrm>
            <a:off x="4475480" y="-172720"/>
            <a:ext cx="3241040" cy="823752"/>
          </a:xfrm>
          <a:prstGeom prst="rect">
            <a:avLst/>
          </a:prstGeom>
          <a:noFill/>
        </p:spPr>
        <p:txBody>
          <a:bodyPr wrap="square">
            <a:spAutoFit/>
          </a:bodyPr>
          <a:lstStyle/>
          <a:p>
            <a:pPr algn="just">
              <a:lnSpc>
                <a:spcPct val="150000"/>
              </a:lnSpc>
            </a:pPr>
            <a:r>
              <a:rPr lang="en-US" sz="3600" dirty="0">
                <a:latin typeface="Times New Roman" panose="02020603050405020304" pitchFamily="18" charset="0"/>
                <a:cs typeface="Times New Roman" panose="02020603050405020304" pitchFamily="18" charset="0"/>
              </a:rPr>
              <a:t>Results obtained </a:t>
            </a:r>
          </a:p>
        </p:txBody>
      </p:sp>
      <p:pic>
        <p:nvPicPr>
          <p:cNvPr id="8" name="Google Shape;194;p16">
            <a:extLst>
              <a:ext uri="{FF2B5EF4-FFF2-40B4-BE49-F238E27FC236}">
                <a16:creationId xmlns:a16="http://schemas.microsoft.com/office/drawing/2014/main" id="{29FA7022-E35F-B92C-409C-302BD6E5E5F2}"/>
              </a:ext>
            </a:extLst>
          </p:cNvPr>
          <p:cNvPicPr preferRelativeResize="0"/>
          <p:nvPr/>
        </p:nvPicPr>
        <p:blipFill rotWithShape="1">
          <a:blip r:embed="rId2">
            <a:alphaModFix/>
          </a:blip>
          <a:srcRect/>
          <a:stretch/>
        </p:blipFill>
        <p:spPr>
          <a:xfrm>
            <a:off x="105645" y="1069848"/>
            <a:ext cx="4236394" cy="5687568"/>
          </a:xfrm>
          <a:prstGeom prst="rect">
            <a:avLst/>
          </a:prstGeom>
          <a:noFill/>
          <a:ln>
            <a:noFill/>
          </a:ln>
        </p:spPr>
      </p:pic>
      <p:pic>
        <p:nvPicPr>
          <p:cNvPr id="9" name="Google Shape;195;p16">
            <a:extLst>
              <a:ext uri="{FF2B5EF4-FFF2-40B4-BE49-F238E27FC236}">
                <a16:creationId xmlns:a16="http://schemas.microsoft.com/office/drawing/2014/main" id="{07499559-23DA-0F54-40ED-91F2AD250D19}"/>
              </a:ext>
            </a:extLst>
          </p:cNvPr>
          <p:cNvPicPr preferRelativeResize="0"/>
          <p:nvPr/>
        </p:nvPicPr>
        <p:blipFill rotWithShape="1">
          <a:blip r:embed="rId3">
            <a:alphaModFix/>
          </a:blip>
          <a:srcRect/>
          <a:stretch/>
        </p:blipFill>
        <p:spPr>
          <a:xfrm>
            <a:off x="4362131" y="1069848"/>
            <a:ext cx="3813047" cy="5687568"/>
          </a:xfrm>
          <a:prstGeom prst="rect">
            <a:avLst/>
          </a:prstGeom>
          <a:noFill/>
          <a:ln>
            <a:noFill/>
          </a:ln>
        </p:spPr>
      </p:pic>
      <p:pic>
        <p:nvPicPr>
          <p:cNvPr id="10" name="Google Shape;196;p16">
            <a:extLst>
              <a:ext uri="{FF2B5EF4-FFF2-40B4-BE49-F238E27FC236}">
                <a16:creationId xmlns:a16="http://schemas.microsoft.com/office/drawing/2014/main" id="{A9D422F8-D1E0-9D93-EF32-66525A5FEB2C}"/>
              </a:ext>
            </a:extLst>
          </p:cNvPr>
          <p:cNvPicPr preferRelativeResize="0"/>
          <p:nvPr/>
        </p:nvPicPr>
        <p:blipFill rotWithShape="1">
          <a:blip r:embed="rId4">
            <a:alphaModFix/>
          </a:blip>
          <a:srcRect/>
          <a:stretch/>
        </p:blipFill>
        <p:spPr>
          <a:xfrm>
            <a:off x="8195271" y="1069848"/>
            <a:ext cx="3921223" cy="5687567"/>
          </a:xfrm>
          <a:prstGeom prst="rect">
            <a:avLst/>
          </a:prstGeom>
          <a:noFill/>
          <a:ln>
            <a:noFill/>
          </a:ln>
        </p:spPr>
      </p:pic>
      <p:sp>
        <p:nvSpPr>
          <p:cNvPr id="11" name="TextBox 10">
            <a:extLst>
              <a:ext uri="{FF2B5EF4-FFF2-40B4-BE49-F238E27FC236}">
                <a16:creationId xmlns:a16="http://schemas.microsoft.com/office/drawing/2014/main" id="{A3E4AE3B-EF1C-FC6C-2ED5-181053DD126C}"/>
              </a:ext>
            </a:extLst>
          </p:cNvPr>
          <p:cNvSpPr txBox="1"/>
          <p:nvPr/>
        </p:nvSpPr>
        <p:spPr>
          <a:xfrm>
            <a:off x="105645" y="579912"/>
            <a:ext cx="2069797" cy="369332"/>
          </a:xfrm>
          <a:prstGeom prst="rect">
            <a:avLst/>
          </a:prstGeom>
          <a:noFill/>
        </p:spPr>
        <p:txBody>
          <a:bodyPr wrap="non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YOLOv8 Result</a:t>
            </a:r>
          </a:p>
        </p:txBody>
      </p:sp>
    </p:spTree>
    <p:extLst>
      <p:ext uri="{BB962C8B-B14F-4D97-AF65-F5344CB8AC3E}">
        <p14:creationId xmlns:p14="http://schemas.microsoft.com/office/powerpoint/2010/main" val="2792423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6BA3DA78-3208-71AA-9A0D-CEF619EA863A}"/>
              </a:ext>
            </a:extLst>
          </p:cNvPr>
          <p:cNvPicPr>
            <a:picLocks noChangeAspect="1"/>
          </p:cNvPicPr>
          <p:nvPr/>
        </p:nvPicPr>
        <p:blipFill>
          <a:blip r:embed="rId2"/>
          <a:stretch>
            <a:fillRect/>
          </a:stretch>
        </p:blipFill>
        <p:spPr>
          <a:xfrm>
            <a:off x="320041" y="521701"/>
            <a:ext cx="2825337" cy="2333259"/>
          </a:xfrm>
          <a:prstGeom prst="rect">
            <a:avLst/>
          </a:prstGeom>
        </p:spPr>
      </p:pic>
      <p:pic>
        <p:nvPicPr>
          <p:cNvPr id="3" name="Picture 2">
            <a:extLst>
              <a:ext uri="{FF2B5EF4-FFF2-40B4-BE49-F238E27FC236}">
                <a16:creationId xmlns:a16="http://schemas.microsoft.com/office/drawing/2014/main" id="{EF26C9D3-C83A-3E0A-9DE5-5B0007E441B9}"/>
              </a:ext>
            </a:extLst>
          </p:cNvPr>
          <p:cNvPicPr>
            <a:picLocks noChangeAspect="1"/>
          </p:cNvPicPr>
          <p:nvPr/>
        </p:nvPicPr>
        <p:blipFill>
          <a:blip r:embed="rId3"/>
          <a:stretch>
            <a:fillRect/>
          </a:stretch>
        </p:blipFill>
        <p:spPr>
          <a:xfrm>
            <a:off x="3270663" y="496840"/>
            <a:ext cx="2825337" cy="2333259"/>
          </a:xfrm>
          <a:prstGeom prst="rect">
            <a:avLst/>
          </a:prstGeom>
        </p:spPr>
      </p:pic>
      <p:pic>
        <p:nvPicPr>
          <p:cNvPr id="4" name="Content Placeholder 7">
            <a:extLst>
              <a:ext uri="{FF2B5EF4-FFF2-40B4-BE49-F238E27FC236}">
                <a16:creationId xmlns:a16="http://schemas.microsoft.com/office/drawing/2014/main" id="{F2EEC3AC-FFDD-E99E-3BDC-3BF3C7F28DD0}"/>
              </a:ext>
            </a:extLst>
          </p:cNvPr>
          <p:cNvPicPr>
            <a:picLocks noChangeAspect="1"/>
          </p:cNvPicPr>
          <p:nvPr/>
        </p:nvPicPr>
        <p:blipFill>
          <a:blip r:embed="rId4"/>
          <a:stretch>
            <a:fillRect/>
          </a:stretch>
        </p:blipFill>
        <p:spPr>
          <a:xfrm>
            <a:off x="320041" y="4003041"/>
            <a:ext cx="3105218" cy="2131520"/>
          </a:xfrm>
          <a:prstGeom prst="rect">
            <a:avLst/>
          </a:prstGeom>
        </p:spPr>
      </p:pic>
      <p:pic>
        <p:nvPicPr>
          <p:cNvPr id="6" name="Picture 5">
            <a:extLst>
              <a:ext uri="{FF2B5EF4-FFF2-40B4-BE49-F238E27FC236}">
                <a16:creationId xmlns:a16="http://schemas.microsoft.com/office/drawing/2014/main" id="{D2DAA066-D687-411D-5553-4A4DFE991CFE}"/>
              </a:ext>
            </a:extLst>
          </p:cNvPr>
          <p:cNvPicPr>
            <a:picLocks noChangeAspect="1"/>
          </p:cNvPicPr>
          <p:nvPr/>
        </p:nvPicPr>
        <p:blipFill>
          <a:blip r:embed="rId5"/>
          <a:stretch>
            <a:fillRect/>
          </a:stretch>
        </p:blipFill>
        <p:spPr>
          <a:xfrm>
            <a:off x="6586009" y="496840"/>
            <a:ext cx="5129253" cy="2707854"/>
          </a:xfrm>
          <a:prstGeom prst="rect">
            <a:avLst/>
          </a:prstGeom>
        </p:spPr>
      </p:pic>
      <p:pic>
        <p:nvPicPr>
          <p:cNvPr id="7" name="Picture 6">
            <a:extLst>
              <a:ext uri="{FF2B5EF4-FFF2-40B4-BE49-F238E27FC236}">
                <a16:creationId xmlns:a16="http://schemas.microsoft.com/office/drawing/2014/main" id="{62D7AAE8-64FB-4D72-83E8-A16A6D3D7AEF}"/>
              </a:ext>
            </a:extLst>
          </p:cNvPr>
          <p:cNvPicPr>
            <a:picLocks noChangeAspect="1"/>
          </p:cNvPicPr>
          <p:nvPr/>
        </p:nvPicPr>
        <p:blipFill>
          <a:blip r:embed="rId6"/>
          <a:stretch>
            <a:fillRect/>
          </a:stretch>
        </p:blipFill>
        <p:spPr>
          <a:xfrm>
            <a:off x="3642303" y="4027901"/>
            <a:ext cx="3105218" cy="2106660"/>
          </a:xfrm>
          <a:prstGeom prst="rect">
            <a:avLst/>
          </a:prstGeom>
        </p:spPr>
      </p:pic>
      <p:pic>
        <p:nvPicPr>
          <p:cNvPr id="8" name="Content Placeholder 19">
            <a:extLst>
              <a:ext uri="{FF2B5EF4-FFF2-40B4-BE49-F238E27FC236}">
                <a16:creationId xmlns:a16="http://schemas.microsoft.com/office/drawing/2014/main" id="{343F75D1-13F2-0799-14F2-12C53E37387E}"/>
              </a:ext>
            </a:extLst>
          </p:cNvPr>
          <p:cNvPicPr>
            <a:picLocks noChangeAspect="1"/>
          </p:cNvPicPr>
          <p:nvPr/>
        </p:nvPicPr>
        <p:blipFill>
          <a:blip r:embed="rId7"/>
          <a:stretch>
            <a:fillRect/>
          </a:stretch>
        </p:blipFill>
        <p:spPr>
          <a:xfrm>
            <a:off x="6679930" y="3513221"/>
            <a:ext cx="5129253" cy="2902567"/>
          </a:xfrm>
          <a:prstGeom prst="rect">
            <a:avLst/>
          </a:prstGeom>
        </p:spPr>
      </p:pic>
      <p:sp>
        <p:nvSpPr>
          <p:cNvPr id="9" name="TextBox 8">
            <a:extLst>
              <a:ext uri="{FF2B5EF4-FFF2-40B4-BE49-F238E27FC236}">
                <a16:creationId xmlns:a16="http://schemas.microsoft.com/office/drawing/2014/main" id="{C2B8B21A-B537-AB2C-D5D6-F3A27310D396}"/>
              </a:ext>
            </a:extLst>
          </p:cNvPr>
          <p:cNvSpPr txBox="1"/>
          <p:nvPr/>
        </p:nvSpPr>
        <p:spPr>
          <a:xfrm>
            <a:off x="341690" y="3328555"/>
            <a:ext cx="4221027" cy="369332"/>
          </a:xfrm>
          <a:prstGeom prst="rect">
            <a:avLst/>
          </a:prstGeom>
          <a:noFill/>
        </p:spPr>
        <p:txBody>
          <a:bodyPr wrap="non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Densenet121 + EfficientnetB0 Results </a:t>
            </a:r>
          </a:p>
        </p:txBody>
      </p:sp>
      <p:sp>
        <p:nvSpPr>
          <p:cNvPr id="10" name="TextBox 9">
            <a:extLst>
              <a:ext uri="{FF2B5EF4-FFF2-40B4-BE49-F238E27FC236}">
                <a16:creationId xmlns:a16="http://schemas.microsoft.com/office/drawing/2014/main" id="{F0265698-63FC-1CC6-DCE4-AF3E8497D057}"/>
              </a:ext>
            </a:extLst>
          </p:cNvPr>
          <p:cNvSpPr txBox="1"/>
          <p:nvPr/>
        </p:nvSpPr>
        <p:spPr>
          <a:xfrm>
            <a:off x="302348" y="127508"/>
            <a:ext cx="2146742" cy="369332"/>
          </a:xfrm>
          <a:prstGeom prst="rect">
            <a:avLst/>
          </a:prstGeom>
          <a:noFill/>
        </p:spPr>
        <p:txBody>
          <a:bodyPr wrap="non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Resnet50 Results</a:t>
            </a:r>
          </a:p>
        </p:txBody>
      </p:sp>
      <p:sp>
        <p:nvSpPr>
          <p:cNvPr id="11" name="TextBox 10">
            <a:extLst>
              <a:ext uri="{FF2B5EF4-FFF2-40B4-BE49-F238E27FC236}">
                <a16:creationId xmlns:a16="http://schemas.microsoft.com/office/drawing/2014/main" id="{3A40AA1C-7CA9-7E3C-AA28-5BBC7C0FDC69}"/>
              </a:ext>
            </a:extLst>
          </p:cNvPr>
          <p:cNvSpPr txBox="1"/>
          <p:nvPr/>
        </p:nvSpPr>
        <p:spPr>
          <a:xfrm>
            <a:off x="6586009" y="127508"/>
            <a:ext cx="5095626" cy="369332"/>
          </a:xfrm>
          <a:prstGeom prst="rect">
            <a:avLst/>
          </a:prstGeom>
          <a:noFill/>
        </p:spPr>
        <p:txBody>
          <a:bodyPr wrap="non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Resnet50 + </a:t>
            </a:r>
            <a:r>
              <a:rPr lang="en-IN" b="1" dirty="0" err="1">
                <a:latin typeface="Times New Roman" panose="02020603050405020304" pitchFamily="18" charset="0"/>
                <a:cs typeface="Times New Roman" panose="02020603050405020304" pitchFamily="18" charset="0"/>
              </a:rPr>
              <a:t>ViT</a:t>
            </a:r>
            <a:r>
              <a:rPr lang="en-IN" b="1" dirty="0">
                <a:latin typeface="Times New Roman" panose="02020603050405020304" pitchFamily="18" charset="0"/>
                <a:cs typeface="Times New Roman" panose="02020603050405020304" pitchFamily="18" charset="0"/>
              </a:rPr>
              <a:t> ( Vision Transformer ) Results:</a:t>
            </a:r>
          </a:p>
        </p:txBody>
      </p:sp>
    </p:spTree>
    <p:extLst>
      <p:ext uri="{BB962C8B-B14F-4D97-AF65-F5344CB8AC3E}">
        <p14:creationId xmlns:p14="http://schemas.microsoft.com/office/powerpoint/2010/main" val="3244561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AECE6-BB8C-2EF8-483F-26F1D6251E97}"/>
              </a:ext>
            </a:extLst>
          </p:cNvPr>
          <p:cNvSpPr txBox="1"/>
          <p:nvPr/>
        </p:nvSpPr>
        <p:spPr>
          <a:xfrm>
            <a:off x="3048000" y="-234117"/>
            <a:ext cx="6096000" cy="823752"/>
          </a:xfrm>
          <a:prstGeom prst="rect">
            <a:avLst/>
          </a:prstGeom>
          <a:noFill/>
        </p:spPr>
        <p:txBody>
          <a:bodyPr wrap="square">
            <a:spAutoFit/>
          </a:bodyPr>
          <a:lstStyle/>
          <a:p>
            <a:pPr algn="ctr">
              <a:lnSpc>
                <a:spcPct val="150000"/>
              </a:lnSpc>
            </a:pPr>
            <a:r>
              <a:rPr lang="en-US" sz="3600" dirty="0">
                <a:latin typeface="Times New Roman" panose="02020603050405020304" pitchFamily="18" charset="0"/>
                <a:cs typeface="Times New Roman" panose="02020603050405020304" pitchFamily="18" charset="0"/>
              </a:rPr>
              <a:t>Result analysis</a:t>
            </a:r>
          </a:p>
        </p:txBody>
      </p:sp>
      <p:pic>
        <p:nvPicPr>
          <p:cNvPr id="8" name="Google Shape;204;p17">
            <a:extLst>
              <a:ext uri="{FF2B5EF4-FFF2-40B4-BE49-F238E27FC236}">
                <a16:creationId xmlns:a16="http://schemas.microsoft.com/office/drawing/2014/main" id="{9C27E328-6CF5-48C1-AA81-E85FEC7D5DA0}"/>
              </a:ext>
            </a:extLst>
          </p:cNvPr>
          <p:cNvPicPr preferRelativeResize="0"/>
          <p:nvPr/>
        </p:nvPicPr>
        <p:blipFill rotWithShape="1">
          <a:blip r:embed="rId2">
            <a:alphaModFix/>
          </a:blip>
          <a:srcRect l="2468" t="52482" r="78483" b="2414"/>
          <a:stretch/>
        </p:blipFill>
        <p:spPr>
          <a:xfrm>
            <a:off x="2690482" y="704769"/>
            <a:ext cx="3096882" cy="2234976"/>
          </a:xfrm>
          <a:prstGeom prst="rect">
            <a:avLst/>
          </a:prstGeom>
          <a:noFill/>
          <a:ln>
            <a:noFill/>
          </a:ln>
        </p:spPr>
      </p:pic>
      <p:pic>
        <p:nvPicPr>
          <p:cNvPr id="13" name="Google Shape;203;p17">
            <a:extLst>
              <a:ext uri="{FF2B5EF4-FFF2-40B4-BE49-F238E27FC236}">
                <a16:creationId xmlns:a16="http://schemas.microsoft.com/office/drawing/2014/main" id="{17A12D9D-C289-807E-2067-625218E1841D}"/>
              </a:ext>
            </a:extLst>
          </p:cNvPr>
          <p:cNvPicPr preferRelativeResize="0"/>
          <p:nvPr/>
        </p:nvPicPr>
        <p:blipFill rotWithShape="1">
          <a:blip r:embed="rId2">
            <a:alphaModFix/>
          </a:blip>
          <a:srcRect l="1424" t="6772" r="77215" b="45709"/>
          <a:stretch/>
        </p:blipFill>
        <p:spPr>
          <a:xfrm>
            <a:off x="149799" y="791643"/>
            <a:ext cx="3096882" cy="2234976"/>
          </a:xfrm>
          <a:prstGeom prst="rect">
            <a:avLst/>
          </a:prstGeom>
          <a:noFill/>
          <a:ln>
            <a:noFill/>
          </a:ln>
        </p:spPr>
      </p:pic>
      <p:pic>
        <p:nvPicPr>
          <p:cNvPr id="14" name="Google Shape;215;p18">
            <a:extLst>
              <a:ext uri="{FF2B5EF4-FFF2-40B4-BE49-F238E27FC236}">
                <a16:creationId xmlns:a16="http://schemas.microsoft.com/office/drawing/2014/main" id="{84D3A779-D745-169C-C32D-BCE9FF066181}"/>
              </a:ext>
            </a:extLst>
          </p:cNvPr>
          <p:cNvPicPr preferRelativeResize="0"/>
          <p:nvPr/>
        </p:nvPicPr>
        <p:blipFill rotWithShape="1">
          <a:blip r:embed="rId2">
            <a:alphaModFix/>
          </a:blip>
          <a:srcRect l="60150" t="52427" b="2469"/>
          <a:stretch/>
        </p:blipFill>
        <p:spPr>
          <a:xfrm>
            <a:off x="6404637" y="704769"/>
            <a:ext cx="4415763" cy="2234976"/>
          </a:xfrm>
          <a:prstGeom prst="rect">
            <a:avLst/>
          </a:prstGeom>
          <a:noFill/>
          <a:ln>
            <a:noFill/>
          </a:ln>
        </p:spPr>
      </p:pic>
      <p:pic>
        <p:nvPicPr>
          <p:cNvPr id="15" name="Google Shape;227;p19">
            <a:extLst>
              <a:ext uri="{FF2B5EF4-FFF2-40B4-BE49-F238E27FC236}">
                <a16:creationId xmlns:a16="http://schemas.microsoft.com/office/drawing/2014/main" id="{00FF1BA5-9BD9-E09D-61DE-D913559CA8C8}"/>
              </a:ext>
            </a:extLst>
          </p:cNvPr>
          <p:cNvPicPr preferRelativeResize="0"/>
          <p:nvPr/>
        </p:nvPicPr>
        <p:blipFill rotWithShape="1">
          <a:blip r:embed="rId3">
            <a:alphaModFix/>
          </a:blip>
          <a:srcRect/>
          <a:stretch/>
        </p:blipFill>
        <p:spPr>
          <a:xfrm>
            <a:off x="641335" y="3558102"/>
            <a:ext cx="4669764" cy="3012441"/>
          </a:xfrm>
          <a:prstGeom prst="rect">
            <a:avLst/>
          </a:prstGeom>
          <a:noFill/>
          <a:ln>
            <a:noFill/>
          </a:ln>
        </p:spPr>
      </p:pic>
      <p:pic>
        <p:nvPicPr>
          <p:cNvPr id="16" name="Google Shape;236;p20">
            <a:extLst>
              <a:ext uri="{FF2B5EF4-FFF2-40B4-BE49-F238E27FC236}">
                <a16:creationId xmlns:a16="http://schemas.microsoft.com/office/drawing/2014/main" id="{853BEC7A-49C9-64E5-2B01-8560C243DEE2}"/>
              </a:ext>
            </a:extLst>
          </p:cNvPr>
          <p:cNvPicPr preferRelativeResize="0"/>
          <p:nvPr/>
        </p:nvPicPr>
        <p:blipFill rotWithShape="1">
          <a:blip r:embed="rId4">
            <a:alphaModFix/>
          </a:blip>
          <a:srcRect/>
          <a:stretch/>
        </p:blipFill>
        <p:spPr>
          <a:xfrm>
            <a:off x="6404635" y="3256758"/>
            <a:ext cx="4415763" cy="3346916"/>
          </a:xfrm>
          <a:prstGeom prst="rect">
            <a:avLst/>
          </a:prstGeom>
          <a:noFill/>
          <a:ln>
            <a:noFill/>
          </a:ln>
        </p:spPr>
      </p:pic>
      <p:sp>
        <p:nvSpPr>
          <p:cNvPr id="17" name="TextBox 16">
            <a:extLst>
              <a:ext uri="{FF2B5EF4-FFF2-40B4-BE49-F238E27FC236}">
                <a16:creationId xmlns:a16="http://schemas.microsoft.com/office/drawing/2014/main" id="{561FD4DC-15C6-D36A-B56A-440994A7F9FD}"/>
              </a:ext>
            </a:extLst>
          </p:cNvPr>
          <p:cNvSpPr txBox="1"/>
          <p:nvPr/>
        </p:nvSpPr>
        <p:spPr>
          <a:xfrm>
            <a:off x="1125759" y="2959604"/>
            <a:ext cx="3844481"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Training and Validation Loss Graph</a:t>
            </a:r>
            <a:endParaRPr lang="en-IN" sz="14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B379564-EF98-8F48-77A8-0A2EEF4C473D}"/>
              </a:ext>
            </a:extLst>
          </p:cNvPr>
          <p:cNvSpPr txBox="1"/>
          <p:nvPr/>
        </p:nvSpPr>
        <p:spPr>
          <a:xfrm>
            <a:off x="6690277" y="2959603"/>
            <a:ext cx="3844481"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Training and Validation Accuracy Graph</a:t>
            </a:r>
            <a:endParaRPr lang="en-IN" sz="14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A6B0D66E-E660-1F0B-9D42-4492D1E5599F}"/>
              </a:ext>
            </a:extLst>
          </p:cNvPr>
          <p:cNvSpPr txBox="1"/>
          <p:nvPr/>
        </p:nvSpPr>
        <p:spPr>
          <a:xfrm>
            <a:off x="880103" y="6570543"/>
            <a:ext cx="3844481"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Confusion Matrix</a:t>
            </a:r>
            <a:endParaRPr lang="en-IN" sz="14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C116755-AB80-D652-D14B-BEFDA5DB1B08}"/>
              </a:ext>
            </a:extLst>
          </p:cNvPr>
          <p:cNvSpPr txBox="1"/>
          <p:nvPr/>
        </p:nvSpPr>
        <p:spPr>
          <a:xfrm>
            <a:off x="6158979" y="6542252"/>
            <a:ext cx="3844481"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F1- Confidence Curve</a:t>
            </a:r>
            <a:endParaRPr lang="en-IN" sz="14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79977C02-DC5A-2DE0-6F63-E25E3A612B5B}"/>
              </a:ext>
            </a:extLst>
          </p:cNvPr>
          <p:cNvSpPr txBox="1"/>
          <p:nvPr/>
        </p:nvSpPr>
        <p:spPr>
          <a:xfrm>
            <a:off x="289542" y="422311"/>
            <a:ext cx="2069797" cy="369332"/>
          </a:xfrm>
          <a:prstGeom prst="rect">
            <a:avLst/>
          </a:prstGeom>
          <a:noFill/>
        </p:spPr>
        <p:txBody>
          <a:bodyPr wrap="non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YOLOv8 Result</a:t>
            </a:r>
          </a:p>
        </p:txBody>
      </p:sp>
    </p:spTree>
    <p:extLst>
      <p:ext uri="{BB962C8B-B14F-4D97-AF65-F5344CB8AC3E}">
        <p14:creationId xmlns:p14="http://schemas.microsoft.com/office/powerpoint/2010/main" val="1913631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7AB5C3-D63B-13FF-6440-3E98EEFBEC85}"/>
              </a:ext>
            </a:extLst>
          </p:cNvPr>
          <p:cNvPicPr>
            <a:picLocks noChangeAspect="1"/>
          </p:cNvPicPr>
          <p:nvPr/>
        </p:nvPicPr>
        <p:blipFill>
          <a:blip r:embed="rId2"/>
          <a:stretch>
            <a:fillRect/>
          </a:stretch>
        </p:blipFill>
        <p:spPr>
          <a:xfrm>
            <a:off x="3820344" y="586446"/>
            <a:ext cx="3466481" cy="2160315"/>
          </a:xfrm>
          <a:prstGeom prst="rect">
            <a:avLst/>
          </a:prstGeom>
        </p:spPr>
      </p:pic>
      <p:pic>
        <p:nvPicPr>
          <p:cNvPr id="6" name="Picture 5">
            <a:extLst>
              <a:ext uri="{FF2B5EF4-FFF2-40B4-BE49-F238E27FC236}">
                <a16:creationId xmlns:a16="http://schemas.microsoft.com/office/drawing/2014/main" id="{857960AE-B5B8-6D26-5F78-1CE313E622B2}"/>
              </a:ext>
            </a:extLst>
          </p:cNvPr>
          <p:cNvPicPr>
            <a:picLocks noChangeAspect="1"/>
          </p:cNvPicPr>
          <p:nvPr/>
        </p:nvPicPr>
        <p:blipFill>
          <a:blip r:embed="rId3"/>
          <a:stretch>
            <a:fillRect/>
          </a:stretch>
        </p:blipFill>
        <p:spPr>
          <a:xfrm>
            <a:off x="174472" y="586446"/>
            <a:ext cx="3510010" cy="2160315"/>
          </a:xfrm>
          <a:prstGeom prst="rect">
            <a:avLst/>
          </a:prstGeom>
        </p:spPr>
      </p:pic>
      <p:pic>
        <p:nvPicPr>
          <p:cNvPr id="7" name="Content Placeholder 4">
            <a:extLst>
              <a:ext uri="{FF2B5EF4-FFF2-40B4-BE49-F238E27FC236}">
                <a16:creationId xmlns:a16="http://schemas.microsoft.com/office/drawing/2014/main" id="{90A448D9-C32E-0DF7-CD7F-7F55A6F484CD}"/>
              </a:ext>
            </a:extLst>
          </p:cNvPr>
          <p:cNvPicPr>
            <a:picLocks noChangeAspect="1"/>
          </p:cNvPicPr>
          <p:nvPr/>
        </p:nvPicPr>
        <p:blipFill>
          <a:blip r:embed="rId4"/>
          <a:stretch>
            <a:fillRect/>
          </a:stretch>
        </p:blipFill>
        <p:spPr>
          <a:xfrm>
            <a:off x="7483622" y="395362"/>
            <a:ext cx="2621281" cy="2351399"/>
          </a:xfrm>
          <a:prstGeom prst="rect">
            <a:avLst/>
          </a:prstGeom>
        </p:spPr>
      </p:pic>
      <p:sp>
        <p:nvSpPr>
          <p:cNvPr id="13" name="TextBox 12">
            <a:extLst>
              <a:ext uri="{FF2B5EF4-FFF2-40B4-BE49-F238E27FC236}">
                <a16:creationId xmlns:a16="http://schemas.microsoft.com/office/drawing/2014/main" id="{B99BFFAD-2E8C-83AB-DE39-6A90BA214BCA}"/>
              </a:ext>
            </a:extLst>
          </p:cNvPr>
          <p:cNvSpPr txBox="1"/>
          <p:nvPr/>
        </p:nvSpPr>
        <p:spPr>
          <a:xfrm>
            <a:off x="174472" y="5686849"/>
            <a:ext cx="2587247"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Training and Validation Accuracy Graph</a:t>
            </a:r>
            <a:endParaRPr lang="en-IN" sz="1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EBCEE84-5C9C-9A20-77D7-FCC7AAD88641}"/>
              </a:ext>
            </a:extLst>
          </p:cNvPr>
          <p:cNvSpPr txBox="1"/>
          <p:nvPr/>
        </p:nvSpPr>
        <p:spPr>
          <a:xfrm>
            <a:off x="3177309" y="5748335"/>
            <a:ext cx="2112628"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Training and Validation </a:t>
            </a:r>
          </a:p>
          <a:p>
            <a:pPr algn="ctr"/>
            <a:r>
              <a:rPr lang="en-US" sz="1400" dirty="0">
                <a:latin typeface="Times New Roman" panose="02020603050405020304" pitchFamily="18" charset="0"/>
                <a:cs typeface="Times New Roman" panose="02020603050405020304" pitchFamily="18" charset="0"/>
              </a:rPr>
              <a:t>Loss Graph</a:t>
            </a:r>
            <a:endParaRPr lang="en-IN" sz="1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0EB248B-1D32-8040-53FF-9773B3F3D700}"/>
              </a:ext>
            </a:extLst>
          </p:cNvPr>
          <p:cNvSpPr txBox="1"/>
          <p:nvPr/>
        </p:nvSpPr>
        <p:spPr>
          <a:xfrm>
            <a:off x="5998448" y="5793048"/>
            <a:ext cx="2108557"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Confusion Matrix</a:t>
            </a:r>
            <a:endParaRPr lang="en-IN" sz="14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758F04F0-6474-7D59-E2DE-33EA8A67AEAB}"/>
              </a:ext>
            </a:extLst>
          </p:cNvPr>
          <p:cNvPicPr>
            <a:picLocks noChangeAspect="1"/>
          </p:cNvPicPr>
          <p:nvPr/>
        </p:nvPicPr>
        <p:blipFill>
          <a:blip r:embed="rId5"/>
          <a:stretch>
            <a:fillRect/>
          </a:stretch>
        </p:blipFill>
        <p:spPr>
          <a:xfrm>
            <a:off x="129309" y="3541766"/>
            <a:ext cx="2587248" cy="2142543"/>
          </a:xfrm>
          <a:prstGeom prst="rect">
            <a:avLst/>
          </a:prstGeom>
        </p:spPr>
      </p:pic>
      <p:pic>
        <p:nvPicPr>
          <p:cNvPr id="17" name="Picture 16">
            <a:extLst>
              <a:ext uri="{FF2B5EF4-FFF2-40B4-BE49-F238E27FC236}">
                <a16:creationId xmlns:a16="http://schemas.microsoft.com/office/drawing/2014/main" id="{BE8896E7-01AB-D11A-3FEA-25F44ABB8C6D}"/>
              </a:ext>
            </a:extLst>
          </p:cNvPr>
          <p:cNvPicPr>
            <a:picLocks noChangeAspect="1"/>
          </p:cNvPicPr>
          <p:nvPr/>
        </p:nvPicPr>
        <p:blipFill>
          <a:blip r:embed="rId6"/>
          <a:stretch>
            <a:fillRect/>
          </a:stretch>
        </p:blipFill>
        <p:spPr>
          <a:xfrm>
            <a:off x="2961321" y="3544306"/>
            <a:ext cx="2679508" cy="2142543"/>
          </a:xfrm>
          <a:prstGeom prst="rect">
            <a:avLst/>
          </a:prstGeom>
        </p:spPr>
      </p:pic>
      <p:pic>
        <p:nvPicPr>
          <p:cNvPr id="18" name="Picture 17">
            <a:extLst>
              <a:ext uri="{FF2B5EF4-FFF2-40B4-BE49-F238E27FC236}">
                <a16:creationId xmlns:a16="http://schemas.microsoft.com/office/drawing/2014/main" id="{A6F970C8-D0C6-035E-360A-CDE22441F386}"/>
              </a:ext>
            </a:extLst>
          </p:cNvPr>
          <p:cNvPicPr>
            <a:picLocks noChangeAspect="1"/>
          </p:cNvPicPr>
          <p:nvPr/>
        </p:nvPicPr>
        <p:blipFill>
          <a:blip r:embed="rId7"/>
          <a:stretch>
            <a:fillRect/>
          </a:stretch>
        </p:blipFill>
        <p:spPr>
          <a:xfrm>
            <a:off x="5885593" y="3535680"/>
            <a:ext cx="2485928" cy="2142543"/>
          </a:xfrm>
          <a:prstGeom prst="rect">
            <a:avLst/>
          </a:prstGeom>
        </p:spPr>
      </p:pic>
      <p:sp>
        <p:nvSpPr>
          <p:cNvPr id="19" name="TextBox 18">
            <a:extLst>
              <a:ext uri="{FF2B5EF4-FFF2-40B4-BE49-F238E27FC236}">
                <a16:creationId xmlns:a16="http://schemas.microsoft.com/office/drawing/2014/main" id="{C151F9F7-91CF-6E54-0C3D-695DC24D4096}"/>
              </a:ext>
            </a:extLst>
          </p:cNvPr>
          <p:cNvSpPr txBox="1"/>
          <p:nvPr/>
        </p:nvSpPr>
        <p:spPr>
          <a:xfrm>
            <a:off x="-24137" y="2711043"/>
            <a:ext cx="3844481"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Training and Validation Accuracy Graph</a:t>
            </a:r>
            <a:endParaRPr lang="en-IN" sz="14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B594637-AD7B-8AB7-A9F4-8A8481B1053F}"/>
              </a:ext>
            </a:extLst>
          </p:cNvPr>
          <p:cNvSpPr txBox="1"/>
          <p:nvPr/>
        </p:nvSpPr>
        <p:spPr>
          <a:xfrm>
            <a:off x="2716557" y="2730859"/>
            <a:ext cx="5519651"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Training and Validation Loss Graph</a:t>
            </a:r>
            <a:endParaRPr lang="en-IN" sz="14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B6212C8-EAE5-83C8-BC55-93C6F900C829}"/>
              </a:ext>
            </a:extLst>
          </p:cNvPr>
          <p:cNvSpPr txBox="1"/>
          <p:nvPr/>
        </p:nvSpPr>
        <p:spPr>
          <a:xfrm>
            <a:off x="7168522" y="2728902"/>
            <a:ext cx="3133179"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Confusion Matrix</a:t>
            </a:r>
            <a:endParaRPr lang="en-IN" sz="1400" dirty="0">
              <a:latin typeface="Times New Roman" panose="02020603050405020304" pitchFamily="18" charset="0"/>
              <a:cs typeface="Times New Roman" panose="02020603050405020304" pitchFamily="18" charset="0"/>
            </a:endParaRPr>
          </a:p>
        </p:txBody>
      </p:sp>
      <p:sp>
        <p:nvSpPr>
          <p:cNvPr id="22" name="Content Placeholder 2">
            <a:extLst>
              <a:ext uri="{FF2B5EF4-FFF2-40B4-BE49-F238E27FC236}">
                <a16:creationId xmlns:a16="http://schemas.microsoft.com/office/drawing/2014/main" id="{2FFC4E51-B3BF-929E-7770-E07EFC0BD4CC}"/>
              </a:ext>
            </a:extLst>
          </p:cNvPr>
          <p:cNvSpPr txBox="1">
            <a:spLocks/>
          </p:cNvSpPr>
          <p:nvPr/>
        </p:nvSpPr>
        <p:spPr>
          <a:xfrm>
            <a:off x="206682" y="3144520"/>
            <a:ext cx="6333375" cy="4622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800" b="1" dirty="0">
                <a:latin typeface="Times New Roman" panose="02020603050405020304" pitchFamily="18" charset="0"/>
                <a:cs typeface="Times New Roman" panose="02020603050405020304" pitchFamily="18" charset="0"/>
              </a:rPr>
              <a:t>DenseNet121 + EfficientNet-B0 model </a:t>
            </a:r>
            <a:r>
              <a:rPr lang="en-US" sz="1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IN" sz="18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1800" b="1" dirty="0">
              <a:latin typeface="Times New Roman" panose="02020603050405020304" pitchFamily="18" charset="0"/>
              <a:cs typeface="Times New Roman" panose="02020603050405020304" pitchFamily="18" charset="0"/>
            </a:endParaRPr>
          </a:p>
        </p:txBody>
      </p:sp>
      <p:sp>
        <p:nvSpPr>
          <p:cNvPr id="23" name="Content Placeholder 2">
            <a:extLst>
              <a:ext uri="{FF2B5EF4-FFF2-40B4-BE49-F238E27FC236}">
                <a16:creationId xmlns:a16="http://schemas.microsoft.com/office/drawing/2014/main" id="{3D565E9D-3650-5154-21B5-DDA9516613FF}"/>
              </a:ext>
            </a:extLst>
          </p:cNvPr>
          <p:cNvSpPr txBox="1">
            <a:spLocks/>
          </p:cNvSpPr>
          <p:nvPr/>
        </p:nvSpPr>
        <p:spPr>
          <a:xfrm>
            <a:off x="206682" y="292456"/>
            <a:ext cx="6333375" cy="4622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800" b="1" dirty="0">
                <a:latin typeface="Times New Roman" panose="02020603050405020304" pitchFamily="18" charset="0"/>
                <a:cs typeface="Times New Roman" panose="02020603050405020304" pitchFamily="18" charset="0"/>
              </a:rPr>
              <a:t>Resnet-50 model </a:t>
            </a:r>
            <a:r>
              <a:rPr lang="en-US" sz="1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IN" sz="18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734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9B02D8F-0B17-86C6-C512-33C476A9A4C5}"/>
              </a:ext>
            </a:extLst>
          </p:cNvPr>
          <p:cNvSpPr txBox="1"/>
          <p:nvPr/>
        </p:nvSpPr>
        <p:spPr>
          <a:xfrm>
            <a:off x="28157" y="3049446"/>
            <a:ext cx="2933164"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Training and Validation </a:t>
            </a:r>
          </a:p>
          <a:p>
            <a:pPr algn="ctr"/>
            <a:r>
              <a:rPr lang="en-US" sz="1400" dirty="0">
                <a:latin typeface="Times New Roman" panose="02020603050405020304" pitchFamily="18" charset="0"/>
                <a:cs typeface="Times New Roman" panose="02020603050405020304" pitchFamily="18" charset="0"/>
              </a:rPr>
              <a:t>Accuracy Graph</a:t>
            </a:r>
            <a:endParaRPr lang="en-IN" sz="1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2FFDB1-4C15-72CD-1643-C3ABA8EB0582}"/>
              </a:ext>
            </a:extLst>
          </p:cNvPr>
          <p:cNvSpPr txBox="1"/>
          <p:nvPr/>
        </p:nvSpPr>
        <p:spPr>
          <a:xfrm>
            <a:off x="3647638" y="3039602"/>
            <a:ext cx="1970303"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Training and Validation </a:t>
            </a:r>
          </a:p>
          <a:p>
            <a:pPr algn="ctr"/>
            <a:r>
              <a:rPr lang="en-US" sz="1400" dirty="0">
                <a:latin typeface="Times New Roman" panose="02020603050405020304" pitchFamily="18" charset="0"/>
                <a:cs typeface="Times New Roman" panose="02020603050405020304" pitchFamily="18" charset="0"/>
              </a:rPr>
              <a:t>Loss Graph</a:t>
            </a:r>
            <a:endParaRPr lang="en-IN" sz="1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F49E107-C826-E16D-0237-A73D58424987}"/>
              </a:ext>
            </a:extLst>
          </p:cNvPr>
          <p:cNvSpPr txBox="1"/>
          <p:nvPr/>
        </p:nvSpPr>
        <p:spPr>
          <a:xfrm>
            <a:off x="6225309" y="3169895"/>
            <a:ext cx="2362271"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Confusion Matrix</a:t>
            </a:r>
            <a:endParaRPr lang="en-IN" sz="1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9F5D242A-D6F6-5D5C-45B5-8F373408DE35}"/>
              </a:ext>
            </a:extLst>
          </p:cNvPr>
          <p:cNvPicPr>
            <a:picLocks noChangeAspect="1"/>
          </p:cNvPicPr>
          <p:nvPr/>
        </p:nvPicPr>
        <p:blipFill>
          <a:blip r:embed="rId2"/>
          <a:stretch>
            <a:fillRect/>
          </a:stretch>
        </p:blipFill>
        <p:spPr>
          <a:xfrm>
            <a:off x="2961321" y="676687"/>
            <a:ext cx="2949056" cy="2387330"/>
          </a:xfrm>
          <a:prstGeom prst="rect">
            <a:avLst/>
          </a:prstGeom>
        </p:spPr>
      </p:pic>
      <p:pic>
        <p:nvPicPr>
          <p:cNvPr id="13" name="Picture 12">
            <a:extLst>
              <a:ext uri="{FF2B5EF4-FFF2-40B4-BE49-F238E27FC236}">
                <a16:creationId xmlns:a16="http://schemas.microsoft.com/office/drawing/2014/main" id="{17F4D552-C0C5-7399-B8D0-C46A1341A873}"/>
              </a:ext>
            </a:extLst>
          </p:cNvPr>
          <p:cNvPicPr>
            <a:picLocks noChangeAspect="1"/>
          </p:cNvPicPr>
          <p:nvPr/>
        </p:nvPicPr>
        <p:blipFill>
          <a:blip r:embed="rId3"/>
          <a:stretch>
            <a:fillRect/>
          </a:stretch>
        </p:blipFill>
        <p:spPr>
          <a:xfrm>
            <a:off x="129309" y="691258"/>
            <a:ext cx="2933164" cy="2387331"/>
          </a:xfrm>
          <a:prstGeom prst="rect">
            <a:avLst/>
          </a:prstGeom>
        </p:spPr>
      </p:pic>
      <p:pic>
        <p:nvPicPr>
          <p:cNvPr id="14" name="Picture 13">
            <a:extLst>
              <a:ext uri="{FF2B5EF4-FFF2-40B4-BE49-F238E27FC236}">
                <a16:creationId xmlns:a16="http://schemas.microsoft.com/office/drawing/2014/main" id="{52A6C885-4530-D012-FE6D-D69381D4805A}"/>
              </a:ext>
            </a:extLst>
          </p:cNvPr>
          <p:cNvPicPr>
            <a:picLocks noChangeAspect="1"/>
          </p:cNvPicPr>
          <p:nvPr/>
        </p:nvPicPr>
        <p:blipFill>
          <a:blip r:embed="rId4"/>
          <a:stretch>
            <a:fillRect/>
          </a:stretch>
        </p:blipFill>
        <p:spPr>
          <a:xfrm>
            <a:off x="6096000" y="612775"/>
            <a:ext cx="2783840" cy="2574191"/>
          </a:xfrm>
          <a:prstGeom prst="rect">
            <a:avLst/>
          </a:prstGeom>
        </p:spPr>
      </p:pic>
      <p:sp>
        <p:nvSpPr>
          <p:cNvPr id="16" name="TextBox 15">
            <a:extLst>
              <a:ext uri="{FF2B5EF4-FFF2-40B4-BE49-F238E27FC236}">
                <a16:creationId xmlns:a16="http://schemas.microsoft.com/office/drawing/2014/main" id="{AEF00379-613A-35CC-2C40-7786D1280D24}"/>
              </a:ext>
            </a:extLst>
          </p:cNvPr>
          <p:cNvSpPr txBox="1"/>
          <p:nvPr/>
        </p:nvSpPr>
        <p:spPr>
          <a:xfrm>
            <a:off x="129309" y="270569"/>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ResNet-50 + </a:t>
            </a:r>
            <a:r>
              <a:rPr lang="en-US" sz="1800" b="1" dirty="0" err="1">
                <a:latin typeface="Times New Roman" panose="02020603050405020304" pitchFamily="18" charset="0"/>
                <a:cs typeface="Times New Roman" panose="02020603050405020304" pitchFamily="18" charset="0"/>
              </a:rPr>
              <a:t>ViT</a:t>
            </a:r>
            <a:r>
              <a:rPr lang="en-US" sz="1800" b="1" dirty="0">
                <a:latin typeface="Times New Roman" panose="02020603050405020304" pitchFamily="18" charset="0"/>
                <a:cs typeface="Times New Roman" panose="02020603050405020304" pitchFamily="18" charset="0"/>
              </a:rPr>
              <a:t> model </a:t>
            </a:r>
            <a:r>
              <a:rPr lang="en-IN" sz="1800" b="1" dirty="0">
                <a:latin typeface="Times New Roman" panose="02020603050405020304" pitchFamily="18" charset="0"/>
                <a:cs typeface="Times New Roman" panose="02020603050405020304" pitchFamily="18" charset="0"/>
              </a:rPr>
              <a:t>:</a:t>
            </a:r>
            <a:endParaRPr lang="en-IN" b="1" dirty="0"/>
          </a:p>
        </p:txBody>
      </p:sp>
      <p:graphicFrame>
        <p:nvGraphicFramePr>
          <p:cNvPr id="18" name="Google Shape;245;p21">
            <a:extLst>
              <a:ext uri="{FF2B5EF4-FFF2-40B4-BE49-F238E27FC236}">
                <a16:creationId xmlns:a16="http://schemas.microsoft.com/office/drawing/2014/main" id="{02DA8015-D6B3-2E88-11B7-72F4F517F1B1}"/>
              </a:ext>
            </a:extLst>
          </p:cNvPr>
          <p:cNvGraphicFramePr/>
          <p:nvPr>
            <p:extLst>
              <p:ext uri="{D42A27DB-BD31-4B8C-83A1-F6EECF244321}">
                <p14:modId xmlns:p14="http://schemas.microsoft.com/office/powerpoint/2010/main" val="695246423"/>
              </p:ext>
            </p:extLst>
          </p:nvPr>
        </p:nvGraphicFramePr>
        <p:xfrm>
          <a:off x="236663" y="4066743"/>
          <a:ext cx="10282820" cy="2103170"/>
        </p:xfrm>
        <a:graphic>
          <a:graphicData uri="http://schemas.openxmlformats.org/drawingml/2006/table">
            <a:tbl>
              <a:tblPr firstRow="1" bandRow="1">
                <a:tableStyleId>{00A15C55-8517-42AA-B614-E9B94910E393}</a:tableStyleId>
              </a:tblPr>
              <a:tblGrid>
                <a:gridCol w="3109860">
                  <a:extLst>
                    <a:ext uri="{9D8B030D-6E8A-4147-A177-3AD203B41FA5}">
                      <a16:colId xmlns:a16="http://schemas.microsoft.com/office/drawing/2014/main" val="20000"/>
                    </a:ext>
                  </a:extLst>
                </a:gridCol>
                <a:gridCol w="1381310">
                  <a:extLst>
                    <a:ext uri="{9D8B030D-6E8A-4147-A177-3AD203B41FA5}">
                      <a16:colId xmlns:a16="http://schemas.microsoft.com/office/drawing/2014/main" val="20001"/>
                    </a:ext>
                  </a:extLst>
                </a:gridCol>
                <a:gridCol w="1544320">
                  <a:extLst>
                    <a:ext uri="{9D8B030D-6E8A-4147-A177-3AD203B41FA5}">
                      <a16:colId xmlns:a16="http://schemas.microsoft.com/office/drawing/2014/main" val="20002"/>
                    </a:ext>
                  </a:extLst>
                </a:gridCol>
                <a:gridCol w="1442720">
                  <a:extLst>
                    <a:ext uri="{9D8B030D-6E8A-4147-A177-3AD203B41FA5}">
                      <a16:colId xmlns:a16="http://schemas.microsoft.com/office/drawing/2014/main" val="1646813474"/>
                    </a:ext>
                  </a:extLst>
                </a:gridCol>
                <a:gridCol w="2804610">
                  <a:extLst>
                    <a:ext uri="{9D8B030D-6E8A-4147-A177-3AD203B41FA5}">
                      <a16:colId xmlns:a16="http://schemas.microsoft.com/office/drawing/2014/main" val="4289215470"/>
                    </a:ext>
                  </a:extLst>
                </a:gridCol>
              </a:tblGrid>
              <a:tr h="417482">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Metrices</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Accuracy</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sym typeface="Times New Roman"/>
                        </a:rPr>
                        <a:t>Precision</a:t>
                      </a:r>
                      <a:endParaRPr lang="en-US"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Recall</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F1-Score</a:t>
                      </a:r>
                      <a:endParaRPr lang="en-US"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238564">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YOLOv8</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0.619</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0.451</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0.522</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238564">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Resnet-50</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90.83%</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0.91</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0.89</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0.90</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r h="238564">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Resnet50+ViT</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a:latin typeface="Times New Roman" panose="02020603050405020304" pitchFamily="18" charset="0"/>
                          <a:cs typeface="Times New Roman" panose="02020603050405020304" pitchFamily="18" charset="0"/>
                          <a:sym typeface="Times New Roman"/>
                        </a:rPr>
                        <a:t>97.03% </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0.95</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0.95</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0.95</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r h="238564">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Densenet121 + EfficientnetB0</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92.35%</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0.92</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0.92</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0.92</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4"/>
                  </a:ext>
                </a:extLst>
              </a:tr>
            </a:tbl>
          </a:graphicData>
        </a:graphic>
      </p:graphicFrame>
      <p:sp>
        <p:nvSpPr>
          <p:cNvPr id="19" name="TextBox 18">
            <a:extLst>
              <a:ext uri="{FF2B5EF4-FFF2-40B4-BE49-F238E27FC236}">
                <a16:creationId xmlns:a16="http://schemas.microsoft.com/office/drawing/2014/main" id="{284BE1EE-D31B-F75C-50A8-2E53D58A31C0}"/>
              </a:ext>
            </a:extLst>
          </p:cNvPr>
          <p:cNvSpPr txBox="1"/>
          <p:nvPr/>
        </p:nvSpPr>
        <p:spPr>
          <a:xfrm>
            <a:off x="169426" y="6215184"/>
            <a:ext cx="10417294"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YOLOv8 model achieved an mAP@50 of 0.535 and an mAP@50–95 of 0.372, indicating stable object detection performance across the waste categories.</a:t>
            </a:r>
            <a:endParaRPr lang="en-IN" sz="1800" b="0" i="0" u="none" strike="noStrike" baseline="0" dirty="0">
              <a:solidFill>
                <a:srgbClr val="000000"/>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1C29029F-3752-DD87-C9B3-D68FDD7C4EFC}"/>
              </a:ext>
            </a:extLst>
          </p:cNvPr>
          <p:cNvSpPr txBox="1"/>
          <p:nvPr/>
        </p:nvSpPr>
        <p:spPr>
          <a:xfrm>
            <a:off x="236663" y="3589034"/>
            <a:ext cx="6096000" cy="369332"/>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Performance Metrices</a:t>
            </a:r>
            <a:endParaRPr lang="en-IN" b="1" dirty="0"/>
          </a:p>
        </p:txBody>
      </p:sp>
    </p:spTree>
    <p:extLst>
      <p:ext uri="{BB962C8B-B14F-4D97-AF65-F5344CB8AC3E}">
        <p14:creationId xmlns:p14="http://schemas.microsoft.com/office/powerpoint/2010/main" val="3527029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0;p22">
            <a:extLst>
              <a:ext uri="{FF2B5EF4-FFF2-40B4-BE49-F238E27FC236}">
                <a16:creationId xmlns:a16="http://schemas.microsoft.com/office/drawing/2014/main" id="{7B276DBB-35FE-4DB4-B616-E9D4B55D1D6D}"/>
              </a:ext>
            </a:extLst>
          </p:cNvPr>
          <p:cNvSpPr txBox="1"/>
          <p:nvPr/>
        </p:nvSpPr>
        <p:spPr>
          <a:xfrm>
            <a:off x="0" y="172720"/>
            <a:ext cx="12192000" cy="797133"/>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0000"/>
              </a:buClr>
              <a:buSzPts val="3600"/>
              <a:buFont typeface="Times New Roman"/>
              <a:buNone/>
            </a:pPr>
            <a:r>
              <a:rPr lang="en-US" sz="3600" i="0" u="none" strike="noStrike" cap="none" dirty="0">
                <a:solidFill>
                  <a:srgbClr val="000000"/>
                </a:solidFill>
                <a:latin typeface="Times New Roman"/>
                <a:ea typeface="Times New Roman"/>
                <a:cs typeface="Times New Roman"/>
                <a:sym typeface="Times New Roman"/>
              </a:rPr>
              <a:t>Conclusion</a:t>
            </a:r>
            <a:endParaRPr sz="3600" i="0" u="none" strike="noStrike" cap="none" dirty="0">
              <a:solidFill>
                <a:schemeClr val="dk1"/>
              </a:solidFill>
              <a:latin typeface="Play"/>
              <a:ea typeface="Play"/>
              <a:cs typeface="Play"/>
              <a:sym typeface="Play"/>
            </a:endParaRPr>
          </a:p>
        </p:txBody>
      </p:sp>
      <p:sp>
        <p:nvSpPr>
          <p:cNvPr id="3" name="Google Shape;250;p22">
            <a:extLst>
              <a:ext uri="{FF2B5EF4-FFF2-40B4-BE49-F238E27FC236}">
                <a16:creationId xmlns:a16="http://schemas.microsoft.com/office/drawing/2014/main" id="{49026005-3EF9-8D11-5F74-8235A3A1A97D}"/>
              </a:ext>
            </a:extLst>
          </p:cNvPr>
          <p:cNvSpPr txBox="1"/>
          <p:nvPr/>
        </p:nvSpPr>
        <p:spPr>
          <a:xfrm>
            <a:off x="0" y="3524734"/>
            <a:ext cx="12192000" cy="797133"/>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0000"/>
              </a:buClr>
              <a:buSzPts val="3600"/>
              <a:buFont typeface="Times New Roman"/>
              <a:buNone/>
            </a:pPr>
            <a:r>
              <a:rPr lang="en-US" sz="3600" i="0" u="none" strike="noStrike" cap="none" dirty="0">
                <a:solidFill>
                  <a:srgbClr val="000000"/>
                </a:solidFill>
                <a:latin typeface="Times New Roman"/>
                <a:ea typeface="Times New Roman"/>
                <a:cs typeface="Times New Roman"/>
                <a:sym typeface="Times New Roman"/>
              </a:rPr>
              <a:t>Future Work</a:t>
            </a:r>
            <a:endParaRPr sz="3600" i="0" u="none" strike="noStrike" cap="none" dirty="0">
              <a:solidFill>
                <a:schemeClr val="dk1"/>
              </a:solidFill>
              <a:latin typeface="Play"/>
              <a:ea typeface="Play"/>
              <a:cs typeface="Play"/>
              <a:sym typeface="Play"/>
            </a:endParaRPr>
          </a:p>
        </p:txBody>
      </p:sp>
      <p:sp>
        <p:nvSpPr>
          <p:cNvPr id="6" name="Rectangle 1">
            <a:extLst>
              <a:ext uri="{FF2B5EF4-FFF2-40B4-BE49-F238E27FC236}">
                <a16:creationId xmlns:a16="http://schemas.microsoft.com/office/drawing/2014/main" id="{C05BED23-6991-79E0-1F06-F23AEA781EA9}"/>
              </a:ext>
            </a:extLst>
          </p:cNvPr>
          <p:cNvSpPr>
            <a:spLocks noChangeArrowheads="1"/>
          </p:cNvSpPr>
          <p:nvPr/>
        </p:nvSpPr>
        <p:spPr bwMode="auto">
          <a:xfrm>
            <a:off x="340360" y="843677"/>
            <a:ext cx="1151128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successfully developed an intelligent framework for waste classification, detection, and recycling guidance.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ResNet-50 + Rule-Based System achieved 90.83% classification accuracy, showing strong baseline performance for automated waste classification.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ResNet-50 +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hybrid model achieved 97.03% accuracy, demonstrating improved classification performance through combined local and global feature learning.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YOLOv8 + RAG framework achieved Precision = 0.619, Recall = 0.451, F1-score = 0.522, mAP@50 = 0.535, and mAP@50-95 = 0.372, showing stable multi-class waste detection performance.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integration of the RAG module enabled generation of material-specific recycling guidance, making the system more practical for sustainable waste management. </a:t>
            </a:r>
          </a:p>
        </p:txBody>
      </p:sp>
      <p:sp>
        <p:nvSpPr>
          <p:cNvPr id="7" name="Rectangle 2">
            <a:extLst>
              <a:ext uri="{FF2B5EF4-FFF2-40B4-BE49-F238E27FC236}">
                <a16:creationId xmlns:a16="http://schemas.microsoft.com/office/drawing/2014/main" id="{2CF9F22A-EAE8-3841-09C7-3B1109FB9095}"/>
              </a:ext>
            </a:extLst>
          </p:cNvPr>
          <p:cNvSpPr>
            <a:spLocks noChangeArrowheads="1"/>
          </p:cNvSpPr>
          <p:nvPr/>
        </p:nvSpPr>
        <p:spPr bwMode="auto">
          <a:xfrm>
            <a:off x="340360" y="4417601"/>
            <a:ext cx="1151128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detection and classification performance using larger and more diverse waste datasets.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Extend the system for real-time waste monitoring using live image or video streams.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the recycling knowledge base with more detailed and region-specific disposal guidelines.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the framework in smart bins, recycling plants, and municipal waste-management applications.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the interface and system scalability for practical large-scale usage. </a:t>
            </a:r>
          </a:p>
        </p:txBody>
      </p:sp>
    </p:spTree>
    <p:extLst>
      <p:ext uri="{BB962C8B-B14F-4D97-AF65-F5344CB8AC3E}">
        <p14:creationId xmlns:p14="http://schemas.microsoft.com/office/powerpoint/2010/main" val="1563413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C50801-C9D4-CD41-8D55-7F50E9031106}"/>
              </a:ext>
            </a:extLst>
          </p:cNvPr>
          <p:cNvSpPr txBox="1"/>
          <p:nvPr/>
        </p:nvSpPr>
        <p:spPr>
          <a:xfrm>
            <a:off x="3048000" y="23614"/>
            <a:ext cx="6096000" cy="646331"/>
          </a:xfrm>
          <a:prstGeom prst="rect">
            <a:avLst/>
          </a:prstGeom>
          <a:noFill/>
        </p:spPr>
        <p:txBody>
          <a:bodyPr wrap="square">
            <a:spAutoFit/>
          </a:bodyPr>
          <a:lstStyle/>
          <a:p>
            <a:pPr algn="ctr"/>
            <a:r>
              <a:rPr lang="en-US" sz="3600" dirty="0">
                <a:latin typeface="Times New Roman" panose="02020603050405020304" pitchFamily="18" charset="0"/>
                <a:cs typeface="Times New Roman" panose="02020603050405020304" pitchFamily="18" charset="0"/>
              </a:rPr>
              <a:t>References</a:t>
            </a:r>
            <a:endParaRPr lang="en-IN" sz="3600" dirty="0"/>
          </a:p>
        </p:txBody>
      </p:sp>
      <p:sp>
        <p:nvSpPr>
          <p:cNvPr id="5" name="TextBox 4">
            <a:extLst>
              <a:ext uri="{FF2B5EF4-FFF2-40B4-BE49-F238E27FC236}">
                <a16:creationId xmlns:a16="http://schemas.microsoft.com/office/drawing/2014/main" id="{BFA564F8-5186-825B-CB65-3D96C2D1FF26}"/>
              </a:ext>
            </a:extLst>
          </p:cNvPr>
          <p:cNvSpPr txBox="1"/>
          <p:nvPr/>
        </p:nvSpPr>
        <p:spPr>
          <a:xfrm>
            <a:off x="203200" y="862549"/>
            <a:ext cx="11490960" cy="5909310"/>
          </a:xfrm>
          <a:prstGeom prst="rect">
            <a:avLst/>
          </a:prstGeom>
          <a:noFill/>
        </p:spPr>
        <p:txBody>
          <a:bodyPr wrap="square">
            <a:spAutoFit/>
          </a:bodyPr>
          <a:lstStyle/>
          <a:p>
            <a:pPr algn="just">
              <a:buNone/>
            </a:pPr>
            <a:r>
              <a:rPr lang="en-IN" dirty="0">
                <a:latin typeface="Times New Roman" panose="02020603050405020304" pitchFamily="18" charset="0"/>
                <a:cs typeface="Times New Roman" panose="02020603050405020304" pitchFamily="18" charset="0"/>
              </a:rPr>
              <a:t>[1] A. A. </a:t>
            </a:r>
            <a:r>
              <a:rPr lang="en-IN" dirty="0" err="1">
                <a:latin typeface="Times New Roman" panose="02020603050405020304" pitchFamily="18" charset="0"/>
                <a:cs typeface="Times New Roman" panose="02020603050405020304" pitchFamily="18" charset="0"/>
              </a:rPr>
              <a:t>Alsuwaylimi</a:t>
            </a:r>
            <a:r>
              <a:rPr lang="en-IN" dirty="0">
                <a:latin typeface="Times New Roman" panose="02020603050405020304" pitchFamily="18" charset="0"/>
                <a:cs typeface="Times New Roman" panose="02020603050405020304" pitchFamily="18" charset="0"/>
              </a:rPr>
              <a:t>, “Enhanced YOLOv8-Seg Instance Segmentation for Real-Time Submerged Debris Detection,”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vol. 12, pp. 117833–117849, 2024. </a:t>
            </a:r>
          </a:p>
          <a:p>
            <a:pPr algn="just">
              <a:buNone/>
            </a:pPr>
            <a:r>
              <a:rPr lang="en-IN" dirty="0">
                <a:latin typeface="Times New Roman" panose="02020603050405020304" pitchFamily="18" charset="0"/>
                <a:cs typeface="Times New Roman" panose="02020603050405020304" pitchFamily="18" charset="0"/>
              </a:rPr>
              <a:t>[2] D. </a:t>
            </a:r>
            <a:r>
              <a:rPr lang="en-IN" dirty="0" err="1">
                <a:latin typeface="Times New Roman" panose="02020603050405020304" pitchFamily="18" charset="0"/>
                <a:cs typeface="Times New Roman" panose="02020603050405020304" pitchFamily="18" charset="0"/>
              </a:rPr>
              <a:t>Mewada</a:t>
            </a:r>
            <a:r>
              <a:rPr lang="en-IN" dirty="0">
                <a:latin typeface="Times New Roman" panose="02020603050405020304" pitchFamily="18" charset="0"/>
                <a:cs typeface="Times New Roman" panose="02020603050405020304" pitchFamily="18" charset="0"/>
              </a:rPr>
              <a:t>, C. Agnew, E. M. Grua, and C. Eising, “Contamination Detection From Highly Cluttered Waste Scenes Using Computer Vision,”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2024. </a:t>
            </a:r>
          </a:p>
          <a:p>
            <a:pPr algn="just">
              <a:buNone/>
            </a:pPr>
            <a:r>
              <a:rPr lang="en-IN" dirty="0">
                <a:latin typeface="Times New Roman" panose="02020603050405020304" pitchFamily="18" charset="0"/>
                <a:cs typeface="Times New Roman" panose="02020603050405020304" pitchFamily="18" charset="0"/>
              </a:rPr>
              <a:t>[3] M. M. Hossen, M. E. Majid, S. B. A. Kashem, A. Khandakar, and M. </a:t>
            </a:r>
            <a:r>
              <a:rPr lang="en-IN" dirty="0" err="1">
                <a:latin typeface="Times New Roman" panose="02020603050405020304" pitchFamily="18" charset="0"/>
                <a:cs typeface="Times New Roman" panose="02020603050405020304" pitchFamily="18" charset="0"/>
              </a:rPr>
              <a:t>Nashbat</a:t>
            </a:r>
            <a:r>
              <a:rPr lang="en-IN" dirty="0">
                <a:latin typeface="Times New Roman" panose="02020603050405020304" pitchFamily="18" charset="0"/>
                <a:cs typeface="Times New Roman" panose="02020603050405020304" pitchFamily="18" charset="0"/>
              </a:rPr>
              <a:t>, “A Reliable and Robust Deep Learning Model for Effective Recyclable Waste Classification,”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2024.</a:t>
            </a:r>
          </a:p>
          <a:p>
            <a:pPr algn="just">
              <a:buNone/>
            </a:pPr>
            <a:r>
              <a:rPr lang="en-IN" dirty="0">
                <a:latin typeface="Times New Roman" panose="02020603050405020304" pitchFamily="18" charset="0"/>
                <a:cs typeface="Times New Roman" panose="02020603050405020304" pitchFamily="18" charset="0"/>
              </a:rPr>
              <a:t>[4] M. A. M. </a:t>
            </a:r>
            <a:r>
              <a:rPr lang="en-IN" dirty="0" err="1">
                <a:latin typeface="Times New Roman" panose="02020603050405020304" pitchFamily="18" charset="0"/>
                <a:cs typeface="Times New Roman" panose="02020603050405020304" pitchFamily="18" charset="0"/>
              </a:rPr>
              <a:t>Rastari</a:t>
            </a:r>
            <a:r>
              <a:rPr lang="en-IN" dirty="0">
                <a:latin typeface="Times New Roman" panose="02020603050405020304" pitchFamily="18" charset="0"/>
                <a:cs typeface="Times New Roman" panose="02020603050405020304" pitchFamily="18" charset="0"/>
              </a:rPr>
              <a:t>, R. Roslan, R. Hamzah, N. H. I. Teo, and F. E. </a:t>
            </a:r>
            <a:r>
              <a:rPr lang="en-IN" dirty="0" err="1">
                <a:latin typeface="Times New Roman" panose="02020603050405020304" pitchFamily="18" charset="0"/>
                <a:cs typeface="Times New Roman" panose="02020603050405020304" pitchFamily="18" charset="0"/>
              </a:rPr>
              <a:t>Shahbudin</a:t>
            </a:r>
            <a:r>
              <a:rPr lang="en-IN" dirty="0">
                <a:latin typeface="Times New Roman" panose="02020603050405020304" pitchFamily="18" charset="0"/>
                <a:cs typeface="Times New Roman" panose="02020603050405020304" pitchFamily="18" charset="0"/>
              </a:rPr>
              <a:t>, “Recycle Waste Detection and Classification Model Using YOLO-V8 for Real-Time Waste Management,” in </a:t>
            </a:r>
            <a:r>
              <a:rPr lang="en-IN" i="1" dirty="0">
                <a:latin typeface="Times New Roman" panose="02020603050405020304" pitchFamily="18" charset="0"/>
                <a:cs typeface="Times New Roman" panose="02020603050405020304" pitchFamily="18" charset="0"/>
              </a:rPr>
              <a:t>Proc. 2024 IEEE International Conference on Artificial Intelligence in Engineering and Technology (IICAIET)</a:t>
            </a:r>
            <a:r>
              <a:rPr lang="en-IN" dirty="0">
                <a:latin typeface="Times New Roman" panose="02020603050405020304" pitchFamily="18" charset="0"/>
                <a:cs typeface="Times New Roman" panose="02020603050405020304" pitchFamily="18" charset="0"/>
              </a:rPr>
              <a:t>, 2024.</a:t>
            </a:r>
          </a:p>
          <a:p>
            <a:pPr algn="just">
              <a:buNone/>
            </a:pPr>
            <a:r>
              <a:rPr lang="en-IN" dirty="0">
                <a:latin typeface="Times New Roman" panose="02020603050405020304" pitchFamily="18" charset="0"/>
                <a:cs typeface="Times New Roman" panose="02020603050405020304" pitchFamily="18" charset="0"/>
              </a:rPr>
              <a:t>[5] F. R. Sayem, M. S. B. Islam, M. </a:t>
            </a:r>
            <a:r>
              <a:rPr lang="en-IN" dirty="0" err="1">
                <a:latin typeface="Times New Roman" panose="02020603050405020304" pitchFamily="18" charset="0"/>
                <a:cs typeface="Times New Roman" panose="02020603050405020304" pitchFamily="18" charset="0"/>
              </a:rPr>
              <a:t>Naznine</a:t>
            </a:r>
            <a:r>
              <a:rPr lang="en-IN" dirty="0">
                <a:latin typeface="Times New Roman" panose="02020603050405020304" pitchFamily="18" charset="0"/>
                <a:cs typeface="Times New Roman" panose="02020603050405020304" pitchFamily="18" charset="0"/>
              </a:rPr>
              <a:t>, M. </a:t>
            </a:r>
            <a:r>
              <a:rPr lang="en-IN" dirty="0" err="1">
                <a:latin typeface="Times New Roman" panose="02020603050405020304" pitchFamily="18" charset="0"/>
                <a:cs typeface="Times New Roman" panose="02020603050405020304" pitchFamily="18" charset="0"/>
              </a:rPr>
              <a:t>Nashbat</a:t>
            </a:r>
            <a:r>
              <a:rPr lang="en-IN" dirty="0">
                <a:latin typeface="Times New Roman" panose="02020603050405020304" pitchFamily="18" charset="0"/>
                <a:cs typeface="Times New Roman" panose="02020603050405020304" pitchFamily="18" charset="0"/>
              </a:rPr>
              <a:t>, and M. Hasan-Zia, “Enhancing Waste Sorting and Recycling Efficiency: Robust Deep Learning-Based Approach for Classification and Detection,” </a:t>
            </a:r>
            <a:r>
              <a:rPr lang="en-IN" i="1" dirty="0">
                <a:latin typeface="Times New Roman" panose="02020603050405020304" pitchFamily="18" charset="0"/>
                <a:cs typeface="Times New Roman" panose="02020603050405020304" pitchFamily="18" charset="0"/>
              </a:rPr>
              <a:t>Neural Computing and Applications</a:t>
            </a:r>
            <a:r>
              <a:rPr lang="en-IN" dirty="0">
                <a:latin typeface="Times New Roman" panose="02020603050405020304" pitchFamily="18" charset="0"/>
                <a:cs typeface="Times New Roman" panose="02020603050405020304" pitchFamily="18" charset="0"/>
              </a:rPr>
              <a:t>, 2025. </a:t>
            </a:r>
          </a:p>
          <a:p>
            <a:pPr algn="just">
              <a:buNone/>
            </a:pPr>
            <a:r>
              <a:rPr lang="en-IN" dirty="0">
                <a:latin typeface="Times New Roman" panose="02020603050405020304" pitchFamily="18" charset="0"/>
                <a:cs typeface="Times New Roman" panose="02020603050405020304" pitchFamily="18" charset="0"/>
              </a:rPr>
              <a:t>[6] I. O. Joseph, N. L. Wangare, T. P. </a:t>
            </a:r>
            <a:r>
              <a:rPr lang="en-IN" dirty="0" err="1">
                <a:latin typeface="Times New Roman" panose="02020603050405020304" pitchFamily="18" charset="0"/>
                <a:cs typeface="Times New Roman" panose="02020603050405020304" pitchFamily="18" charset="0"/>
              </a:rPr>
              <a:t>Mahoque</a:t>
            </a:r>
            <a:r>
              <a:rPr lang="en-IN" dirty="0">
                <a:latin typeface="Times New Roman" panose="02020603050405020304" pitchFamily="18" charset="0"/>
                <a:cs typeface="Times New Roman" panose="02020603050405020304" pitchFamily="18" charset="0"/>
              </a:rPr>
              <a:t>, P. Tewari, and S. Majumdar, “E-Waste Intelligent Robotic Technology (EIRT): A Deep Learning Approach for Electronic Waste Detection, Classification and Sorting,” in </a:t>
            </a:r>
            <a:r>
              <a:rPr lang="en-IN" i="1" dirty="0">
                <a:latin typeface="Times New Roman" panose="02020603050405020304" pitchFamily="18" charset="0"/>
                <a:cs typeface="Times New Roman" panose="02020603050405020304" pitchFamily="18" charset="0"/>
              </a:rPr>
              <a:t>Proc. 14th International Conference on Computing Communication and Networking Technologies (ICCCNT)</a:t>
            </a:r>
            <a:r>
              <a:rPr lang="en-IN" dirty="0">
                <a:latin typeface="Times New Roman" panose="02020603050405020304" pitchFamily="18" charset="0"/>
                <a:cs typeface="Times New Roman" panose="02020603050405020304" pitchFamily="18" charset="0"/>
              </a:rPr>
              <a:t>, 2023.</a:t>
            </a:r>
          </a:p>
          <a:p>
            <a:pPr algn="just"/>
            <a:r>
              <a:rPr lang="en-IN" dirty="0">
                <a:latin typeface="Times New Roman" panose="02020603050405020304" pitchFamily="18" charset="0"/>
                <a:cs typeface="Times New Roman" panose="02020603050405020304" pitchFamily="18" charset="0"/>
              </a:rPr>
              <a:t>[7] N. Ramsurrun, G. Suddul, S. Armoogum, and R. </a:t>
            </a:r>
            <a:r>
              <a:rPr lang="en-IN" dirty="0" err="1">
                <a:latin typeface="Times New Roman" panose="02020603050405020304" pitchFamily="18" charset="0"/>
                <a:cs typeface="Times New Roman" panose="02020603050405020304" pitchFamily="18" charset="0"/>
              </a:rPr>
              <a:t>Foogooa</a:t>
            </a:r>
            <a:r>
              <a:rPr lang="en-IN" dirty="0">
                <a:latin typeface="Times New Roman" panose="02020603050405020304" pitchFamily="18" charset="0"/>
                <a:cs typeface="Times New Roman" panose="02020603050405020304" pitchFamily="18" charset="0"/>
              </a:rPr>
              <a:t>, “Recyclable Waste Classification Using Computer Vision and Deep Learning,” in Proc. Zooming Innovation in Consumer Technologies Conf. (ZINC), 2021,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10.1109/ZINC52049.2021.9499291. </a:t>
            </a:r>
          </a:p>
          <a:p>
            <a:pPr algn="just"/>
            <a:r>
              <a:rPr lang="en-US" dirty="0">
                <a:latin typeface="Times New Roman" panose="02020603050405020304" pitchFamily="18" charset="0"/>
                <a:cs typeface="Times New Roman" panose="02020603050405020304" pitchFamily="18" charset="0"/>
              </a:rPr>
              <a:t>[8] F. S. </a:t>
            </a:r>
            <a:r>
              <a:rPr lang="en-US" dirty="0" err="1">
                <a:latin typeface="Times New Roman" panose="02020603050405020304" pitchFamily="18" charset="0"/>
                <a:cs typeface="Times New Roman" panose="02020603050405020304" pitchFamily="18" charset="0"/>
              </a:rPr>
              <a:t>Alsubaei</a:t>
            </a:r>
            <a:r>
              <a:rPr lang="en-US" dirty="0">
                <a:latin typeface="Times New Roman" panose="02020603050405020304" pitchFamily="18" charset="0"/>
                <a:cs typeface="Times New Roman" panose="02020603050405020304" pitchFamily="18" charset="0"/>
              </a:rPr>
              <a:t>, F. N. Al-</a:t>
            </a:r>
            <a:r>
              <a:rPr lang="en-US" dirty="0" err="1">
                <a:latin typeface="Times New Roman" panose="02020603050405020304" pitchFamily="18" charset="0"/>
                <a:cs typeface="Times New Roman" panose="02020603050405020304" pitchFamily="18" charset="0"/>
              </a:rPr>
              <a:t>Wesabi</a:t>
            </a:r>
            <a:r>
              <a:rPr lang="en-US" dirty="0">
                <a:latin typeface="Times New Roman" panose="02020603050405020304" pitchFamily="18" charset="0"/>
                <a:cs typeface="Times New Roman" panose="02020603050405020304" pitchFamily="18" charset="0"/>
              </a:rPr>
              <a:t>, and A. M. Hilal, “Deep Learning-Based Small Object Detection and Classification Model for Garbage Waste Management in Smart Cities and IoT Environment,” Applied Sciences, vol. 12, no. 5, p. 2281, 2022,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10.3390/app12052281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1178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E182C-681C-E0A7-451F-4F14E34C533C}"/>
              </a:ext>
            </a:extLst>
          </p:cNvPr>
          <p:cNvSpPr txBox="1"/>
          <p:nvPr/>
        </p:nvSpPr>
        <p:spPr>
          <a:xfrm>
            <a:off x="396240" y="588229"/>
            <a:ext cx="11551920" cy="3970318"/>
          </a:xfrm>
          <a:prstGeom prst="rect">
            <a:avLst/>
          </a:prstGeom>
          <a:noFill/>
        </p:spPr>
        <p:txBody>
          <a:bodyPr wrap="square">
            <a:spAutoFit/>
          </a:bodyPr>
          <a:lstStyle/>
          <a:p>
            <a:pPr algn="just"/>
            <a:r>
              <a:rPr lang="en-IN" sz="1800" b="0" i="0" u="none" strike="noStrike" baseline="0" dirty="0">
                <a:solidFill>
                  <a:srgbClr val="000000"/>
                </a:solidFill>
                <a:latin typeface="Times New Roman" panose="02020603050405020304" pitchFamily="18" charset="0"/>
              </a:rPr>
              <a:t>[9] M. Malik et al., “Waste Classification for Sustainable Development Using Image Recognition with Deep Learning Neural Network Models,” Sustainability, vol. 14, no. 12, p. 7222, 2022, </a:t>
            </a:r>
            <a:r>
              <a:rPr lang="en-IN" sz="1800" b="0" i="0" u="none" strike="noStrike" baseline="0" dirty="0" err="1">
                <a:solidFill>
                  <a:srgbClr val="000000"/>
                </a:solidFill>
                <a:latin typeface="Times New Roman" panose="02020603050405020304" pitchFamily="18" charset="0"/>
              </a:rPr>
              <a:t>doi</a:t>
            </a:r>
            <a:r>
              <a:rPr lang="en-IN" sz="1800" b="0" i="0" u="none" strike="noStrike" baseline="0" dirty="0">
                <a:solidFill>
                  <a:srgbClr val="000000"/>
                </a:solidFill>
                <a:latin typeface="Times New Roman" panose="02020603050405020304" pitchFamily="18" charset="0"/>
              </a:rPr>
              <a:t>: 10.3390/su14127222. </a:t>
            </a:r>
          </a:p>
          <a:p>
            <a:pPr algn="just"/>
            <a:r>
              <a:rPr lang="en-US" sz="1800" b="0" i="0" u="none" strike="noStrike" baseline="0" dirty="0">
                <a:solidFill>
                  <a:srgbClr val="000000"/>
                </a:solidFill>
                <a:latin typeface="Times New Roman" panose="02020603050405020304" pitchFamily="18" charset="0"/>
              </a:rPr>
              <a:t>[10] N. </a:t>
            </a:r>
            <a:r>
              <a:rPr lang="en-US" sz="1800" b="0" i="0" u="none" strike="noStrike" baseline="0" dirty="0" err="1">
                <a:solidFill>
                  <a:srgbClr val="000000"/>
                </a:solidFill>
                <a:latin typeface="Times New Roman" panose="02020603050405020304" pitchFamily="18" charset="0"/>
              </a:rPr>
              <a:t>Nnamoko</a:t>
            </a:r>
            <a:r>
              <a:rPr lang="en-US" sz="1800" b="0" i="0" u="none" strike="noStrike" baseline="0" dirty="0">
                <a:solidFill>
                  <a:srgbClr val="000000"/>
                </a:solidFill>
                <a:latin typeface="Times New Roman" panose="02020603050405020304" pitchFamily="18" charset="0"/>
              </a:rPr>
              <a:t> and O. Barrowclough, “Solid Waste Image Classification Using Deep Convolutional Neural Networks,” Infrastructures, vol. 7, no. 4, p. 47, 2022. </a:t>
            </a:r>
          </a:p>
          <a:p>
            <a:pPr algn="just"/>
            <a:r>
              <a:rPr lang="en-US" sz="1800" b="0" i="0" u="none" strike="noStrike" baseline="0" dirty="0">
                <a:solidFill>
                  <a:srgbClr val="000000"/>
                </a:solidFill>
                <a:latin typeface="Times New Roman" panose="02020603050405020304" pitchFamily="18" charset="0"/>
              </a:rPr>
              <a:t>[11] Z. Yuan and J. Liu, “A Hybrid Deep Learning Model for Trash Classification Based on Deep Transfer Learning,” Journal of Electrical and Computer Engineering, vol. 2022, Article ID 7608794, 2022, </a:t>
            </a:r>
            <a:r>
              <a:rPr lang="en-US" sz="1800" b="0" i="0" u="none" strike="noStrike" baseline="0" dirty="0" err="1">
                <a:solidFill>
                  <a:srgbClr val="000000"/>
                </a:solidFill>
                <a:latin typeface="Times New Roman" panose="02020603050405020304" pitchFamily="18" charset="0"/>
              </a:rPr>
              <a:t>doi</a:t>
            </a:r>
            <a:r>
              <a:rPr lang="en-US" sz="1800" b="0" i="0" u="none" strike="noStrike" baseline="0" dirty="0">
                <a:solidFill>
                  <a:srgbClr val="000000"/>
                </a:solidFill>
                <a:latin typeface="Times New Roman" panose="02020603050405020304" pitchFamily="18" charset="0"/>
              </a:rPr>
              <a:t>: 10.1155/2022/7608794. </a:t>
            </a:r>
          </a:p>
          <a:p>
            <a:pPr algn="just"/>
            <a:r>
              <a:rPr lang="en-US" sz="1800" b="0" i="0" u="none" strike="noStrike" baseline="0" dirty="0">
                <a:solidFill>
                  <a:srgbClr val="000000"/>
                </a:solidFill>
                <a:latin typeface="Times New Roman" panose="02020603050405020304" pitchFamily="18" charset="0"/>
              </a:rPr>
              <a:t>[12] M. I. B. Ahmed et al., “Deep Learning Approach to Recyclable Products Classification: Towards Sustainable Waste Management,” Sustainability, vol. 15, no. 14, p. 11138, 2023, </a:t>
            </a:r>
            <a:r>
              <a:rPr lang="en-US" sz="1800" b="0" i="0" u="none" strike="noStrike" baseline="0" dirty="0" err="1">
                <a:solidFill>
                  <a:srgbClr val="000000"/>
                </a:solidFill>
                <a:latin typeface="Times New Roman" panose="02020603050405020304" pitchFamily="18" charset="0"/>
              </a:rPr>
              <a:t>doi</a:t>
            </a:r>
            <a:r>
              <a:rPr lang="en-US" sz="1800" b="0" i="0" u="none" strike="noStrike" baseline="0" dirty="0">
                <a:solidFill>
                  <a:srgbClr val="000000"/>
                </a:solidFill>
                <a:latin typeface="Times New Roman" panose="02020603050405020304" pitchFamily="18" charset="0"/>
              </a:rPr>
              <a:t>: 10.3390/su151411138. </a:t>
            </a:r>
          </a:p>
          <a:p>
            <a:pPr algn="just"/>
            <a:r>
              <a:rPr lang="en-US" sz="1800" b="0" i="0" u="none" strike="noStrike" baseline="0" dirty="0">
                <a:solidFill>
                  <a:srgbClr val="000000"/>
                </a:solidFill>
                <a:latin typeface="Times New Roman" panose="02020603050405020304" pitchFamily="18" charset="0"/>
              </a:rPr>
              <a:t>[13] N. Li and Y. Chen, “Municipal Solid Waste Classification and Real-Time Detection Using Deep Learning Methods,” Urban Climate, vol. 49, p. 101462, 2023, </a:t>
            </a:r>
            <a:r>
              <a:rPr lang="en-US" sz="1800" b="0" i="0" u="none" strike="noStrike" baseline="0" dirty="0" err="1">
                <a:solidFill>
                  <a:srgbClr val="000000"/>
                </a:solidFill>
                <a:latin typeface="Times New Roman" panose="02020603050405020304" pitchFamily="18" charset="0"/>
              </a:rPr>
              <a:t>doi</a:t>
            </a:r>
            <a:r>
              <a:rPr lang="en-US" sz="1800" b="0" i="0" u="none" strike="noStrike" baseline="0" dirty="0">
                <a:solidFill>
                  <a:srgbClr val="000000"/>
                </a:solidFill>
                <a:latin typeface="Times New Roman" panose="02020603050405020304" pitchFamily="18" charset="0"/>
              </a:rPr>
              <a:t>: 10.1016/j.uclim.2023.101462. </a:t>
            </a:r>
          </a:p>
          <a:p>
            <a:pPr algn="just"/>
            <a:r>
              <a:rPr lang="en-US" sz="1800" b="0" i="0" u="none" strike="noStrike" baseline="0" dirty="0">
                <a:solidFill>
                  <a:srgbClr val="000000"/>
                </a:solidFill>
                <a:latin typeface="Times New Roman" panose="02020603050405020304" pitchFamily="18" charset="0"/>
              </a:rPr>
              <a:t>[14] S. Poudel and P. Poudyal, “Classification of Waste Materials Using CNN Based on Transfer Learning,” in Proc. Forum for Information Retrieval Evaluation (FIRE), 2023, </a:t>
            </a:r>
            <a:r>
              <a:rPr lang="en-US" sz="1800" b="0" i="0" u="none" strike="noStrike" baseline="0" dirty="0" err="1">
                <a:solidFill>
                  <a:srgbClr val="000000"/>
                </a:solidFill>
                <a:latin typeface="Times New Roman" panose="02020603050405020304" pitchFamily="18" charset="0"/>
              </a:rPr>
              <a:t>doi</a:t>
            </a:r>
            <a:r>
              <a:rPr lang="en-US" sz="1800" b="0" i="0" u="none" strike="noStrike" baseline="0" dirty="0">
                <a:solidFill>
                  <a:srgbClr val="000000"/>
                </a:solidFill>
                <a:latin typeface="Times New Roman" panose="02020603050405020304" pitchFamily="18" charset="0"/>
              </a:rPr>
              <a:t>: 10.1145/3574318.3574345. </a:t>
            </a:r>
          </a:p>
          <a:p>
            <a:pPr algn="just"/>
            <a:r>
              <a:rPr lang="en-IN" sz="1800" b="0" i="0" u="none" strike="noStrike" baseline="0" dirty="0">
                <a:solidFill>
                  <a:srgbClr val="000000"/>
                </a:solidFill>
                <a:latin typeface="Times New Roman" panose="02020603050405020304" pitchFamily="18" charset="0"/>
              </a:rPr>
              <a:t>[15] A. </a:t>
            </a:r>
            <a:r>
              <a:rPr lang="en-IN" sz="1800" b="0" i="0" u="none" strike="noStrike" baseline="0" dirty="0" err="1">
                <a:solidFill>
                  <a:srgbClr val="000000"/>
                </a:solidFill>
                <a:latin typeface="Times New Roman" panose="02020603050405020304" pitchFamily="18" charset="0"/>
              </a:rPr>
              <a:t>Rahmatulloh</a:t>
            </a:r>
            <a:r>
              <a:rPr lang="en-IN" sz="1800" b="0" i="0" u="none" strike="noStrike" baseline="0" dirty="0">
                <a:solidFill>
                  <a:srgbClr val="000000"/>
                </a:solidFill>
                <a:latin typeface="Times New Roman" panose="02020603050405020304" pitchFamily="18" charset="0"/>
              </a:rPr>
              <a:t> et al., “</a:t>
            </a:r>
            <a:r>
              <a:rPr lang="en-IN" sz="1800" b="0" i="0" u="none" strike="noStrike" baseline="0" dirty="0" err="1">
                <a:solidFill>
                  <a:srgbClr val="000000"/>
                </a:solidFill>
                <a:latin typeface="Times New Roman" panose="02020603050405020304" pitchFamily="18" charset="0"/>
              </a:rPr>
              <a:t>WasteInNet</a:t>
            </a:r>
            <a:r>
              <a:rPr lang="en-IN" sz="1800" b="0" i="0" u="none" strike="noStrike" baseline="0" dirty="0">
                <a:solidFill>
                  <a:srgbClr val="000000"/>
                </a:solidFill>
                <a:latin typeface="Times New Roman" panose="02020603050405020304" pitchFamily="18" charset="0"/>
              </a:rPr>
              <a:t>: Deep Learning Model for Real- Time Identification of Various Types of Waste,” Cleaner Waste Systems, vol. 10, p. 100198, 2025, </a:t>
            </a:r>
            <a:r>
              <a:rPr lang="en-IN" sz="1800" b="0" i="0" u="none" strike="noStrike" baseline="0" dirty="0" err="1">
                <a:solidFill>
                  <a:srgbClr val="000000"/>
                </a:solidFill>
                <a:latin typeface="Times New Roman" panose="02020603050405020304" pitchFamily="18" charset="0"/>
              </a:rPr>
              <a:t>doi</a:t>
            </a:r>
            <a:r>
              <a:rPr lang="en-IN" sz="1800" b="0" i="0" u="none" strike="noStrike" baseline="0" dirty="0">
                <a:solidFill>
                  <a:srgbClr val="000000"/>
                </a:solidFill>
                <a:latin typeface="Times New Roman" panose="02020603050405020304" pitchFamily="18" charset="0"/>
              </a:rPr>
              <a:t>: 10.1016/j.clwas.2024.100198. </a:t>
            </a:r>
            <a:endParaRPr lang="en-IN" dirty="0"/>
          </a:p>
        </p:txBody>
      </p:sp>
    </p:spTree>
    <p:extLst>
      <p:ext uri="{BB962C8B-B14F-4D97-AF65-F5344CB8AC3E}">
        <p14:creationId xmlns:p14="http://schemas.microsoft.com/office/powerpoint/2010/main" val="2787193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A8FF0-0DDB-8E0C-1597-985F5A7F68C7}"/>
              </a:ext>
            </a:extLst>
          </p:cNvPr>
          <p:cNvSpPr txBox="1">
            <a:spLocks/>
          </p:cNvSpPr>
          <p:nvPr/>
        </p:nvSpPr>
        <p:spPr>
          <a:xfrm>
            <a:off x="0" y="2766218"/>
            <a:ext cx="121920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271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611</TotalTime>
  <Words>3613</Words>
  <Application>Microsoft Office PowerPoint</Application>
  <PresentationFormat>Widescreen</PresentationFormat>
  <Paragraphs>242</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Play</vt:lpstr>
      <vt:lpstr>Tahoma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jithin kamineni</dc:creator>
  <cp:lastModifiedBy>jithin kamineni</cp:lastModifiedBy>
  <cp:revision>1</cp:revision>
  <dcterms:created xsi:type="dcterms:W3CDTF">2026-04-19T10:07:55Z</dcterms:created>
  <dcterms:modified xsi:type="dcterms:W3CDTF">2026-04-19T20:22:42Z</dcterms:modified>
</cp:coreProperties>
</file>