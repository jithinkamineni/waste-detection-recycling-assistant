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Play"/>
      <p:regular r:id="rId31"/>
      <p:bold r:id="rId32"/>
    </p:embeddedFont>
    <p:embeddedFont>
      <p:font typeface="Tahoma"/>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iNDC3yUPspW4AGqycIPbTiOkiw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6C7239-20D5-4E41-A8C9-6DEBA1776041}">
  <a:tblStyle styleId="{A86C7239-20D5-4E41-A8C9-6DEBA1776041}"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F7"/>
          </a:solidFill>
        </a:fill>
      </a:tcStyle>
    </a:wholeTbl>
    <a:band1H>
      <a:tcTxStyle/>
      <a:tcStyle>
        <a:fill>
          <a:solidFill>
            <a:srgbClr val="CADEEF"/>
          </a:solidFill>
        </a:fill>
      </a:tcStyle>
    </a:band1H>
    <a:band2H>
      <a:tcTxStyle/>
    </a:band2H>
    <a:band1V>
      <a:tcTxStyle/>
      <a:tcStyle>
        <a:fill>
          <a:solidFill>
            <a:srgbClr val="CADEEF"/>
          </a:solidFill>
        </a:fill>
      </a:tcStyle>
    </a:band1V>
    <a:band2V>
      <a:tcTxStyle/>
    </a:band2V>
    <a:lastCol>
      <a:tcTxStyle b="on" i="off">
        <a:font>
          <a:latin typeface="Aptos"/>
          <a:ea typeface="Aptos"/>
          <a:cs typeface="Aptos"/>
        </a:font>
        <a:schemeClr val="lt1"/>
      </a:tcTxStyle>
      <a:tcStyle>
        <a:fill>
          <a:solidFill>
            <a:schemeClr val="accent4"/>
          </a:solidFill>
        </a:fill>
      </a:tcStyle>
    </a:lastCol>
    <a:firstCol>
      <a:tcTxStyle b="on" i="off">
        <a:font>
          <a:latin typeface="Aptos"/>
          <a:ea typeface="Aptos"/>
          <a:cs typeface="Aptos"/>
        </a:font>
        <a:schemeClr val="lt1"/>
      </a:tcTxStyle>
      <a:tcStyle>
        <a:fill>
          <a:solidFill>
            <a:schemeClr val="accent4"/>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Tahoma-regular.fntdata"/><Relationship Id="rId10" Type="http://schemas.openxmlformats.org/officeDocument/2006/relationships/slide" Target="slides/slide5.xml"/><Relationship Id="rId32" Type="http://schemas.openxmlformats.org/officeDocument/2006/relationships/font" Target="fonts/Play-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Tahoma-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5183188" y="987425"/>
            <a:ext cx="6172200" cy="4873625"/>
          </a:xfrm>
          <a:prstGeom prst="rect">
            <a:avLst/>
          </a:prstGeom>
          <a:noFill/>
          <a:ln>
            <a:noFill/>
          </a:ln>
        </p:spPr>
      </p:sp>
      <p:sp>
        <p:nvSpPr>
          <p:cNvPr id="64" name="Google Shape;64;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5.jpg"/><Relationship Id="rId10" Type="http://schemas.openxmlformats.org/officeDocument/2006/relationships/image" Target="../media/image8.jpg"/><Relationship Id="rId9" Type="http://schemas.openxmlformats.org/officeDocument/2006/relationships/image" Target="../media/image16.jpg"/><Relationship Id="rId5" Type="http://schemas.openxmlformats.org/officeDocument/2006/relationships/image" Target="../media/image18.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1525364"/>
            <a:ext cx="12191999" cy="115705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Multi-Class Garbage Detection and RAG-Based Recycling Guidance System Using YOLOv8</a:t>
            </a:r>
            <a:endParaRPr b="1" i="0" sz="4000" u="none" cap="none" strike="noStrike">
              <a:solidFill>
                <a:srgbClr val="00B050"/>
              </a:solidFill>
              <a:latin typeface="Times New Roman"/>
              <a:ea typeface="Times New Roman"/>
              <a:cs typeface="Times New Roman"/>
              <a:sym typeface="Times New Roman"/>
            </a:endParaRPr>
          </a:p>
        </p:txBody>
      </p:sp>
      <p:sp>
        <p:nvSpPr>
          <p:cNvPr id="85" name="Google Shape;85;p1"/>
          <p:cNvSpPr/>
          <p:nvPr/>
        </p:nvSpPr>
        <p:spPr>
          <a:xfrm>
            <a:off x="-1396" y="3747831"/>
            <a:ext cx="12192000" cy="1752600"/>
          </a:xfrm>
          <a:prstGeom prst="rect">
            <a:avLst/>
          </a:prstGeom>
          <a:noFill/>
          <a:ln>
            <a:noFill/>
          </a:ln>
        </p:spPr>
        <p:txBody>
          <a:bodyPr anchorCtr="0" anchor="t" bIns="45700" lIns="91425" spcFirstLastPara="1" rIns="91425" wrap="square" tIns="45700">
            <a:normAutofit/>
          </a:bodyPr>
          <a:lstStyle/>
          <a:p>
            <a:pPr indent="0" lvl="0" marL="0" marR="0" rtl="0" algn="ctr">
              <a:lnSpc>
                <a:spcPct val="80000"/>
              </a:lnSpc>
              <a:spcBef>
                <a:spcPts val="0"/>
              </a:spcBef>
              <a:spcAft>
                <a:spcPts val="0"/>
              </a:spcAft>
              <a:buClr>
                <a:schemeClr val="dk1"/>
              </a:buClr>
              <a:buSzPts val="3237"/>
              <a:buFont typeface="Arial"/>
              <a:buNone/>
            </a:pPr>
            <a:r>
              <a:rPr b="0" i="0" lang="en-US" sz="3238" u="none" cap="none" strike="noStrike">
                <a:solidFill>
                  <a:schemeClr val="dk1"/>
                </a:solidFill>
                <a:latin typeface="Times New Roman"/>
                <a:ea typeface="Times New Roman"/>
                <a:cs typeface="Times New Roman"/>
                <a:sym typeface="Times New Roman"/>
              </a:rPr>
              <a:t>PRESENTED BY</a:t>
            </a:r>
            <a:endParaRPr/>
          </a:p>
          <a:p>
            <a:pPr indent="0" lvl="0" marL="0" marR="0" rtl="0" algn="ctr">
              <a:lnSpc>
                <a:spcPct val="80000"/>
              </a:lnSpc>
              <a:spcBef>
                <a:spcPts val="925"/>
              </a:spcBef>
              <a:spcAft>
                <a:spcPts val="0"/>
              </a:spcAft>
              <a:buClr>
                <a:srgbClr val="7030A0"/>
              </a:buClr>
              <a:buSzPts val="4625"/>
              <a:buFont typeface="Arial"/>
              <a:buNone/>
            </a:pPr>
            <a:r>
              <a:rPr b="1" i="0" lang="en-US" sz="4625" u="none" cap="none" strike="noStrike">
                <a:solidFill>
                  <a:srgbClr val="7030A0"/>
                </a:solidFill>
                <a:latin typeface="Tahoma"/>
                <a:ea typeface="Tahoma"/>
                <a:cs typeface="Tahoma"/>
                <a:sym typeface="Tahoma"/>
              </a:rPr>
              <a:t>  </a:t>
            </a:r>
            <a:r>
              <a:rPr b="1" i="0" lang="en-US" sz="3145" u="none" cap="none" strike="noStrike">
                <a:solidFill>
                  <a:srgbClr val="7030A0"/>
                </a:solidFill>
                <a:latin typeface="Times New Roman"/>
                <a:ea typeface="Times New Roman"/>
                <a:cs typeface="Times New Roman"/>
                <a:sym typeface="Times New Roman"/>
              </a:rPr>
              <a:t>Mr. Tarun Sahukari (228W1A1257)</a:t>
            </a:r>
            <a:endParaRPr/>
          </a:p>
          <a:p>
            <a:pPr indent="0" lvl="0" marL="0" marR="0" rtl="0" algn="ctr">
              <a:lnSpc>
                <a:spcPct val="80000"/>
              </a:lnSpc>
              <a:spcBef>
                <a:spcPts val="629"/>
              </a:spcBef>
              <a:spcAft>
                <a:spcPts val="0"/>
              </a:spcAft>
              <a:buClr>
                <a:srgbClr val="7030A0"/>
              </a:buClr>
              <a:buSzPts val="3145"/>
              <a:buFont typeface="Arial"/>
              <a:buNone/>
            </a:pPr>
            <a:r>
              <a:rPr b="1" i="0" lang="en-US" sz="3145" u="none" cap="none" strike="noStrike">
                <a:solidFill>
                  <a:srgbClr val="7030A0"/>
                </a:solidFill>
                <a:latin typeface="Times New Roman"/>
                <a:ea typeface="Times New Roman"/>
                <a:cs typeface="Times New Roman"/>
                <a:sym typeface="Times New Roman"/>
              </a:rPr>
              <a:t>Mr. Jitin Venkata Sai Kamineni (228W1A1223)</a:t>
            </a:r>
            <a:endParaRPr/>
          </a:p>
          <a:p>
            <a:pPr indent="0" lvl="0" marL="0" marR="0" rtl="0" algn="ctr">
              <a:lnSpc>
                <a:spcPct val="80000"/>
              </a:lnSpc>
              <a:spcBef>
                <a:spcPts val="592"/>
              </a:spcBef>
              <a:spcAft>
                <a:spcPts val="0"/>
              </a:spcAft>
              <a:buClr>
                <a:srgbClr val="888888"/>
              </a:buClr>
              <a:buSzPts val="2960"/>
              <a:buFont typeface="Arial"/>
              <a:buNone/>
            </a:pPr>
            <a:r>
              <a:t/>
            </a:r>
            <a:endParaRPr b="1" i="0" sz="2960" u="none" cap="none" strike="noStrike">
              <a:solidFill>
                <a:srgbClr val="7030A0"/>
              </a:solidFill>
              <a:latin typeface="Tahoma"/>
              <a:ea typeface="Tahoma"/>
              <a:cs typeface="Tahoma"/>
              <a:sym typeface="Tahoma"/>
            </a:endParaRPr>
          </a:p>
          <a:p>
            <a:pPr indent="0" lvl="0" marL="0" marR="0" rtl="0" algn="ctr">
              <a:lnSpc>
                <a:spcPct val="80000"/>
              </a:lnSpc>
              <a:spcBef>
                <a:spcPts val="592"/>
              </a:spcBef>
              <a:spcAft>
                <a:spcPts val="0"/>
              </a:spcAft>
              <a:buClr>
                <a:srgbClr val="888888"/>
              </a:buClr>
              <a:buSzPts val="2960"/>
              <a:buFont typeface="Arial"/>
              <a:buNone/>
            </a:pPr>
            <a:r>
              <a:t/>
            </a:r>
            <a:endParaRPr b="0" i="0" sz="2960" u="none" cap="none" strike="noStrike">
              <a:solidFill>
                <a:srgbClr val="888888"/>
              </a:solidFill>
              <a:latin typeface="Arial"/>
              <a:ea typeface="Arial"/>
              <a:cs typeface="Arial"/>
              <a:sym typeface="Arial"/>
            </a:endParaRPr>
          </a:p>
        </p:txBody>
      </p:sp>
      <p:pic>
        <p:nvPicPr>
          <p:cNvPr id="86" name="Google Shape;86;p1"/>
          <p:cNvPicPr preferRelativeResize="0"/>
          <p:nvPr/>
        </p:nvPicPr>
        <p:blipFill rotWithShape="1">
          <a:blip r:embed="rId3">
            <a:alphaModFix/>
          </a:blip>
          <a:srcRect b="0" l="0" r="0" t="0"/>
          <a:stretch/>
        </p:blipFill>
        <p:spPr>
          <a:xfrm>
            <a:off x="7748" y="0"/>
            <a:ext cx="1866772" cy="1317727"/>
          </a:xfrm>
          <a:prstGeom prst="rect">
            <a:avLst/>
          </a:prstGeom>
          <a:noFill/>
          <a:ln>
            <a:noFill/>
          </a:ln>
        </p:spPr>
      </p:pic>
      <p:pic>
        <p:nvPicPr>
          <p:cNvPr descr="Image result for vrsec" id="87" name="Google Shape;87;p1"/>
          <p:cNvPicPr preferRelativeResize="0"/>
          <p:nvPr/>
        </p:nvPicPr>
        <p:blipFill rotWithShape="1">
          <a:blip r:embed="rId4">
            <a:alphaModFix/>
          </a:blip>
          <a:srcRect b="0" l="0" r="0" t="0"/>
          <a:stretch/>
        </p:blipFill>
        <p:spPr>
          <a:xfrm>
            <a:off x="10972801" y="13164"/>
            <a:ext cx="1211452" cy="1316664"/>
          </a:xfrm>
          <a:prstGeom prst="rect">
            <a:avLst/>
          </a:prstGeom>
          <a:noFill/>
          <a:ln>
            <a:noFill/>
          </a:ln>
        </p:spPr>
      </p:pic>
      <p:sp>
        <p:nvSpPr>
          <p:cNvPr id="88" name="Google Shape;88;p1"/>
          <p:cNvSpPr txBox="1"/>
          <p:nvPr/>
        </p:nvSpPr>
        <p:spPr>
          <a:xfrm>
            <a:off x="0" y="372906"/>
            <a:ext cx="12192000" cy="758857"/>
          </a:xfrm>
          <a:prstGeom prst="rect">
            <a:avLst/>
          </a:prstGeom>
          <a:noFill/>
          <a:ln>
            <a:noFill/>
          </a:ln>
        </p:spPr>
        <p:txBody>
          <a:bodyPr anchorCtr="0" anchor="t" bIns="9975" lIns="19975" spcFirstLastPara="1" rIns="19975" wrap="square" tIns="9975">
            <a:spAutoFit/>
          </a:bodyPr>
          <a:lstStyle/>
          <a:p>
            <a:pPr indent="0" lvl="0" marL="0" marR="0" rtl="0" algn="ctr">
              <a:spcBef>
                <a:spcPts val="0"/>
              </a:spcBef>
              <a:spcAft>
                <a:spcPts val="0"/>
              </a:spcAft>
              <a:buNone/>
            </a:pPr>
            <a:r>
              <a:rPr b="1" i="0" lang="en-US" sz="2400" u="none" cap="none" strike="noStrike">
                <a:solidFill>
                  <a:srgbClr val="0000FF"/>
                </a:solidFill>
                <a:latin typeface="Times New Roman"/>
                <a:ea typeface="Times New Roman"/>
                <a:cs typeface="Times New Roman"/>
                <a:sym typeface="Times New Roman"/>
              </a:rPr>
              <a:t>Department of Information Technology</a:t>
            </a:r>
            <a:endParaRPr/>
          </a:p>
          <a:p>
            <a:pPr indent="0" lvl="0" marL="0" marR="0" rtl="0" algn="ctr">
              <a:spcBef>
                <a:spcPts val="0"/>
              </a:spcBef>
              <a:spcAft>
                <a:spcPts val="0"/>
              </a:spcAft>
              <a:buNone/>
            </a:pPr>
            <a:r>
              <a:rPr b="1" i="0" lang="en-US" sz="2400" u="none" cap="none" strike="noStrike">
                <a:solidFill>
                  <a:srgbClr val="FF0000"/>
                </a:solidFill>
                <a:latin typeface="Times New Roman"/>
                <a:ea typeface="Times New Roman"/>
                <a:cs typeface="Times New Roman"/>
                <a:sym typeface="Times New Roman"/>
              </a:rPr>
              <a:t>V R Siddhartha Engineering College </a:t>
            </a:r>
            <a:endParaRPr/>
          </a:p>
        </p:txBody>
      </p:sp>
      <p:sp>
        <p:nvSpPr>
          <p:cNvPr id="89" name="Google Shape;89;p1"/>
          <p:cNvSpPr txBox="1"/>
          <p:nvPr/>
        </p:nvSpPr>
        <p:spPr>
          <a:xfrm>
            <a:off x="7748" y="2830140"/>
            <a:ext cx="1219199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B.Tech in Information Technology</a:t>
            </a:r>
            <a:endParaRPr/>
          </a:p>
          <a:p>
            <a:pPr indent="0" lvl="0" marL="0" marR="0" rtl="0" algn="ctr">
              <a:spcBef>
                <a:spcPts val="0"/>
              </a:spcBef>
              <a:spcAft>
                <a:spcPts val="0"/>
              </a:spcAft>
              <a:buNone/>
            </a:pPr>
            <a:r>
              <a:rPr b="1" i="0" lang="en-US" sz="2000" u="none" cap="none" strike="noStrike">
                <a:solidFill>
                  <a:srgbClr val="BF11A6"/>
                </a:solidFill>
                <a:latin typeface="Times New Roman"/>
                <a:ea typeface="Times New Roman"/>
                <a:cs typeface="Times New Roman"/>
                <a:sym typeface="Times New Roman"/>
              </a:rPr>
              <a:t>Major Project Review Presentation</a:t>
            </a:r>
            <a:endParaRPr/>
          </a:p>
        </p:txBody>
      </p:sp>
      <p:sp>
        <p:nvSpPr>
          <p:cNvPr id="90" name="Google Shape;90;p1"/>
          <p:cNvSpPr/>
          <p:nvPr/>
        </p:nvSpPr>
        <p:spPr>
          <a:xfrm>
            <a:off x="7748" y="5668845"/>
            <a:ext cx="12191998" cy="98488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Under the guidance of </a:t>
            </a:r>
            <a:endParaRPr/>
          </a:p>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a:t>
            </a:r>
            <a:r>
              <a:rPr b="1" i="0" lang="en-US" sz="1800" u="none" cap="none" strike="noStrike">
                <a:solidFill>
                  <a:srgbClr val="FF0000"/>
                </a:solidFill>
                <a:latin typeface="Times New Roman"/>
                <a:ea typeface="Times New Roman"/>
                <a:cs typeface="Times New Roman"/>
                <a:sym typeface="Times New Roman"/>
              </a:rPr>
              <a:t>Dr. Ramesh Mande</a:t>
            </a:r>
            <a:endParaRPr/>
          </a:p>
          <a:p>
            <a:pPr indent="0" lvl="0" marL="0" marR="0" rtl="0" algn="ctr">
              <a:spcBef>
                <a:spcPts val="0"/>
              </a:spcBef>
              <a:spcAft>
                <a:spcPts val="0"/>
              </a:spcAft>
              <a:buNone/>
            </a:pPr>
            <a:r>
              <a:rPr b="1" i="0" lang="en-US" sz="1800" u="none" cap="none" strike="noStrike">
                <a:solidFill>
                  <a:srgbClr val="FF0000"/>
                </a:solidFill>
                <a:latin typeface="Times New Roman"/>
                <a:ea typeface="Times New Roman"/>
                <a:cs typeface="Times New Roman"/>
                <a:sym typeface="Times New Roman"/>
              </a:rPr>
              <a:t>ASSISTANT PROFESSOR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28575" y="115430"/>
            <a:ext cx="12220575" cy="814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Contents </a:t>
            </a:r>
            <a:endParaRPr b="0" i="0" sz="3600" u="none" cap="none" strike="noStrike">
              <a:solidFill>
                <a:schemeClr val="dk1"/>
              </a:solidFill>
              <a:latin typeface="Times New Roman"/>
              <a:ea typeface="Times New Roman"/>
              <a:cs typeface="Times New Roman"/>
              <a:sym typeface="Times New Roman"/>
            </a:endParaRPr>
          </a:p>
        </p:txBody>
      </p:sp>
      <p:sp>
        <p:nvSpPr>
          <p:cNvPr id="96" name="Google Shape;96;p2"/>
          <p:cNvSpPr txBox="1"/>
          <p:nvPr/>
        </p:nvSpPr>
        <p:spPr>
          <a:xfrm>
            <a:off x="196278" y="1140208"/>
            <a:ext cx="11500138" cy="536135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Motivation and Problem Statement</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Objectives and Outcomes of the project</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Literature Survey</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Datasets and Requirements Specifications</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Methodology and Algorithms involved</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Architecture Diagram</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Complete Results Obtained</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Result Analysis and Observations</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Conclusion and Future Work</a:t>
            </a:r>
            <a:endParaRPr/>
          </a:p>
          <a:p>
            <a:pPr indent="-228600" lvl="0" marL="228600" marR="0" rtl="0" algn="just">
              <a:lnSpc>
                <a:spcPct val="150000"/>
              </a:lnSpc>
              <a:spcBef>
                <a:spcPts val="100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References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flipH="1">
            <a:off x="299719" y="1093067"/>
            <a:ext cx="11592561" cy="2585323"/>
          </a:xfrm>
          <a:prstGeom prst="rect">
            <a:avLst/>
          </a:prstGeom>
          <a:noFill/>
          <a:ln>
            <a:noFill/>
          </a:ln>
        </p:spPr>
        <p:txBody>
          <a:bodyPr anchorCtr="0" anchor="ctr"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Traditional waste management still depends heavily on manual sorting, which is slow, labor-intensive, and often affected by human error, making it unsuitable for handling large volumes of mixed waste efficiently. </a:t>
            </a:r>
            <a:endParaRPr b="0" i="0" sz="1800" u="none" cap="none" strike="noStrike">
              <a:solidFill>
                <a:schemeClr val="dk1"/>
              </a:solidFill>
              <a:latin typeface="Times New Roman"/>
              <a:ea typeface="Times New Roman"/>
              <a:cs typeface="Times New Roman"/>
              <a:sym typeface="Times New Roman"/>
            </a:endParaRPr>
          </a:p>
          <a:p>
            <a:pPr indent="-171450" lvl="0" marL="28575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Such limitations lead to improper segregation of recyclable and non-recyclable materials, reduce recycling efficiency, and increase environmental problems such as landfill overflow, resource wastage, and pollution. </a:t>
            </a:r>
            <a:endParaRPr/>
          </a:p>
          <a:p>
            <a:pPr indent="-171450" lvl="0" marL="28575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To overcome these issues, this project proposes a YOLOv8-based multi-class garbage detection system integrated with a Retrieval-Augmented Generation (RAG) framework to automatically identify multiple waste types from images and provide step-by-step recycling guidance for sustainable waste management </a:t>
            </a:r>
            <a:endParaRPr/>
          </a:p>
        </p:txBody>
      </p:sp>
      <p:sp>
        <p:nvSpPr>
          <p:cNvPr id="102" name="Google Shape;102;p3"/>
          <p:cNvSpPr txBox="1"/>
          <p:nvPr/>
        </p:nvSpPr>
        <p:spPr>
          <a:xfrm>
            <a:off x="0" y="0"/>
            <a:ext cx="12192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600" u="none" cap="none" strike="noStrike">
                <a:solidFill>
                  <a:schemeClr val="dk1"/>
                </a:solidFill>
                <a:latin typeface="Times New Roman"/>
                <a:ea typeface="Times New Roman"/>
                <a:cs typeface="Times New Roman"/>
                <a:sym typeface="Times New Roman"/>
              </a:rPr>
              <a:t>Motivation</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nvSpPr>
        <p:spPr>
          <a:xfrm>
            <a:off x="0" y="106681"/>
            <a:ext cx="12192000" cy="566928"/>
          </a:xfrm>
          <a:prstGeom prst="rect">
            <a:avLst/>
          </a:prstGeom>
          <a:noFill/>
          <a:ln>
            <a:noFill/>
          </a:ln>
        </p:spPr>
        <p:txBody>
          <a:bodyPr anchorCtr="0" anchor="t" bIns="45700" lIns="91425" spcFirstLastPara="1" rIns="91425" wrap="square" tIns="45700">
            <a:normAutofit lnSpcReduction="10000"/>
          </a:bodyPr>
          <a:lstStyle/>
          <a:p>
            <a:pPr indent="0" lvl="0" marL="0" marR="0" rtl="0" algn="ctr">
              <a:lnSpc>
                <a:spcPct val="9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Problem Statement</a:t>
            </a:r>
            <a:endParaRPr b="0" i="0" sz="3600" u="none" cap="none" strike="noStrike">
              <a:solidFill>
                <a:schemeClr val="dk1"/>
              </a:solidFill>
              <a:latin typeface="Play"/>
              <a:ea typeface="Play"/>
              <a:cs typeface="Play"/>
              <a:sym typeface="Play"/>
            </a:endParaRPr>
          </a:p>
        </p:txBody>
      </p:sp>
      <p:sp>
        <p:nvSpPr>
          <p:cNvPr id="108" name="Google Shape;108;p4"/>
          <p:cNvSpPr txBox="1"/>
          <p:nvPr/>
        </p:nvSpPr>
        <p:spPr>
          <a:xfrm>
            <a:off x="345567" y="1056739"/>
            <a:ext cx="11500866" cy="2616101"/>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Traditional waste management relies on manual sorting, which is often slow, labor-intensive, and prone to human error, making it inefficient for large-scale waste handling and recycling operations.</a:t>
            </a:r>
            <a:endParaRPr/>
          </a:p>
          <a:p>
            <a:pPr indent="-222250" lvl="0" marL="285750" marR="0" rtl="0" algn="just">
              <a:spcBef>
                <a:spcPts val="0"/>
              </a:spcBef>
              <a:spcAft>
                <a:spcPts val="0"/>
              </a:spcAft>
              <a:buClr>
                <a:schemeClr val="dk1"/>
              </a:buClr>
              <a:buSzPts val="1000"/>
              <a:buFont typeface="Arial"/>
              <a:buNone/>
            </a:pPr>
            <a:r>
              <a:t/>
            </a:r>
            <a:endParaRPr b="0" i="0" sz="1000" u="none" cap="none" strike="noStrike">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These limitations result in improper segregation of waste materials and reduced recycling efficiency, contributing to increased landfill accumulation, environmental pollution, and loss of reusable resources.</a:t>
            </a:r>
            <a:endParaRPr/>
          </a:p>
          <a:p>
            <a:pPr indent="-222250" lvl="0" marL="285750" marR="0" rtl="0" algn="just">
              <a:spcBef>
                <a:spcPts val="0"/>
              </a:spcBef>
              <a:spcAft>
                <a:spcPts val="0"/>
              </a:spcAft>
              <a:buClr>
                <a:schemeClr val="dk1"/>
              </a:buClr>
              <a:buSzPts val="1000"/>
              <a:buFont typeface="Arial"/>
              <a:buNone/>
            </a:pPr>
            <a:r>
              <a:t/>
            </a:r>
            <a:endParaRPr b="0" i="0" sz="1000" u="none" cap="none" strike="noStrike">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To address these challenges, this project introduces an automated multi-garbage detection system using a YOLOv8-based object detection model integrated with a Retrieval-Augmented Generation (RAG) framework. This approach enables accurate identification of multiple waste materials from images and provides step-wise recycling recommendations, promoting efficient and sustainable waste management practices.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0" y="9144"/>
            <a:ext cx="12192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Objectives and Outcomes</a:t>
            </a:r>
            <a:endParaRPr/>
          </a:p>
        </p:txBody>
      </p:sp>
      <p:graphicFrame>
        <p:nvGraphicFramePr>
          <p:cNvPr id="114" name="Google Shape;114;p5"/>
          <p:cNvGraphicFramePr/>
          <p:nvPr/>
        </p:nvGraphicFramePr>
        <p:xfrm>
          <a:off x="563302" y="989313"/>
          <a:ext cx="3000000" cy="3000000"/>
        </p:xfrm>
        <a:graphic>
          <a:graphicData uri="http://schemas.openxmlformats.org/drawingml/2006/table">
            <a:tbl>
              <a:tblPr bandRow="1" firstRow="1">
                <a:noFill/>
                <a:tableStyleId>{A86C7239-20D5-4E41-A8C9-6DEBA1776041}</a:tableStyleId>
              </a:tblPr>
              <a:tblGrid>
                <a:gridCol w="5532700"/>
                <a:gridCol w="5532700"/>
              </a:tblGrid>
              <a:tr h="459900">
                <a:tc>
                  <a:txBody>
                    <a:bodyPr/>
                    <a:lstStyle/>
                    <a:p>
                      <a:pPr indent="0" lvl="0" marL="0" marR="0" rtl="0" algn="just">
                        <a:spcBef>
                          <a:spcPts val="0"/>
                        </a:spcBef>
                        <a:spcAft>
                          <a:spcPts val="0"/>
                        </a:spcAft>
                        <a:buNone/>
                      </a:pPr>
                      <a:r>
                        <a:rPr b="1" lang="en-US" sz="1800" u="none" cap="none" strike="noStrike">
                          <a:latin typeface="Times New Roman"/>
                          <a:ea typeface="Times New Roman"/>
                          <a:cs typeface="Times New Roman"/>
                          <a:sym typeface="Times New Roman"/>
                        </a:rPr>
                        <a:t> OBJECTIVES</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800" u="none" cap="none" strike="noStrike">
                          <a:latin typeface="Times New Roman"/>
                          <a:ea typeface="Times New Roman"/>
                          <a:cs typeface="Times New Roman"/>
                          <a:sym typeface="Times New Roman"/>
                        </a:rPr>
                        <a:t>OUTCOMES</a:t>
                      </a:r>
                      <a:endParaRPr b="1" sz="1800" u="none" cap="none" strike="noStrike">
                        <a:latin typeface="Times New Roman"/>
                        <a:ea typeface="Times New Roman"/>
                        <a:cs typeface="Times New Roman"/>
                        <a:sym typeface="Times New Roman"/>
                      </a:endParaRPr>
                    </a:p>
                  </a:txBody>
                  <a:tcPr marT="45725" marB="45725" marR="91450" marL="91450"/>
                </a:tc>
              </a:tr>
              <a:tr h="1021000">
                <a:tc>
                  <a:txBody>
                    <a:bodyPr/>
                    <a:lstStyle/>
                    <a:p>
                      <a:pPr indent="0" lvl="0" marL="0" marR="0" rtl="0" algn="just">
                        <a:spcBef>
                          <a:spcPts val="0"/>
                        </a:spcBef>
                        <a:spcAft>
                          <a:spcPts val="0"/>
                        </a:spcAft>
                        <a:buNone/>
                      </a:pPr>
                      <a:r>
                        <a:rPr b="0" lang="en-US" sz="1800" u="none" cap="none" strike="noStrike">
                          <a:latin typeface="Times New Roman"/>
                          <a:ea typeface="Times New Roman"/>
                          <a:cs typeface="Times New Roman"/>
                          <a:sym typeface="Times New Roman"/>
                        </a:rPr>
                        <a:t>Train a YOLOv8 model to accurately detect and localize multiple waste categories from a single image.</a:t>
                      </a:r>
                      <a:endParaRPr b="0"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A robust multi-class waste detection model capable of identifying multiple materials in mixed garbage images.</a:t>
                      </a:r>
                      <a:endParaRPr sz="1800">
                        <a:latin typeface="Times New Roman"/>
                        <a:ea typeface="Times New Roman"/>
                        <a:cs typeface="Times New Roman"/>
                        <a:sym typeface="Times New Roman"/>
                      </a:endParaRPr>
                    </a:p>
                  </a:txBody>
                  <a:tcPr marT="45725" marB="45725" marR="91450" marL="91450"/>
                </a:tc>
              </a:tr>
              <a:tr h="1021000">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Develop a web interface that allows users to upload images and view detected waste types with bounding boxes and confidence scores.</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A functional end-to-end application that visually displays detection results through an interactive upload interface.</a:t>
                      </a:r>
                      <a:endParaRPr sz="1800">
                        <a:latin typeface="Times New Roman"/>
                        <a:ea typeface="Times New Roman"/>
                        <a:cs typeface="Times New Roman"/>
                        <a:sym typeface="Times New Roman"/>
                      </a:endParaRPr>
                    </a:p>
                  </a:txBody>
                  <a:tcPr marT="45725" marB="45725" marR="91450" marL="91450"/>
                </a:tc>
              </a:tr>
              <a:tr h="1021000">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Integrate a RAG-based module to provide material-specific recycling instructions based on detected waste classes.</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Context-aware recycling guidance generated using RAG for accurate and material-specific disposal recommendations.</a:t>
                      </a:r>
                      <a:endParaRPr sz="1800">
                        <a:latin typeface="Times New Roman"/>
                        <a:ea typeface="Times New Roman"/>
                        <a:cs typeface="Times New Roman"/>
                        <a:sym typeface="Times New Roman"/>
                      </a:endParaRPr>
                    </a:p>
                  </a:txBody>
                  <a:tcPr marT="45725" marB="45725" marR="91450" marL="91450"/>
                </a:tc>
              </a:tr>
              <a:tr h="1021000">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Generate a structured output report summarizing detected item counts and recommended recycling steps for each category.</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800">
                          <a:latin typeface="Times New Roman"/>
                          <a:ea typeface="Times New Roman"/>
                          <a:cs typeface="Times New Roman"/>
                          <a:sym typeface="Times New Roman"/>
                        </a:rPr>
                        <a:t>A structured recycling summary that enhances user awareness and promotes proper waste segregation practices.</a:t>
                      </a:r>
                      <a:endParaRPr/>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nvSpPr>
        <p:spPr>
          <a:xfrm>
            <a:off x="0" y="9144"/>
            <a:ext cx="12192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Literature Survey </a:t>
            </a:r>
            <a:endParaRPr/>
          </a:p>
        </p:txBody>
      </p:sp>
      <p:graphicFrame>
        <p:nvGraphicFramePr>
          <p:cNvPr id="120" name="Google Shape;120;p6"/>
          <p:cNvGraphicFramePr/>
          <p:nvPr/>
        </p:nvGraphicFramePr>
        <p:xfrm>
          <a:off x="214885" y="719667"/>
          <a:ext cx="3000000" cy="3000000"/>
        </p:xfrm>
        <a:graphic>
          <a:graphicData uri="http://schemas.openxmlformats.org/drawingml/2006/table">
            <a:tbl>
              <a:tblPr bandRow="1" firstRow="1">
                <a:noFill/>
                <a:tableStyleId>{A86C7239-20D5-4E41-A8C9-6DEBA1776041}</a:tableStyleId>
              </a:tblPr>
              <a:tblGrid>
                <a:gridCol w="659525"/>
                <a:gridCol w="2826150"/>
                <a:gridCol w="2193025"/>
                <a:gridCol w="2994300"/>
                <a:gridCol w="3089250"/>
              </a:tblGrid>
              <a:tr h="494550">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S.NO</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PUBLICATION</a:t>
                      </a:r>
                      <a:r>
                        <a:rPr b="1" lang="en-US" sz="1500">
                          <a:latin typeface="Times New Roman"/>
                          <a:ea typeface="Times New Roman"/>
                          <a:cs typeface="Times New Roman"/>
                          <a:sym typeface="Times New Roman"/>
                        </a:rPr>
                        <a:t> DETAILS</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DATASETS</a:t>
                      </a:r>
                      <a:r>
                        <a:rPr b="1" lang="en-US" sz="1500">
                          <a:latin typeface="Times New Roman"/>
                          <a:ea typeface="Times New Roman"/>
                          <a:cs typeface="Times New Roman"/>
                          <a:sym typeface="Times New Roman"/>
                        </a:rPr>
                        <a:t> USED</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ALGORITHMS USED AND RESULTS </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chemeClr val="dk1"/>
                        </a:buClr>
                        <a:buSzPts val="1500"/>
                        <a:buFont typeface="Times New Roman"/>
                        <a:buNone/>
                      </a:pPr>
                      <a:r>
                        <a:rPr b="1" lang="en-US" sz="1500">
                          <a:latin typeface="Times New Roman"/>
                          <a:ea typeface="Times New Roman"/>
                          <a:cs typeface="Times New Roman"/>
                          <a:sym typeface="Times New Roman"/>
                        </a:rPr>
                        <a:t>REMARKS</a:t>
                      </a:r>
                      <a:endParaRPr b="1" sz="1500">
                        <a:latin typeface="Times New Roman"/>
                        <a:ea typeface="Times New Roman"/>
                        <a:cs typeface="Times New Roman"/>
                        <a:sym typeface="Times New Roman"/>
                      </a:endParaRPr>
                    </a:p>
                  </a:txBody>
                  <a:tcPr marT="45725" marB="45725" marR="91450" marL="91450"/>
                </a:tc>
              </a:tr>
              <a:tr h="3159600">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1.</a:t>
                      </a:r>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Title:</a:t>
                      </a:r>
                      <a:r>
                        <a:rPr lang="en-US" sz="1400">
                          <a:latin typeface="Times New Roman"/>
                          <a:ea typeface="Times New Roman"/>
                          <a:cs typeface="Times New Roman"/>
                          <a:sym typeface="Times New Roman"/>
                        </a:rPr>
                        <a:t> Enhanced YOLOv8-Seg Instance Segmentation for Real-Time Submerged Debris Detection</a:t>
                      </a:r>
                      <a:endParaRPr/>
                    </a:p>
                    <a:p>
                      <a:pPr indent="0" lvl="0" marL="0" marR="0" rtl="0" algn="just">
                        <a:spcBef>
                          <a:spcPts val="0"/>
                        </a:spcBef>
                        <a:spcAft>
                          <a:spcPts val="0"/>
                        </a:spcAft>
                        <a:buNone/>
                      </a:pPr>
                      <a:r>
                        <a:rPr b="1" lang="en-US" sz="1400">
                          <a:latin typeface="Times New Roman"/>
                          <a:ea typeface="Times New Roman"/>
                          <a:cs typeface="Times New Roman"/>
                          <a:sym typeface="Times New Roman"/>
                        </a:rPr>
                        <a:t>Authors:</a:t>
                      </a:r>
                      <a:r>
                        <a:rPr lang="en-US" sz="1400">
                          <a:latin typeface="Times New Roman"/>
                          <a:ea typeface="Times New Roman"/>
                          <a:cs typeface="Times New Roman"/>
                          <a:sym typeface="Times New Roman"/>
                        </a:rPr>
                        <a:t> Amjad A. Alsuwaylimi</a:t>
                      </a:r>
                      <a:endParaRPr sz="1400">
                        <a:latin typeface="Times New Roman"/>
                        <a:ea typeface="Times New Roman"/>
                        <a:cs typeface="Times New Roman"/>
                        <a:sym typeface="Times New Roman"/>
                      </a:endParaRPr>
                    </a:p>
                    <a:p>
                      <a:pPr indent="0" lvl="0" marL="0" marR="0" rtl="0" algn="just">
                        <a:spcBef>
                          <a:spcPts val="0"/>
                        </a:spcBef>
                        <a:spcAft>
                          <a:spcPts val="0"/>
                        </a:spcAft>
                        <a:buNone/>
                      </a:pPr>
                      <a:r>
                        <a:rPr b="1" lang="en-US" sz="1400">
                          <a:latin typeface="Times New Roman"/>
                          <a:ea typeface="Times New Roman"/>
                          <a:cs typeface="Times New Roman"/>
                          <a:sym typeface="Times New Roman"/>
                        </a:rPr>
                        <a:t>Publication Year:</a:t>
                      </a:r>
                      <a:r>
                        <a:rPr lang="en-US" sz="1400">
                          <a:latin typeface="Times New Roman"/>
                          <a:ea typeface="Times New Roman"/>
                          <a:cs typeface="Times New Roman"/>
                          <a:sym typeface="Times New Roman"/>
                        </a:rPr>
                        <a:t> 2024</a:t>
                      </a:r>
                      <a:endParaRPr/>
                    </a:p>
                    <a:p>
                      <a:pPr indent="0" lvl="0" marL="0" marR="0" rtl="0" algn="just">
                        <a:spcBef>
                          <a:spcPts val="0"/>
                        </a:spcBef>
                        <a:spcAft>
                          <a:spcPts val="0"/>
                        </a:spcAft>
                        <a:buNone/>
                      </a:pPr>
                      <a:r>
                        <a:rPr b="1" lang="en-US" sz="1400">
                          <a:latin typeface="Times New Roman"/>
                          <a:ea typeface="Times New Roman"/>
                          <a:cs typeface="Times New Roman"/>
                          <a:sym typeface="Times New Roman"/>
                        </a:rPr>
                        <a:t>Type:</a:t>
                      </a:r>
                      <a:r>
                        <a:rPr lang="en-US" sz="1400">
                          <a:latin typeface="Times New Roman"/>
                          <a:ea typeface="Times New Roman"/>
                          <a:cs typeface="Times New Roman"/>
                          <a:sym typeface="Times New Roman"/>
                        </a:rPr>
                        <a:t> IEEE Access, Vol. 12, pp. 117833–117849, DOI: 10.1109/ACCESS.2024.3448258</a:t>
                      </a:r>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TrashCan dataset, an underwater waste instance-segmentation dataset with </a:t>
                      </a:r>
                      <a:r>
                        <a:rPr b="1" lang="en-US" sz="1400">
                          <a:latin typeface="Times New Roman"/>
                          <a:ea typeface="Times New Roman"/>
                          <a:cs typeface="Times New Roman"/>
                          <a:sym typeface="Times New Roman"/>
                        </a:rPr>
                        <a:t>7,212 annotated images</a:t>
                      </a:r>
                      <a:r>
                        <a:rPr lang="en-US" sz="1400">
                          <a:latin typeface="Times New Roman"/>
                          <a:ea typeface="Times New Roman"/>
                          <a:cs typeface="Times New Roman"/>
                          <a:sym typeface="Times New Roman"/>
                        </a:rPr>
                        <a:t>, designed for submerged debris and marine trash detection in underwater environments</a:t>
                      </a:r>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Algorithms:</a:t>
                      </a:r>
                      <a:r>
                        <a:rPr b="0" lang="en-US" sz="1400">
                          <a:latin typeface="Times New Roman"/>
                          <a:ea typeface="Times New Roman"/>
                          <a:cs typeface="Times New Roman"/>
                          <a:sym typeface="Times New Roman"/>
                        </a:rPr>
                        <a:t> Enhanced YOLOv8-Seg models, particularly the YOLOv8 baseline, were used for real-time underwater debris detection and instance segmentation.</a:t>
                      </a:r>
                      <a:endParaRPr/>
                    </a:p>
                    <a:p>
                      <a:pPr indent="0" lvl="0" marL="0" marR="0" rtl="0" algn="just">
                        <a:spcBef>
                          <a:spcPts val="0"/>
                        </a:spcBef>
                        <a:spcAft>
                          <a:spcPts val="0"/>
                        </a:spcAft>
                        <a:buNone/>
                      </a:pPr>
                      <a:r>
                        <a:rPr b="1" lang="en-US" sz="1400">
                          <a:latin typeface="Times New Roman"/>
                          <a:ea typeface="Times New Roman"/>
                          <a:cs typeface="Times New Roman"/>
                          <a:sym typeface="Times New Roman"/>
                        </a:rPr>
                        <a:t>Result:</a:t>
                      </a:r>
                      <a:r>
                        <a:rPr b="0" lang="en-US" sz="1400">
                          <a:latin typeface="Times New Roman"/>
                          <a:ea typeface="Times New Roman"/>
                          <a:cs typeface="Times New Roman"/>
                          <a:sym typeface="Times New Roman"/>
                        </a:rPr>
                        <a:t> The YOLOv8 baseline achieved Precision = 54.5%, Recall = 39.3%, and mAP@50 = 45.8% for submerged debris detection.</a:t>
                      </a:r>
                      <a:r>
                        <a:rPr lang="en-US" sz="1400">
                          <a:latin typeface="Times New Roman"/>
                          <a:ea typeface="Times New Roman"/>
                          <a:cs typeface="Times New Roman"/>
                          <a:sym typeface="Times New Roman"/>
                        </a:rPr>
                        <a:t> </a:t>
                      </a:r>
                      <a:endParaRPr/>
                    </a:p>
                    <a:p>
                      <a:pPr indent="0" lvl="0" marL="0" marR="0" rtl="0" algn="just">
                        <a:spcBef>
                          <a:spcPts val="0"/>
                        </a:spcBef>
                        <a:spcAft>
                          <a:spcPts val="0"/>
                        </a:spcAft>
                        <a:buNone/>
                      </a:pPr>
                      <a:r>
                        <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While the model performs fairly well for underwater debris detection, its scope is restricted to a specific aquatic environment and its recall remains limited. The system only detects debris and does not assist the user with recycling or disposal actions. In contrast, the proposed project is more application-oriented because it not only detects multiple waste categories but also generates step-by-step recycling guidance, thereby extending the work from simple detection to intelligent waste management support.</a:t>
                      </a:r>
                      <a:endParaRPr sz="1400">
                        <a:latin typeface="Times New Roman"/>
                        <a:ea typeface="Times New Roman"/>
                        <a:cs typeface="Times New Roman"/>
                        <a:sym typeface="Times New Roman"/>
                      </a:endParaRPr>
                    </a:p>
                  </a:txBody>
                  <a:tcPr marT="45725" marB="45725" marR="91450" marL="91450"/>
                </a:tc>
              </a:tr>
              <a:tr h="2005650">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2.</a:t>
                      </a:r>
                      <a:endParaRPr/>
                    </a:p>
                    <a:p>
                      <a:pPr indent="0" lvl="0" marL="0" marR="0" rtl="0" algn="just">
                        <a:spcBef>
                          <a:spcPts val="0"/>
                        </a:spcBef>
                        <a:spcAft>
                          <a:spcPts val="0"/>
                        </a:spcAft>
                        <a:buNone/>
                      </a:pPr>
                      <a:r>
                        <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Title:</a:t>
                      </a:r>
                      <a:r>
                        <a:rPr lang="en-US" sz="1400">
                          <a:latin typeface="Times New Roman"/>
                          <a:ea typeface="Times New Roman"/>
                          <a:cs typeface="Times New Roman"/>
                          <a:sym typeface="Times New Roman"/>
                        </a:rPr>
                        <a:t> Contamination Detection from Highly Cluttered Waste Scenes using Computer Vision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Authors:</a:t>
                      </a:r>
                      <a:r>
                        <a:rPr lang="en-US" sz="1400">
                          <a:latin typeface="Times New Roman"/>
                          <a:ea typeface="Times New Roman"/>
                          <a:cs typeface="Times New Roman"/>
                          <a:sym typeface="Times New Roman"/>
                        </a:rPr>
                        <a:t> Dishant Mewada, Cathaoir Agnew, Eoin M. Grua, Ciarán Eising.</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Publication Year:</a:t>
                      </a:r>
                      <a:r>
                        <a:rPr lang="en-US" sz="1400">
                          <a:latin typeface="Times New Roman"/>
                          <a:ea typeface="Times New Roman"/>
                          <a:cs typeface="Times New Roman"/>
                          <a:sym typeface="Times New Roman"/>
                        </a:rPr>
                        <a:t> 2024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Type:</a:t>
                      </a:r>
                      <a:r>
                        <a:rPr lang="en-US" sz="1400">
                          <a:latin typeface="Times New Roman"/>
                          <a:ea typeface="Times New Roman"/>
                          <a:cs typeface="Times New Roman"/>
                          <a:sym typeface="Times New Roman"/>
                        </a:rPr>
                        <a:t> IEEE Access</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Custom dataset of recycling waste collected from waste collection trucks and annotated for contamination detection</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chemeClr val="dk1"/>
                        </a:buClr>
                        <a:buSzPts val="1400"/>
                        <a:buFont typeface="Times New Roman"/>
                        <a:buNone/>
                      </a:pPr>
                      <a:r>
                        <a:rPr b="1" lang="en-US" sz="1400">
                          <a:latin typeface="Times New Roman"/>
                          <a:ea typeface="Times New Roman"/>
                          <a:cs typeface="Times New Roman"/>
                          <a:sym typeface="Times New Roman"/>
                        </a:rPr>
                        <a:t>Algorithms:</a:t>
                      </a:r>
                      <a:r>
                        <a:rPr lang="en-US" sz="1400">
                          <a:latin typeface="Times New Roman"/>
                          <a:ea typeface="Times New Roman"/>
                          <a:cs typeface="Times New Roman"/>
                          <a:sym typeface="Times New Roman"/>
                        </a:rPr>
                        <a:t> YOLOv8, Faster-RCNN, Cascade-RCNN, RetinaNet, Transfer Learning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Result:</a:t>
                      </a:r>
                      <a:r>
                        <a:rPr lang="en-US" sz="1400">
                          <a:latin typeface="Times New Roman"/>
                          <a:ea typeface="Times New Roman"/>
                          <a:cs typeface="Times New Roman"/>
                          <a:sym typeface="Times New Roman"/>
                        </a:rPr>
                        <a:t> Achieved high mean average precision (mAP) for detecting contamination in dense waste scenes and demonstrated the effectiveness of YOLOv8 in complex real-world environments.</a:t>
                      </a:r>
                      <a:endParaRPr/>
                    </a:p>
                    <a:p>
                      <a:pPr indent="0" lvl="0" marL="0" marR="0" rtl="0" algn="just">
                        <a:spcBef>
                          <a:spcPts val="0"/>
                        </a:spcBef>
                        <a:spcAft>
                          <a:spcPts val="0"/>
                        </a:spcAft>
                        <a:buNone/>
                      </a:pPr>
                      <a:r>
                        <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Although the system performs well for contamination detection in dense waste environments, it mainly focuses on identifying contaminated materials rather than providing recycling guidance. The model requires specialized annotated datasets collected from trucks, which may limit reproducibility and scalability for general waste classification systems.</a:t>
                      </a:r>
                      <a:endParaRPr sz="14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nvSpPr>
        <p:spPr>
          <a:xfrm>
            <a:off x="0" y="-36576"/>
            <a:ext cx="12192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Literature Survey </a:t>
            </a:r>
            <a:endParaRPr/>
          </a:p>
        </p:txBody>
      </p:sp>
      <p:graphicFrame>
        <p:nvGraphicFramePr>
          <p:cNvPr id="126" name="Google Shape;126;p7"/>
          <p:cNvGraphicFramePr/>
          <p:nvPr/>
        </p:nvGraphicFramePr>
        <p:xfrm>
          <a:off x="83820" y="551998"/>
          <a:ext cx="3000000" cy="3000000"/>
        </p:xfrm>
        <a:graphic>
          <a:graphicData uri="http://schemas.openxmlformats.org/drawingml/2006/table">
            <a:tbl>
              <a:tblPr bandRow="1" firstRow="1">
                <a:noFill/>
                <a:tableStyleId>{A86C7239-20D5-4E41-A8C9-6DEBA1776041}</a:tableStyleId>
              </a:tblPr>
              <a:tblGrid>
                <a:gridCol w="640075"/>
                <a:gridCol w="2670925"/>
                <a:gridCol w="1857250"/>
                <a:gridCol w="3095400"/>
                <a:gridCol w="3760700"/>
              </a:tblGrid>
              <a:tr h="516875">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S.NO</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PUBLICATION</a:t>
                      </a:r>
                      <a:r>
                        <a:rPr b="1" lang="en-US" sz="1500">
                          <a:latin typeface="Times New Roman"/>
                          <a:ea typeface="Times New Roman"/>
                          <a:cs typeface="Times New Roman"/>
                          <a:sym typeface="Times New Roman"/>
                        </a:rPr>
                        <a:t> DETAILS</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DATASETS</a:t>
                      </a:r>
                      <a:r>
                        <a:rPr b="1" lang="en-US" sz="1500">
                          <a:latin typeface="Times New Roman"/>
                          <a:ea typeface="Times New Roman"/>
                          <a:cs typeface="Times New Roman"/>
                          <a:sym typeface="Times New Roman"/>
                        </a:rPr>
                        <a:t> USED</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500">
                          <a:latin typeface="Times New Roman"/>
                          <a:ea typeface="Times New Roman"/>
                          <a:cs typeface="Times New Roman"/>
                          <a:sym typeface="Times New Roman"/>
                        </a:rPr>
                        <a:t>ALGORITHMS USED AND RESULTS </a:t>
                      </a:r>
                      <a:endParaRPr b="1" sz="1500">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chemeClr val="dk1"/>
                        </a:buClr>
                        <a:buSzPts val="1500"/>
                        <a:buFont typeface="Times New Roman"/>
                        <a:buNone/>
                      </a:pPr>
                      <a:r>
                        <a:rPr b="1" lang="en-US" sz="1500">
                          <a:latin typeface="Times New Roman"/>
                          <a:ea typeface="Times New Roman"/>
                          <a:cs typeface="Times New Roman"/>
                          <a:sym typeface="Times New Roman"/>
                        </a:rPr>
                        <a:t>REMARKS</a:t>
                      </a:r>
                      <a:endParaRPr b="1" sz="1500">
                        <a:latin typeface="Times New Roman"/>
                        <a:ea typeface="Times New Roman"/>
                        <a:cs typeface="Times New Roman"/>
                        <a:sym typeface="Times New Roman"/>
                      </a:endParaRPr>
                    </a:p>
                  </a:txBody>
                  <a:tcPr marT="45725" marB="45725" marR="91450" marL="91450"/>
                </a:tc>
              </a:tr>
              <a:tr h="1895175">
                <a:tc>
                  <a:txBody>
                    <a:bodyPr/>
                    <a:lstStyle/>
                    <a:p>
                      <a:pPr indent="0" lvl="0" marL="0" marR="0" rtl="0" algn="just">
                        <a:spcBef>
                          <a:spcPts val="0"/>
                        </a:spcBef>
                        <a:spcAft>
                          <a:spcPts val="0"/>
                        </a:spcAft>
                        <a:buNone/>
                      </a:pPr>
                      <a:r>
                        <a:rPr b="0" lang="en-US" sz="1400">
                          <a:solidFill>
                            <a:schemeClr val="dk1"/>
                          </a:solidFill>
                          <a:latin typeface="Times New Roman"/>
                          <a:ea typeface="Times New Roman"/>
                          <a:cs typeface="Times New Roman"/>
                          <a:sym typeface="Times New Roman"/>
                        </a:rPr>
                        <a:t>3.</a:t>
                      </a:r>
                      <a:endParaRPr/>
                    </a:p>
                  </a:txBody>
                  <a:tcPr marT="45725" marB="45725" marR="91450" marL="91450"/>
                </a:tc>
                <a:tc>
                  <a:txBody>
                    <a:bodyPr/>
                    <a:lstStyle/>
                    <a:p>
                      <a:pPr indent="0" lvl="0" marL="0" marR="0" rtl="0" algn="just">
                        <a:spcBef>
                          <a:spcPts val="0"/>
                        </a:spcBef>
                        <a:spcAft>
                          <a:spcPts val="0"/>
                        </a:spcAft>
                        <a:buNone/>
                      </a:pPr>
                      <a:r>
                        <a:rPr b="1" lang="en-US" sz="1400">
                          <a:solidFill>
                            <a:schemeClr val="dk1"/>
                          </a:solidFill>
                          <a:latin typeface="Times New Roman"/>
                          <a:ea typeface="Times New Roman"/>
                          <a:cs typeface="Times New Roman"/>
                          <a:sym typeface="Times New Roman"/>
                        </a:rPr>
                        <a:t>Title:</a:t>
                      </a:r>
                      <a:r>
                        <a:rPr b="0" lang="en-US" sz="1400">
                          <a:solidFill>
                            <a:schemeClr val="dk1"/>
                          </a:solidFill>
                          <a:latin typeface="Times New Roman"/>
                          <a:ea typeface="Times New Roman"/>
                          <a:cs typeface="Times New Roman"/>
                          <a:sym typeface="Times New Roman"/>
                        </a:rPr>
                        <a:t> YOLOv8-based Waste Detection System for Recycling Plants: A Deep Learning Approach </a:t>
                      </a:r>
                      <a:br>
                        <a:rPr b="0" lang="en-US" sz="1400">
                          <a:solidFill>
                            <a:schemeClr val="dk1"/>
                          </a:solidFill>
                          <a:latin typeface="Times New Roman"/>
                          <a:ea typeface="Times New Roman"/>
                          <a:cs typeface="Times New Roman"/>
                          <a:sym typeface="Times New Roman"/>
                        </a:rPr>
                      </a:br>
                      <a:r>
                        <a:rPr b="1" lang="en-US" sz="1400">
                          <a:solidFill>
                            <a:schemeClr val="dk1"/>
                          </a:solidFill>
                          <a:latin typeface="Times New Roman"/>
                          <a:ea typeface="Times New Roman"/>
                          <a:cs typeface="Times New Roman"/>
                          <a:sym typeface="Times New Roman"/>
                        </a:rPr>
                        <a:t>Authors</a:t>
                      </a:r>
                      <a:r>
                        <a:rPr b="0" lang="en-US" sz="1400">
                          <a:solidFill>
                            <a:schemeClr val="dk1"/>
                          </a:solidFill>
                          <a:latin typeface="Times New Roman"/>
                          <a:ea typeface="Times New Roman"/>
                          <a:cs typeface="Times New Roman"/>
                          <a:sym typeface="Times New Roman"/>
                        </a:rPr>
                        <a:t>: Meet Shroff, Anshul Desai, and Devansh Garg </a:t>
                      </a:r>
                      <a:br>
                        <a:rPr b="0" lang="en-US" sz="1400">
                          <a:solidFill>
                            <a:schemeClr val="dk1"/>
                          </a:solidFill>
                          <a:latin typeface="Times New Roman"/>
                          <a:ea typeface="Times New Roman"/>
                          <a:cs typeface="Times New Roman"/>
                          <a:sym typeface="Times New Roman"/>
                        </a:rPr>
                      </a:br>
                      <a:r>
                        <a:rPr b="1" lang="en-US" sz="1400">
                          <a:solidFill>
                            <a:schemeClr val="dk1"/>
                          </a:solidFill>
                          <a:latin typeface="Times New Roman"/>
                          <a:ea typeface="Times New Roman"/>
                          <a:cs typeface="Times New Roman"/>
                          <a:sym typeface="Times New Roman"/>
                        </a:rPr>
                        <a:t>Publication Year:</a:t>
                      </a:r>
                      <a:r>
                        <a:rPr b="0" lang="en-US" sz="1400">
                          <a:solidFill>
                            <a:schemeClr val="dk1"/>
                          </a:solidFill>
                          <a:latin typeface="Times New Roman"/>
                          <a:ea typeface="Times New Roman"/>
                          <a:cs typeface="Times New Roman"/>
                          <a:sym typeface="Times New Roman"/>
                        </a:rPr>
                        <a:t> 2023 </a:t>
                      </a:r>
                      <a:br>
                        <a:rPr b="0" lang="en-US" sz="1400">
                          <a:solidFill>
                            <a:schemeClr val="dk1"/>
                          </a:solidFill>
                          <a:latin typeface="Times New Roman"/>
                          <a:ea typeface="Times New Roman"/>
                          <a:cs typeface="Times New Roman"/>
                          <a:sym typeface="Times New Roman"/>
                        </a:rPr>
                      </a:br>
                      <a:r>
                        <a:rPr b="1" lang="en-US" sz="1400">
                          <a:solidFill>
                            <a:schemeClr val="dk1"/>
                          </a:solidFill>
                          <a:latin typeface="Times New Roman"/>
                          <a:ea typeface="Times New Roman"/>
                          <a:cs typeface="Times New Roman"/>
                          <a:sym typeface="Times New Roman"/>
                        </a:rPr>
                        <a:t>Type:</a:t>
                      </a:r>
                      <a:r>
                        <a:rPr b="0" lang="en-US" sz="1400">
                          <a:solidFill>
                            <a:schemeClr val="dk1"/>
                          </a:solidFill>
                          <a:latin typeface="Times New Roman"/>
                          <a:ea typeface="Times New Roman"/>
                          <a:cs typeface="Times New Roman"/>
                          <a:sym typeface="Times New Roman"/>
                        </a:rPr>
                        <a:t> IEEE ICSSAS Conference</a:t>
                      </a:r>
                      <a:endParaRPr b="0" sz="1400">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chemeClr val="dk1"/>
                        </a:buClr>
                        <a:buSzPts val="1400"/>
                        <a:buFont typeface="Times New Roman"/>
                        <a:buNone/>
                      </a:pPr>
                      <a:r>
                        <a:rPr b="0" lang="en-US" sz="1400">
                          <a:solidFill>
                            <a:schemeClr val="dk1"/>
                          </a:solidFill>
                          <a:latin typeface="Times New Roman"/>
                          <a:ea typeface="Times New Roman"/>
                          <a:cs typeface="Times New Roman"/>
                          <a:sym typeface="Times New Roman"/>
                        </a:rPr>
                        <a:t>Waste Recycling Plant (WaRP) dataset consisting of industrial conveyor belt waste images</a:t>
                      </a:r>
                      <a:endParaRPr b="0" sz="1400">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400">
                          <a:solidFill>
                            <a:schemeClr val="dk1"/>
                          </a:solidFill>
                          <a:latin typeface="Times New Roman"/>
                          <a:ea typeface="Times New Roman"/>
                          <a:cs typeface="Times New Roman"/>
                          <a:sym typeface="Times New Roman"/>
                        </a:rPr>
                        <a:t>Algorithms:</a:t>
                      </a:r>
                      <a:r>
                        <a:rPr b="0" lang="en-US" sz="1400">
                          <a:solidFill>
                            <a:schemeClr val="dk1"/>
                          </a:solidFill>
                          <a:latin typeface="Times New Roman"/>
                          <a:ea typeface="Times New Roman"/>
                          <a:cs typeface="Times New Roman"/>
                          <a:sym typeface="Times New Roman"/>
                        </a:rPr>
                        <a:t> YOLOv8m, Convolutional Neural Networks (CNNs), Data Augmentation </a:t>
                      </a:r>
                      <a:br>
                        <a:rPr b="0" lang="en-US" sz="1400">
                          <a:solidFill>
                            <a:schemeClr val="dk1"/>
                          </a:solidFill>
                          <a:latin typeface="Times New Roman"/>
                          <a:ea typeface="Times New Roman"/>
                          <a:cs typeface="Times New Roman"/>
                          <a:sym typeface="Times New Roman"/>
                        </a:rPr>
                      </a:br>
                      <a:r>
                        <a:rPr b="1" lang="en-US" sz="1400">
                          <a:solidFill>
                            <a:schemeClr val="dk1"/>
                          </a:solidFill>
                          <a:latin typeface="Times New Roman"/>
                          <a:ea typeface="Times New Roman"/>
                          <a:cs typeface="Times New Roman"/>
                          <a:sym typeface="Times New Roman"/>
                        </a:rPr>
                        <a:t>Result:</a:t>
                      </a:r>
                      <a:r>
                        <a:rPr b="0" lang="en-US" sz="1400">
                          <a:solidFill>
                            <a:schemeClr val="dk1"/>
                          </a:solidFill>
                          <a:latin typeface="Times New Roman"/>
                          <a:ea typeface="Times New Roman"/>
                          <a:cs typeface="Times New Roman"/>
                          <a:sym typeface="Times New Roman"/>
                        </a:rPr>
                        <a:t> Achieved 93.41% mAP@0.5, demonstrating strong performance in detecting and classifying multiple waste categories under varying environmental conditions.</a:t>
                      </a:r>
                      <a:endParaRPr/>
                    </a:p>
                  </a:txBody>
                  <a:tcPr marT="45725" marB="45725" marR="91450" marL="91450"/>
                </a:tc>
                <a:tc>
                  <a:txBody>
                    <a:bodyPr/>
                    <a:lstStyle/>
                    <a:p>
                      <a:pPr indent="0" lvl="0" marL="0" marR="0" rtl="0" algn="just">
                        <a:spcBef>
                          <a:spcPts val="0"/>
                        </a:spcBef>
                        <a:spcAft>
                          <a:spcPts val="0"/>
                        </a:spcAft>
                        <a:buNone/>
                      </a:pPr>
                      <a:r>
                        <a:rPr b="0" lang="en-US" sz="1400">
                          <a:solidFill>
                            <a:schemeClr val="dk1"/>
                          </a:solidFill>
                          <a:latin typeface="Times New Roman"/>
                          <a:ea typeface="Times New Roman"/>
                          <a:cs typeface="Times New Roman"/>
                          <a:sym typeface="Times New Roman"/>
                        </a:rPr>
                        <a:t>While the system achieves high classification accuracy, the dataset size is relatively small (~900 images), which may affect model generalization in real-world waste environments. Additionally, the approach focuses mainly on detection and classification without integrating any knowledge system for recycling recommendations.</a:t>
                      </a:r>
                      <a:endParaRPr b="0" sz="1400">
                        <a:solidFill>
                          <a:schemeClr val="dk1"/>
                        </a:solidFill>
                        <a:latin typeface="Times New Roman"/>
                        <a:ea typeface="Times New Roman"/>
                        <a:cs typeface="Times New Roman"/>
                        <a:sym typeface="Times New Roman"/>
                      </a:endParaRPr>
                    </a:p>
                  </a:txBody>
                  <a:tcPr marT="45725" marB="45725" marR="91450" marL="91450"/>
                </a:tc>
              </a:tr>
              <a:tr h="1493150">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4.</a:t>
                      </a:r>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Title:</a:t>
                      </a:r>
                      <a:r>
                        <a:rPr lang="en-US" sz="1400">
                          <a:latin typeface="Times New Roman"/>
                          <a:ea typeface="Times New Roman"/>
                          <a:cs typeface="Times New Roman"/>
                          <a:sym typeface="Times New Roman"/>
                        </a:rPr>
                        <a:t> Garbage Classification Recognition Based on Improved YOLOv8 Model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Authors:</a:t>
                      </a:r>
                      <a:r>
                        <a:rPr lang="en-US" sz="1400">
                          <a:latin typeface="Times New Roman"/>
                          <a:ea typeface="Times New Roman"/>
                          <a:cs typeface="Times New Roman"/>
                          <a:sym typeface="Times New Roman"/>
                        </a:rPr>
                        <a:t> Lijuan Qin, Xiaoyu Tang, and Feng Zhang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Publication Year:</a:t>
                      </a:r>
                      <a:r>
                        <a:rPr lang="en-US" sz="1400">
                          <a:latin typeface="Times New Roman"/>
                          <a:ea typeface="Times New Roman"/>
                          <a:cs typeface="Times New Roman"/>
                          <a:sym typeface="Times New Roman"/>
                        </a:rPr>
                        <a:t> 2024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Type:</a:t>
                      </a:r>
                      <a:r>
                        <a:rPr lang="en-US" sz="1400">
                          <a:latin typeface="Times New Roman"/>
                          <a:ea typeface="Times New Roman"/>
                          <a:cs typeface="Times New Roman"/>
                          <a:sym typeface="Times New Roman"/>
                        </a:rPr>
                        <a:t> IEEE Conference</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Public garbage classification image datasets</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Algorithms:</a:t>
                      </a:r>
                      <a:r>
                        <a:rPr lang="en-US" sz="1400">
                          <a:latin typeface="Times New Roman"/>
                          <a:ea typeface="Times New Roman"/>
                          <a:cs typeface="Times New Roman"/>
                          <a:sym typeface="Times New Roman"/>
                        </a:rPr>
                        <a:t> Improved YOLOv8 architecture with </a:t>
                      </a:r>
                      <a:r>
                        <a:rPr b="1" lang="en-US" sz="1400">
                          <a:latin typeface="Times New Roman"/>
                          <a:ea typeface="Times New Roman"/>
                          <a:cs typeface="Times New Roman"/>
                          <a:sym typeface="Times New Roman"/>
                        </a:rPr>
                        <a:t>C2f_RepGhost module</a:t>
                      </a:r>
                      <a:r>
                        <a:rPr lang="en-US" sz="1400">
                          <a:latin typeface="Times New Roman"/>
                          <a:ea typeface="Times New Roman"/>
                          <a:cs typeface="Times New Roman"/>
                          <a:sym typeface="Times New Roman"/>
                        </a:rPr>
                        <a:t>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Result:</a:t>
                      </a:r>
                      <a:r>
                        <a:rPr lang="en-US" sz="1400">
                          <a:latin typeface="Times New Roman"/>
                          <a:ea typeface="Times New Roman"/>
                          <a:cs typeface="Times New Roman"/>
                          <a:sym typeface="Times New Roman"/>
                        </a:rPr>
                        <a:t> The optimized model design enabled efficient garbage classification with real-time response suitable for mobile devices and edge applications</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Although the improved architecture enhances detection efficiency and speed, the study mainly focuses on model optimization rather than integrating broader waste management solutions such as recycling recommendations or knowledge-based assistance.</a:t>
                      </a:r>
                      <a:endParaRPr sz="1400">
                        <a:latin typeface="Times New Roman"/>
                        <a:ea typeface="Times New Roman"/>
                        <a:cs typeface="Times New Roman"/>
                        <a:sym typeface="Times New Roman"/>
                      </a:endParaRPr>
                    </a:p>
                  </a:txBody>
                  <a:tcPr marT="45725" marB="45725" marR="91450" marL="91450"/>
                </a:tc>
              </a:tr>
              <a:tr h="2096175">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5.</a:t>
                      </a:r>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Title:</a:t>
                      </a:r>
                      <a:r>
                        <a:rPr lang="en-US" sz="1400">
                          <a:latin typeface="Times New Roman"/>
                          <a:ea typeface="Times New Roman"/>
                          <a:cs typeface="Times New Roman"/>
                          <a:sym typeface="Times New Roman"/>
                        </a:rPr>
                        <a:t> AI-Powered Standard Operating Procedure Generation and Optimization Using Large Language Models for Chemical Laboratory Applications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Authors:</a:t>
                      </a:r>
                      <a:r>
                        <a:rPr lang="en-US" sz="1400">
                          <a:latin typeface="Times New Roman"/>
                          <a:ea typeface="Times New Roman"/>
                          <a:cs typeface="Times New Roman"/>
                          <a:sym typeface="Times New Roman"/>
                        </a:rPr>
                        <a:t> Roxane Elias Mallouhy, Hissah Alqahtani, and Sheikha Lardhi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Publication Year:</a:t>
                      </a:r>
                      <a:r>
                        <a:rPr lang="en-US" sz="1400">
                          <a:latin typeface="Times New Roman"/>
                          <a:ea typeface="Times New Roman"/>
                          <a:cs typeface="Times New Roman"/>
                          <a:sym typeface="Times New Roman"/>
                        </a:rPr>
                        <a:t> 2026 </a:t>
                      </a:r>
                      <a:br>
                        <a:rPr lang="en-US" sz="1400">
                          <a:latin typeface="Times New Roman"/>
                          <a:ea typeface="Times New Roman"/>
                          <a:cs typeface="Times New Roman"/>
                          <a:sym typeface="Times New Roman"/>
                        </a:rPr>
                      </a:br>
                      <a:r>
                        <a:rPr b="1" lang="en-US" sz="1400">
                          <a:latin typeface="Times New Roman"/>
                          <a:ea typeface="Times New Roman"/>
                          <a:cs typeface="Times New Roman"/>
                          <a:sym typeface="Times New Roman"/>
                        </a:rPr>
                        <a:t>Type:</a:t>
                      </a:r>
                      <a:r>
                        <a:rPr lang="en-US" sz="1400">
                          <a:latin typeface="Times New Roman"/>
                          <a:ea typeface="Times New Roman"/>
                          <a:cs typeface="Times New Roman"/>
                          <a:sym typeface="Times New Roman"/>
                        </a:rPr>
                        <a:t> IEEE Access</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Equipment manuals, chemical literature, waste disposal guidelines, and safety protocols</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b="1" lang="en-US" sz="1400">
                          <a:latin typeface="Times New Roman"/>
                          <a:ea typeface="Times New Roman"/>
                          <a:cs typeface="Times New Roman"/>
                          <a:sym typeface="Times New Roman"/>
                        </a:rPr>
                        <a:t>Algorithms:</a:t>
                      </a:r>
                      <a:r>
                        <a:rPr lang="en-US" sz="1400">
                          <a:latin typeface="Times New Roman"/>
                          <a:ea typeface="Times New Roman"/>
                          <a:cs typeface="Times New Roman"/>
                          <a:sym typeface="Times New Roman"/>
                        </a:rPr>
                        <a:t> Retrieval-Augmented Generation (RAG), Large Language Models (LLMs), Semantic Retrieval.</a:t>
                      </a:r>
                      <a:endParaRPr/>
                    </a:p>
                    <a:p>
                      <a:pPr indent="0" lvl="0" marL="0" marR="0" rtl="0" algn="just">
                        <a:spcBef>
                          <a:spcPts val="0"/>
                        </a:spcBef>
                        <a:spcAft>
                          <a:spcPts val="0"/>
                        </a:spcAft>
                        <a:buNone/>
                      </a:pPr>
                      <a:r>
                        <a:rPr b="1" lang="en-US" sz="1400">
                          <a:latin typeface="Times New Roman"/>
                          <a:ea typeface="Times New Roman"/>
                          <a:cs typeface="Times New Roman"/>
                          <a:sym typeface="Times New Roman"/>
                        </a:rPr>
                        <a:t>Result:</a:t>
                      </a:r>
                      <a:r>
                        <a:rPr lang="en-US" sz="1400">
                          <a:latin typeface="Times New Roman"/>
                          <a:ea typeface="Times New Roman"/>
                          <a:cs typeface="Times New Roman"/>
                          <a:sym typeface="Times New Roman"/>
                        </a:rPr>
                        <a:t> Successfully generated context-aware operating procedures and waste disposal guidance while reducing hallucinations through retrieval-based knowledge grounding.</a:t>
                      </a:r>
                      <a:endParaRPr sz="14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US" sz="1400">
                          <a:latin typeface="Times New Roman"/>
                          <a:ea typeface="Times New Roman"/>
                          <a:cs typeface="Times New Roman"/>
                          <a:sym typeface="Times New Roman"/>
                        </a:rPr>
                        <a:t>This RAG and LLM-based system effectively generates structured operating procedures for chemical laboratories. However, it relies strictly on textual knowledge sources and lacks computer vision capabilities. Consequently, it cannot automatically identify or classify physical waste materials from images. Therefore, it is limited to providing procedural guidance rather than real-time waste sorting assistance.</a:t>
                      </a:r>
                      <a:endParaRPr sz="14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nvSpPr>
        <p:spPr>
          <a:xfrm>
            <a:off x="0" y="40641"/>
            <a:ext cx="12192000" cy="68072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Literature Summary</a:t>
            </a:r>
            <a:endParaRPr b="0" i="0" sz="3600" u="none" cap="none" strike="noStrike">
              <a:solidFill>
                <a:schemeClr val="dk1"/>
              </a:solidFill>
              <a:latin typeface="Times New Roman"/>
              <a:ea typeface="Times New Roman"/>
              <a:cs typeface="Times New Roman"/>
              <a:sym typeface="Times New Roman"/>
            </a:endParaRPr>
          </a:p>
        </p:txBody>
      </p:sp>
      <p:sp>
        <p:nvSpPr>
          <p:cNvPr id="132" name="Google Shape;132;p8"/>
          <p:cNvSpPr txBox="1"/>
          <p:nvPr/>
        </p:nvSpPr>
        <p:spPr>
          <a:xfrm>
            <a:off x="102108" y="956713"/>
            <a:ext cx="11987700" cy="34170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Recent studies show that deep learning models such as YOLOv8, Faster-RCNN, Cascade-RCNN, and RetinaNet are effective for automated waste detection and classification in different environments. These models are trained on datasets such as custom waste collection images, public garbage datasets, TrashCan, and WaRP, helping improve waste identification accuracy under real-world conditions.</a:t>
            </a:r>
            <a:endParaRPr/>
          </a:p>
          <a:p>
            <a:pPr indent="-171450" lvl="0" marL="28575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Many works focus on model optimization, transfer learning, data augmentation, and lightweight architectures to achieve better precision, faster inference, and real-time deployment. However, most existing systems are limited to waste detection or classification only and do not provide further support for recycling decisions.</a:t>
            </a:r>
            <a:endParaRPr/>
          </a:p>
          <a:p>
            <a:pPr indent="-171450" lvl="0" marL="28575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Recent advancements in RAG and LLM-based systems show that AI can also generate context-aware guidance from knowledge sources. This creates an opportunity to combine waste detection with intelligent recycling recommendation, making waste management systems more practical, informative, and user-oriented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nvSpPr>
        <p:spPr>
          <a:xfrm>
            <a:off x="0" y="66620"/>
            <a:ext cx="12192000" cy="576707"/>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Datasets and Requirement specifications</a:t>
            </a:r>
            <a:endParaRPr/>
          </a:p>
        </p:txBody>
      </p:sp>
      <p:sp>
        <p:nvSpPr>
          <p:cNvPr id="138" name="Google Shape;138;p9"/>
          <p:cNvSpPr txBox="1"/>
          <p:nvPr/>
        </p:nvSpPr>
        <p:spPr>
          <a:xfrm>
            <a:off x="320040" y="724805"/>
            <a:ext cx="576152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Dataset:</a:t>
            </a:r>
            <a:endParaRPr/>
          </a:p>
          <a:p>
            <a:pPr indent="0" lvl="0" marL="0" marR="0" rtl="0" algn="l">
              <a:spcBef>
                <a:spcPts val="0"/>
              </a:spcBef>
              <a:spcAft>
                <a:spcPts val="0"/>
              </a:spcAft>
              <a:buClr>
                <a:schemeClr val="dk1"/>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Garbage Classification Dataset</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Source: Roboflow Universe – Garbage Classification (YOLOv8 format)</a:t>
            </a:r>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Recycling Knowledge Base</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Source: Public environmental agency guidelines, municipal waste management documentation, and curated recycling resources</a:t>
            </a:r>
            <a:endParaRPr/>
          </a:p>
          <a:p>
            <a:pPr indent="-171450" lvl="0" marL="285750" marR="0" rtl="0" algn="l">
              <a:spcBef>
                <a:spcPts val="0"/>
              </a:spcBef>
              <a:spcAft>
                <a:spcPts val="0"/>
              </a:spcAft>
              <a:buClr>
                <a:schemeClr val="dk1"/>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p:txBody>
      </p:sp>
      <p:sp>
        <p:nvSpPr>
          <p:cNvPr id="139" name="Google Shape;139;p9"/>
          <p:cNvSpPr txBox="1"/>
          <p:nvPr/>
        </p:nvSpPr>
        <p:spPr>
          <a:xfrm>
            <a:off x="307125" y="3668604"/>
            <a:ext cx="577443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Requirement Specification:</a:t>
            </a:r>
            <a:endParaRPr/>
          </a:p>
          <a:p>
            <a:pPr indent="0" lvl="0" marL="0" marR="0" rtl="0" algn="l">
              <a:spcBef>
                <a:spcPts val="0"/>
              </a:spcBef>
              <a:spcAft>
                <a:spcPts val="0"/>
              </a:spcAft>
              <a:buClr>
                <a:schemeClr val="dk1"/>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Programming:</a:t>
            </a:r>
            <a:r>
              <a:rPr b="0" i="0" lang="en-US" sz="1800" u="none" cap="none" strike="noStrike">
                <a:solidFill>
                  <a:schemeClr val="dk1"/>
                </a:solidFill>
                <a:latin typeface="Times New Roman"/>
                <a:ea typeface="Times New Roman"/>
                <a:cs typeface="Times New Roman"/>
                <a:sym typeface="Times New Roman"/>
              </a:rPr>
              <a:t> Python</a:t>
            </a:r>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Object Detection:</a:t>
            </a:r>
            <a:r>
              <a:rPr b="0" i="0" lang="en-US" sz="1800" u="none" cap="none" strike="noStrike">
                <a:solidFill>
                  <a:schemeClr val="dk1"/>
                </a:solidFill>
                <a:latin typeface="Times New Roman"/>
                <a:ea typeface="Times New Roman"/>
                <a:cs typeface="Times New Roman"/>
                <a:sym typeface="Times New Roman"/>
              </a:rPr>
              <a:t> YOLOv8</a:t>
            </a:r>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Web Interface:</a:t>
            </a:r>
            <a:r>
              <a:rPr b="0" i="0" lang="en-US" sz="1800" u="none" cap="none" strike="noStrike">
                <a:solidFill>
                  <a:schemeClr val="dk1"/>
                </a:solidFill>
                <a:latin typeface="Times New Roman"/>
                <a:ea typeface="Times New Roman"/>
                <a:cs typeface="Times New Roman"/>
                <a:sym typeface="Times New Roman"/>
              </a:rPr>
              <a:t>	Streamlit</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AI/NLP (RAG Module):</a:t>
            </a:r>
            <a:r>
              <a:rPr b="0" i="0" lang="en-US" sz="1800" u="none" cap="none" strike="noStrike">
                <a:solidFill>
                  <a:schemeClr val="dk1"/>
                </a:solidFill>
                <a:latin typeface="Times New Roman"/>
                <a:ea typeface="Times New Roman"/>
                <a:cs typeface="Times New Roman"/>
                <a:sym typeface="Times New Roman"/>
              </a:rPr>
              <a:t> Google Gemini API, FAISS</a:t>
            </a:r>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Image Processing:</a:t>
            </a:r>
            <a:r>
              <a:rPr b="0" i="0" lang="en-US" sz="1800" u="none" cap="none" strike="noStrike">
                <a:solidFill>
                  <a:schemeClr val="dk1"/>
                </a:solidFill>
                <a:latin typeface="Times New Roman"/>
                <a:ea typeface="Times New Roman"/>
                <a:cs typeface="Times New Roman"/>
                <a:sym typeface="Times New Roman"/>
              </a:rPr>
              <a:t> OpenCV</a:t>
            </a:r>
            <a:endParaRPr/>
          </a:p>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Environment:</a:t>
            </a:r>
            <a:r>
              <a:rPr b="0" i="0" lang="en-US" sz="1800" u="none" cap="none" strike="noStrike">
                <a:solidFill>
                  <a:schemeClr val="dk1"/>
                </a:solidFill>
                <a:latin typeface="Times New Roman"/>
                <a:ea typeface="Times New Roman"/>
                <a:cs typeface="Times New Roman"/>
                <a:sym typeface="Times New Roman"/>
              </a:rPr>
              <a:t> Kaggle Notebook</a:t>
            </a:r>
            <a:endParaRPr/>
          </a:p>
        </p:txBody>
      </p:sp>
      <p:pic>
        <p:nvPicPr>
          <p:cNvPr id="140" name="Google Shape;140;p9"/>
          <p:cNvPicPr preferRelativeResize="0"/>
          <p:nvPr/>
        </p:nvPicPr>
        <p:blipFill rotWithShape="1">
          <a:blip r:embed="rId3">
            <a:alphaModFix/>
          </a:blip>
          <a:srcRect b="0" l="0" r="0" t="0"/>
          <a:stretch/>
        </p:blipFill>
        <p:spPr>
          <a:xfrm>
            <a:off x="6096000" y="724805"/>
            <a:ext cx="5761521" cy="1895763"/>
          </a:xfrm>
          <a:prstGeom prst="rect">
            <a:avLst/>
          </a:prstGeom>
          <a:noFill/>
          <a:ln>
            <a:noFill/>
          </a:ln>
        </p:spPr>
      </p:pic>
      <p:pic>
        <p:nvPicPr>
          <p:cNvPr id="141" name="Google Shape;141;p9"/>
          <p:cNvPicPr preferRelativeResize="0"/>
          <p:nvPr/>
        </p:nvPicPr>
        <p:blipFill rotWithShape="1">
          <a:blip r:embed="rId4">
            <a:alphaModFix/>
          </a:blip>
          <a:srcRect b="0" l="0" r="0" t="0"/>
          <a:stretch/>
        </p:blipFill>
        <p:spPr>
          <a:xfrm>
            <a:off x="6081561" y="2637208"/>
            <a:ext cx="5761520" cy="21094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nvSpPr>
        <p:spPr>
          <a:xfrm>
            <a:off x="0" y="-63074"/>
            <a:ext cx="12192000" cy="701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Methodology</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Dataset Collection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Garbage Classification Dataset is collected from Roboflow Universe in YOLOv8 format, containing annotated images of Paper, Plastic, Glass, Metal, Cardboard, and Biodegradable waste. A recycling knowledge base is also created using environmental guidelines and municipal waste management resources.</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Dataset Splitting and Training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dataset is divided into training, validation, and test sets in the ratio of 70%, 20%, and 10%, respectively. The YOLOv8 model is then trained in the Kaggle Notebook environment using Python to learn accurate waste object detection and localization.</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Object Detection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trained YOLOv8 model is used to detect one or multiple waste objects from the uploaded image. It predicts bounding boxes, class labels, and confidence scores for each identified garbage object.</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Multi-Object Waste Classification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detected objects are classified into predefined garbage categories such as Paper, Plastic, Glass, Metal, Cardboard, and Biodegradable. This enables the system to recognize multiple waste materials present in a single image.</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Knowledge Retrieval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detected waste labels are passed to the RAG module, where FAISS retrieves relevant recycling knowledge from the prepared local knowledge base. This ensures that the response is based on category-specific recycling information.</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Recycling Guidance Generation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retrieved context is provided to the Google Gemini API, which generates structured recycling recommendations for each detected waste object. The output includes proper handling, sorting, recycling, and disposal methods.</a:t>
            </a:r>
            <a:endParaRPr b="1" i="0" sz="1800" u="none" cap="none" strike="noStrike">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User Interface and Output :</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system is integrated into a Streamlit web application where the user uploads a garbage image, views the YOLOv8 detection results with bounding boxes and confidence scores, and receives the generated recycling summary.</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nvSpPr>
        <p:spPr>
          <a:xfrm>
            <a:off x="3048000" y="0"/>
            <a:ext cx="6096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Algorithms Involved</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152" name="Google Shape;152;p11"/>
          <p:cNvSpPr txBox="1"/>
          <p:nvPr/>
        </p:nvSpPr>
        <p:spPr>
          <a:xfrm>
            <a:off x="152400" y="630644"/>
            <a:ext cx="11897400" cy="6187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1 – Input Image Acquisition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system accepts an input image uploaded by the user through the web interface. The image may contain one or multiple waste objects such as paper, plastic, glass, metal, cardboard, or biodegradable materials.</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2 – YOLOv8 Object Detection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A trained YOLOv8 object detection model processes the uploaded image to detect and localize waste objects. The model predicts bounding boxes, class labels, and confidence scores for each detected object directly from the input image.</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3 – Multi-Object Waste Classification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model identifies multiple waste categories present in the image and classifies them into six predefined classes: Paper, Plastic, Glass, Metal, Cardboard, and Biodegradable. Each detected object is associated with its corresponding bounding box and confidence score.</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4 – Bounding Box Visualization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detected waste objects are highlighted on the image using bounding boxes and labels. Each label displays the predicted waste type along with its confidence score, allowing users to clearly understand the detection results.</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5 – Detected Waste Extraction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predicted class labels are extracted from the YOLOv8 detection output. If multiple waste objects are detected, each class label is processed individually for recycling guidance generation.</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6 – Knowledge Retrieval using RAG</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A Retrieval-Augmented Generation module searches a local knowledge base that contains recycling guidelines for each waste category. Relevant information is retrieved based on the detected waste class.</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7 – Context Processing</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retrieved recycling knowledge is organized and prepared as contextual input so that the generated response remains accurate, relevant, and grounded in the knowledge base.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nvSpPr>
        <p:spPr>
          <a:xfrm>
            <a:off x="3048000" y="0"/>
            <a:ext cx="6096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Algorithms Involved</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158" name="Google Shape;158;p12"/>
          <p:cNvSpPr txBox="1"/>
          <p:nvPr/>
        </p:nvSpPr>
        <p:spPr>
          <a:xfrm>
            <a:off x="91440" y="1028343"/>
            <a:ext cx="11948100" cy="4802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8 – LLM-Based Recycling Guidance Generation</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A Large Language Model formats the retrieved knowledge into a structured explanation. This includes a short description of the waste type and step-by-step recycling instructions. The LLM improves readability and sentence variation while preserving factual correctness from the retrieved content.</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9 – Recycling Recommendation Output</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For each detected waste object, the system generates step-by-step recycling guidance, which may include:</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Preparation or cleaning of the waste material</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Sorting and separation process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Recycling or processing method</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Environmental benefits and proper disposal practices</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Step 10 – Final System Output</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system displays: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original image with bounding boxes marking detected waste objects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The detected waste class names with confidence scores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Step-by-step recycling recommendations generated through the RAG framework</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nvSpPr>
        <p:spPr>
          <a:xfrm>
            <a:off x="0" y="8509"/>
            <a:ext cx="12192000" cy="5675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Architecture Diagram</a:t>
            </a:r>
            <a:endParaRPr/>
          </a:p>
        </p:txBody>
      </p:sp>
      <p:pic>
        <p:nvPicPr>
          <p:cNvPr id="164" name="Google Shape;164;p13"/>
          <p:cNvPicPr preferRelativeResize="0"/>
          <p:nvPr/>
        </p:nvPicPr>
        <p:blipFill rotWithShape="1">
          <a:blip r:embed="rId3">
            <a:alphaModFix/>
          </a:blip>
          <a:srcRect b="0" l="0" r="0" t="0"/>
          <a:stretch/>
        </p:blipFill>
        <p:spPr>
          <a:xfrm>
            <a:off x="1965960" y="630936"/>
            <a:ext cx="8882443" cy="62094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nvSpPr>
        <p:spPr>
          <a:xfrm>
            <a:off x="3048000" y="0"/>
            <a:ext cx="6096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Complete Results Obtained</a:t>
            </a:r>
            <a:endParaRPr b="0" i="0" sz="1800" u="none" cap="none" strike="noStrike">
              <a:solidFill>
                <a:schemeClr val="dk1"/>
              </a:solidFill>
              <a:latin typeface="Arial"/>
              <a:ea typeface="Arial"/>
              <a:cs typeface="Arial"/>
              <a:sym typeface="Arial"/>
            </a:endParaRPr>
          </a:p>
        </p:txBody>
      </p:sp>
      <p:pic>
        <p:nvPicPr>
          <p:cNvPr id="170" name="Google Shape;170;p14"/>
          <p:cNvPicPr preferRelativeResize="0"/>
          <p:nvPr/>
        </p:nvPicPr>
        <p:blipFill rotWithShape="1">
          <a:blip r:embed="rId3">
            <a:alphaModFix/>
          </a:blip>
          <a:srcRect b="2469" l="60150" r="0" t="52427"/>
          <a:stretch/>
        </p:blipFill>
        <p:spPr>
          <a:xfrm>
            <a:off x="96842" y="1781047"/>
            <a:ext cx="5748528" cy="2889505"/>
          </a:xfrm>
          <a:prstGeom prst="rect">
            <a:avLst/>
          </a:prstGeom>
          <a:noFill/>
          <a:ln>
            <a:noFill/>
          </a:ln>
        </p:spPr>
      </p:pic>
      <p:pic>
        <p:nvPicPr>
          <p:cNvPr id="171" name="Google Shape;171;p14"/>
          <p:cNvPicPr preferRelativeResize="0"/>
          <p:nvPr/>
        </p:nvPicPr>
        <p:blipFill rotWithShape="1">
          <a:blip r:embed="rId3">
            <a:alphaModFix/>
          </a:blip>
          <a:srcRect b="45709" l="1424" r="77215" t="6772"/>
          <a:stretch/>
        </p:blipFill>
        <p:spPr>
          <a:xfrm>
            <a:off x="5891514" y="1736600"/>
            <a:ext cx="3252486" cy="3044142"/>
          </a:xfrm>
          <a:prstGeom prst="rect">
            <a:avLst/>
          </a:prstGeom>
          <a:noFill/>
          <a:ln>
            <a:noFill/>
          </a:ln>
        </p:spPr>
      </p:pic>
      <p:pic>
        <p:nvPicPr>
          <p:cNvPr id="172" name="Google Shape;172;p14"/>
          <p:cNvPicPr preferRelativeResize="0"/>
          <p:nvPr/>
        </p:nvPicPr>
        <p:blipFill rotWithShape="1">
          <a:blip r:embed="rId3">
            <a:alphaModFix/>
          </a:blip>
          <a:srcRect b="2414" l="2468" r="78483" t="52482"/>
          <a:stretch/>
        </p:blipFill>
        <p:spPr>
          <a:xfrm>
            <a:off x="8896349" y="1736600"/>
            <a:ext cx="2970531" cy="2889505"/>
          </a:xfrm>
          <a:prstGeom prst="rect">
            <a:avLst/>
          </a:prstGeom>
          <a:noFill/>
          <a:ln>
            <a:noFill/>
          </a:ln>
        </p:spPr>
      </p:pic>
      <p:sp>
        <p:nvSpPr>
          <p:cNvPr id="173" name="Google Shape;173;p14"/>
          <p:cNvSpPr txBox="1"/>
          <p:nvPr/>
        </p:nvSpPr>
        <p:spPr>
          <a:xfrm>
            <a:off x="96842" y="1367268"/>
            <a:ext cx="4737002"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Mean Average Precision and Loss Graphs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5"/>
          <p:cNvSpPr txBox="1"/>
          <p:nvPr/>
        </p:nvSpPr>
        <p:spPr>
          <a:xfrm>
            <a:off x="0" y="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Complete Results Obtained</a:t>
            </a:r>
            <a:endParaRPr b="0" i="0" sz="3600" u="none" cap="none" strike="noStrike">
              <a:solidFill>
                <a:schemeClr val="dk1"/>
              </a:solidFill>
              <a:latin typeface="Play"/>
              <a:ea typeface="Play"/>
              <a:cs typeface="Play"/>
              <a:sym typeface="Play"/>
            </a:endParaRPr>
          </a:p>
        </p:txBody>
      </p:sp>
      <p:pic>
        <p:nvPicPr>
          <p:cNvPr descr="0" id="179" name="Google Shape;179;p15"/>
          <p:cNvPicPr preferRelativeResize="0"/>
          <p:nvPr/>
        </p:nvPicPr>
        <p:blipFill rotWithShape="1">
          <a:blip r:embed="rId3">
            <a:alphaModFix/>
          </a:blip>
          <a:srcRect b="0" l="0" r="0" t="0"/>
          <a:stretch/>
        </p:blipFill>
        <p:spPr>
          <a:xfrm>
            <a:off x="81653" y="1608367"/>
            <a:ext cx="3185414" cy="1930361"/>
          </a:xfrm>
          <a:prstGeom prst="rect">
            <a:avLst/>
          </a:prstGeom>
          <a:noFill/>
          <a:ln>
            <a:noFill/>
          </a:ln>
        </p:spPr>
      </p:pic>
      <p:pic>
        <p:nvPicPr>
          <p:cNvPr descr="0" id="180" name="Google Shape;180;p15"/>
          <p:cNvPicPr preferRelativeResize="0"/>
          <p:nvPr/>
        </p:nvPicPr>
        <p:blipFill rotWithShape="1">
          <a:blip r:embed="rId4">
            <a:alphaModFix/>
          </a:blip>
          <a:srcRect b="0" l="0" r="0" t="0"/>
          <a:stretch/>
        </p:blipFill>
        <p:spPr>
          <a:xfrm>
            <a:off x="78994" y="3597975"/>
            <a:ext cx="3188073" cy="1842706"/>
          </a:xfrm>
          <a:prstGeom prst="rect">
            <a:avLst/>
          </a:prstGeom>
          <a:noFill/>
          <a:ln>
            <a:noFill/>
          </a:ln>
        </p:spPr>
      </p:pic>
      <p:pic>
        <p:nvPicPr>
          <p:cNvPr descr="0" id="181" name="Google Shape;181;p15"/>
          <p:cNvPicPr preferRelativeResize="0"/>
          <p:nvPr/>
        </p:nvPicPr>
        <p:blipFill rotWithShape="1">
          <a:blip r:embed="rId5">
            <a:alphaModFix/>
          </a:blip>
          <a:srcRect b="0" l="0" r="0" t="0"/>
          <a:stretch/>
        </p:blipFill>
        <p:spPr>
          <a:xfrm>
            <a:off x="6288718" y="3597975"/>
            <a:ext cx="3188073" cy="1842706"/>
          </a:xfrm>
          <a:prstGeom prst="rect">
            <a:avLst/>
          </a:prstGeom>
          <a:noFill/>
          <a:ln>
            <a:noFill/>
          </a:ln>
        </p:spPr>
      </p:pic>
      <p:pic>
        <p:nvPicPr>
          <p:cNvPr descr="0" id="182" name="Google Shape;182;p15"/>
          <p:cNvPicPr preferRelativeResize="0"/>
          <p:nvPr/>
        </p:nvPicPr>
        <p:blipFill rotWithShape="1">
          <a:blip r:embed="rId6">
            <a:alphaModFix/>
          </a:blip>
          <a:srcRect b="0" l="0" r="0" t="0"/>
          <a:stretch/>
        </p:blipFill>
        <p:spPr>
          <a:xfrm>
            <a:off x="3289100" y="1498639"/>
            <a:ext cx="2350008" cy="2350008"/>
          </a:xfrm>
          <a:prstGeom prst="rect">
            <a:avLst/>
          </a:prstGeom>
          <a:noFill/>
          <a:ln>
            <a:noFill/>
          </a:ln>
        </p:spPr>
      </p:pic>
      <p:pic>
        <p:nvPicPr>
          <p:cNvPr descr="0" id="183" name="Google Shape;183;p15"/>
          <p:cNvPicPr preferRelativeResize="0"/>
          <p:nvPr/>
        </p:nvPicPr>
        <p:blipFill rotWithShape="1">
          <a:blip r:embed="rId7">
            <a:alphaModFix/>
          </a:blip>
          <a:srcRect b="0" l="0" r="0" t="0"/>
          <a:stretch/>
        </p:blipFill>
        <p:spPr>
          <a:xfrm>
            <a:off x="9521563" y="1247967"/>
            <a:ext cx="2350008" cy="2350008"/>
          </a:xfrm>
          <a:prstGeom prst="rect">
            <a:avLst/>
          </a:prstGeom>
          <a:noFill/>
          <a:ln>
            <a:noFill/>
          </a:ln>
        </p:spPr>
      </p:pic>
      <p:pic>
        <p:nvPicPr>
          <p:cNvPr descr="0" id="184" name="Google Shape;184;p15"/>
          <p:cNvPicPr preferRelativeResize="0"/>
          <p:nvPr/>
        </p:nvPicPr>
        <p:blipFill rotWithShape="1">
          <a:blip r:embed="rId8">
            <a:alphaModFix/>
          </a:blip>
          <a:srcRect b="0" l="0" r="0" t="0"/>
          <a:stretch/>
        </p:blipFill>
        <p:spPr>
          <a:xfrm>
            <a:off x="3289100" y="3848647"/>
            <a:ext cx="2639316" cy="1979487"/>
          </a:xfrm>
          <a:prstGeom prst="rect">
            <a:avLst/>
          </a:prstGeom>
          <a:noFill/>
          <a:ln>
            <a:noFill/>
          </a:ln>
        </p:spPr>
      </p:pic>
      <p:pic>
        <p:nvPicPr>
          <p:cNvPr descr="0" id="185" name="Google Shape;185;p15"/>
          <p:cNvPicPr preferRelativeResize="0"/>
          <p:nvPr/>
        </p:nvPicPr>
        <p:blipFill rotWithShape="1">
          <a:blip r:embed="rId9">
            <a:alphaModFix/>
          </a:blip>
          <a:srcRect b="0" l="0" r="0" t="0"/>
          <a:stretch/>
        </p:blipFill>
        <p:spPr>
          <a:xfrm>
            <a:off x="9521563" y="3597975"/>
            <a:ext cx="2639316" cy="1979487"/>
          </a:xfrm>
          <a:prstGeom prst="rect">
            <a:avLst/>
          </a:prstGeom>
          <a:noFill/>
          <a:ln>
            <a:noFill/>
          </a:ln>
        </p:spPr>
      </p:pic>
      <p:pic>
        <p:nvPicPr>
          <p:cNvPr descr="0" id="186" name="Google Shape;186;p15"/>
          <p:cNvPicPr preferRelativeResize="0"/>
          <p:nvPr/>
        </p:nvPicPr>
        <p:blipFill rotWithShape="1">
          <a:blip r:embed="rId10">
            <a:alphaModFix/>
          </a:blip>
          <a:srcRect b="0" l="0" r="0" t="0"/>
          <a:stretch/>
        </p:blipFill>
        <p:spPr>
          <a:xfrm>
            <a:off x="6291376" y="1608366"/>
            <a:ext cx="3185415" cy="1930361"/>
          </a:xfrm>
          <a:prstGeom prst="rect">
            <a:avLst/>
          </a:prstGeom>
          <a:noFill/>
          <a:ln>
            <a:noFill/>
          </a:ln>
        </p:spPr>
      </p:pic>
      <p:sp>
        <p:nvSpPr>
          <p:cNvPr id="187" name="Google Shape;187;p15"/>
          <p:cNvSpPr txBox="1"/>
          <p:nvPr/>
        </p:nvSpPr>
        <p:spPr>
          <a:xfrm>
            <a:off x="142680" y="868680"/>
            <a:ext cx="5410508"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Image Uploaded By User</a:t>
            </a:r>
            <a:endParaRPr/>
          </a:p>
        </p:txBody>
      </p:sp>
      <p:sp>
        <p:nvSpPr>
          <p:cNvPr id="188" name="Google Shape;188;p15"/>
          <p:cNvSpPr txBox="1"/>
          <p:nvPr/>
        </p:nvSpPr>
        <p:spPr>
          <a:xfrm>
            <a:off x="6288718" y="868680"/>
            <a:ext cx="5410508"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Detected Waste with Bounding Boxes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nvSpPr>
        <p:spPr>
          <a:xfrm>
            <a:off x="0" y="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Complete Results Obtained</a:t>
            </a:r>
            <a:endParaRPr b="0" i="0" sz="3600" u="none" cap="none" strike="noStrike">
              <a:solidFill>
                <a:schemeClr val="dk1"/>
              </a:solidFill>
              <a:latin typeface="Play"/>
              <a:ea typeface="Play"/>
              <a:cs typeface="Play"/>
              <a:sym typeface="Play"/>
            </a:endParaRPr>
          </a:p>
        </p:txBody>
      </p:sp>
      <p:pic>
        <p:nvPicPr>
          <p:cNvPr id="194" name="Google Shape;194;p16"/>
          <p:cNvPicPr preferRelativeResize="0"/>
          <p:nvPr/>
        </p:nvPicPr>
        <p:blipFill rotWithShape="1">
          <a:blip r:embed="rId3">
            <a:alphaModFix/>
          </a:blip>
          <a:srcRect b="0" l="0" r="0" t="0"/>
          <a:stretch/>
        </p:blipFill>
        <p:spPr>
          <a:xfrm>
            <a:off x="105645" y="1069848"/>
            <a:ext cx="4236394" cy="5687568"/>
          </a:xfrm>
          <a:prstGeom prst="rect">
            <a:avLst/>
          </a:prstGeom>
          <a:noFill/>
          <a:ln>
            <a:noFill/>
          </a:ln>
        </p:spPr>
      </p:pic>
      <p:pic>
        <p:nvPicPr>
          <p:cNvPr id="195" name="Google Shape;195;p16"/>
          <p:cNvPicPr preferRelativeResize="0"/>
          <p:nvPr/>
        </p:nvPicPr>
        <p:blipFill rotWithShape="1">
          <a:blip r:embed="rId4">
            <a:alphaModFix/>
          </a:blip>
          <a:srcRect b="0" l="0" r="0" t="0"/>
          <a:stretch/>
        </p:blipFill>
        <p:spPr>
          <a:xfrm>
            <a:off x="4362131" y="1069848"/>
            <a:ext cx="3813047" cy="5687568"/>
          </a:xfrm>
          <a:prstGeom prst="rect">
            <a:avLst/>
          </a:prstGeom>
          <a:noFill/>
          <a:ln>
            <a:noFill/>
          </a:ln>
        </p:spPr>
      </p:pic>
      <p:pic>
        <p:nvPicPr>
          <p:cNvPr id="196" name="Google Shape;196;p16"/>
          <p:cNvPicPr preferRelativeResize="0"/>
          <p:nvPr/>
        </p:nvPicPr>
        <p:blipFill rotWithShape="1">
          <a:blip r:embed="rId5">
            <a:alphaModFix/>
          </a:blip>
          <a:srcRect b="0" l="0" r="0" t="0"/>
          <a:stretch/>
        </p:blipFill>
        <p:spPr>
          <a:xfrm>
            <a:off x="8195271" y="1069848"/>
            <a:ext cx="3921223" cy="5687567"/>
          </a:xfrm>
          <a:prstGeom prst="rect">
            <a:avLst/>
          </a:prstGeom>
          <a:noFill/>
          <a:ln>
            <a:noFill/>
          </a:ln>
        </p:spPr>
      </p:pic>
      <p:sp>
        <p:nvSpPr>
          <p:cNvPr id="197" name="Google Shape;197;p16"/>
          <p:cNvSpPr txBox="1"/>
          <p:nvPr/>
        </p:nvSpPr>
        <p:spPr>
          <a:xfrm>
            <a:off x="105645" y="700516"/>
            <a:ext cx="7159752"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User Interface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nvSpPr>
        <p:spPr>
          <a:xfrm>
            <a:off x="0" y="4064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Result Analysis and Observations </a:t>
            </a:r>
            <a:endParaRPr b="0" i="0" sz="3600" u="none" cap="none" strike="noStrike">
              <a:solidFill>
                <a:schemeClr val="dk1"/>
              </a:solidFill>
              <a:latin typeface="Play"/>
              <a:ea typeface="Play"/>
              <a:cs typeface="Play"/>
              <a:sym typeface="Play"/>
            </a:endParaRPr>
          </a:p>
        </p:txBody>
      </p:sp>
      <p:pic>
        <p:nvPicPr>
          <p:cNvPr id="203" name="Google Shape;203;p17"/>
          <p:cNvPicPr preferRelativeResize="0"/>
          <p:nvPr/>
        </p:nvPicPr>
        <p:blipFill rotWithShape="1">
          <a:blip r:embed="rId3">
            <a:alphaModFix/>
          </a:blip>
          <a:srcRect b="45709" l="1424" r="77215" t="6772"/>
          <a:stretch/>
        </p:blipFill>
        <p:spPr>
          <a:xfrm>
            <a:off x="145738" y="2322073"/>
            <a:ext cx="3083565" cy="3044142"/>
          </a:xfrm>
          <a:prstGeom prst="rect">
            <a:avLst/>
          </a:prstGeom>
          <a:noFill/>
          <a:ln>
            <a:noFill/>
          </a:ln>
        </p:spPr>
      </p:pic>
      <p:pic>
        <p:nvPicPr>
          <p:cNvPr id="204" name="Google Shape;204;p17"/>
          <p:cNvPicPr preferRelativeResize="0"/>
          <p:nvPr/>
        </p:nvPicPr>
        <p:blipFill rotWithShape="1">
          <a:blip r:embed="rId3">
            <a:alphaModFix/>
          </a:blip>
          <a:srcRect b="2414" l="2468" r="78483" t="52482"/>
          <a:stretch/>
        </p:blipFill>
        <p:spPr>
          <a:xfrm>
            <a:off x="3041699" y="2322073"/>
            <a:ext cx="3054301" cy="2889505"/>
          </a:xfrm>
          <a:prstGeom prst="rect">
            <a:avLst/>
          </a:prstGeom>
          <a:noFill/>
          <a:ln>
            <a:noFill/>
          </a:ln>
        </p:spPr>
      </p:pic>
      <p:pic>
        <p:nvPicPr>
          <p:cNvPr id="205" name="Google Shape;205;p17"/>
          <p:cNvPicPr preferRelativeResize="0"/>
          <p:nvPr/>
        </p:nvPicPr>
        <p:blipFill rotWithShape="1">
          <a:blip r:embed="rId4">
            <a:alphaModFix/>
          </a:blip>
          <a:srcRect b="0" l="0" r="0" t="0"/>
          <a:stretch/>
        </p:blipFill>
        <p:spPr>
          <a:xfrm>
            <a:off x="6430116" y="2322073"/>
            <a:ext cx="2720185" cy="2889506"/>
          </a:xfrm>
          <a:prstGeom prst="rect">
            <a:avLst/>
          </a:prstGeom>
          <a:noFill/>
          <a:ln>
            <a:noFill/>
          </a:ln>
        </p:spPr>
      </p:pic>
      <p:pic>
        <p:nvPicPr>
          <p:cNvPr id="206" name="Google Shape;206;p17"/>
          <p:cNvPicPr preferRelativeResize="0"/>
          <p:nvPr/>
        </p:nvPicPr>
        <p:blipFill rotWithShape="1">
          <a:blip r:embed="rId5">
            <a:alphaModFix/>
          </a:blip>
          <a:srcRect b="0" l="0" r="0" t="0"/>
          <a:stretch/>
        </p:blipFill>
        <p:spPr>
          <a:xfrm>
            <a:off x="9389160" y="2322072"/>
            <a:ext cx="2657102" cy="2889505"/>
          </a:xfrm>
          <a:prstGeom prst="rect">
            <a:avLst/>
          </a:prstGeom>
          <a:noFill/>
          <a:ln>
            <a:noFill/>
          </a:ln>
        </p:spPr>
      </p:pic>
      <p:sp>
        <p:nvSpPr>
          <p:cNvPr id="207" name="Google Shape;207;p17"/>
          <p:cNvSpPr txBox="1"/>
          <p:nvPr/>
        </p:nvSpPr>
        <p:spPr>
          <a:xfrm>
            <a:off x="145738" y="1798104"/>
            <a:ext cx="5410508"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Loss Graph obtained in our project</a:t>
            </a:r>
            <a:endParaRPr/>
          </a:p>
        </p:txBody>
      </p:sp>
      <p:sp>
        <p:nvSpPr>
          <p:cNvPr id="208" name="Google Shape;208;p17"/>
          <p:cNvSpPr txBox="1"/>
          <p:nvPr/>
        </p:nvSpPr>
        <p:spPr>
          <a:xfrm>
            <a:off x="6430116" y="1798104"/>
            <a:ext cx="6094070"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Loss Graph obtained in the base paper</a:t>
            </a:r>
            <a:endParaRPr/>
          </a:p>
        </p:txBody>
      </p:sp>
      <p:sp>
        <p:nvSpPr>
          <p:cNvPr id="209" name="Google Shape;209;p17"/>
          <p:cNvSpPr txBox="1"/>
          <p:nvPr/>
        </p:nvSpPr>
        <p:spPr>
          <a:xfrm>
            <a:off x="145738" y="5366213"/>
            <a:ext cx="5950262"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Our project’s train/box loss decreases from about 1.40 to 1.12, and the val/box loss reduces from about 1.52 to 1.16</a:t>
            </a:r>
            <a:endParaRPr/>
          </a:p>
        </p:txBody>
      </p:sp>
      <p:sp>
        <p:nvSpPr>
          <p:cNvPr id="210" name="Google Shape;210;p17"/>
          <p:cNvSpPr txBox="1"/>
          <p:nvPr/>
        </p:nvSpPr>
        <p:spPr>
          <a:xfrm>
            <a:off x="6430116" y="5366213"/>
            <a:ext cx="5616146"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base paper’s train/box loss decreases from about 1.20 to 0.62, showing lower final training loss in the base paper. val/box loss reduces from about 1.70 to 1.03</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18"/>
          <p:cNvPicPr preferRelativeResize="0"/>
          <p:nvPr/>
        </p:nvPicPr>
        <p:blipFill rotWithShape="1">
          <a:blip r:embed="rId3">
            <a:alphaModFix/>
          </a:blip>
          <a:srcRect b="2469" l="60150" r="0" t="52427"/>
          <a:stretch/>
        </p:blipFill>
        <p:spPr>
          <a:xfrm>
            <a:off x="96842" y="2370327"/>
            <a:ext cx="5748528" cy="2889505"/>
          </a:xfrm>
          <a:prstGeom prst="rect">
            <a:avLst/>
          </a:prstGeom>
          <a:noFill/>
          <a:ln>
            <a:noFill/>
          </a:ln>
        </p:spPr>
      </p:pic>
      <p:pic>
        <p:nvPicPr>
          <p:cNvPr id="216" name="Google Shape;216;p18"/>
          <p:cNvPicPr preferRelativeResize="0"/>
          <p:nvPr/>
        </p:nvPicPr>
        <p:blipFill rotWithShape="1">
          <a:blip r:embed="rId4">
            <a:alphaModFix/>
          </a:blip>
          <a:srcRect b="0" l="0" r="0" t="0"/>
          <a:stretch/>
        </p:blipFill>
        <p:spPr>
          <a:xfrm>
            <a:off x="6096000" y="2370327"/>
            <a:ext cx="5748528" cy="2889505"/>
          </a:xfrm>
          <a:prstGeom prst="rect">
            <a:avLst/>
          </a:prstGeom>
          <a:noFill/>
          <a:ln>
            <a:noFill/>
          </a:ln>
        </p:spPr>
      </p:pic>
      <p:sp>
        <p:nvSpPr>
          <p:cNvPr id="217" name="Google Shape;217;p18"/>
          <p:cNvSpPr txBox="1"/>
          <p:nvPr/>
        </p:nvSpPr>
        <p:spPr>
          <a:xfrm>
            <a:off x="0" y="4064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Result Analysis and Observations </a:t>
            </a:r>
            <a:endParaRPr b="0" i="0" sz="3600" u="none" cap="none" strike="noStrike">
              <a:solidFill>
                <a:schemeClr val="dk1"/>
              </a:solidFill>
              <a:latin typeface="Play"/>
              <a:ea typeface="Play"/>
              <a:cs typeface="Play"/>
              <a:sym typeface="Play"/>
            </a:endParaRPr>
          </a:p>
        </p:txBody>
      </p:sp>
      <p:sp>
        <p:nvSpPr>
          <p:cNvPr id="218" name="Google Shape;218;p18"/>
          <p:cNvSpPr txBox="1"/>
          <p:nvPr/>
        </p:nvSpPr>
        <p:spPr>
          <a:xfrm>
            <a:off x="96842" y="1492503"/>
            <a:ext cx="541050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mAP@50 and mAP@50-95 Graph obtained in our project</a:t>
            </a:r>
            <a:endParaRPr/>
          </a:p>
        </p:txBody>
      </p:sp>
      <p:sp>
        <p:nvSpPr>
          <p:cNvPr id="219" name="Google Shape;219;p18"/>
          <p:cNvSpPr txBox="1"/>
          <p:nvPr/>
        </p:nvSpPr>
        <p:spPr>
          <a:xfrm>
            <a:off x="6096000" y="1492503"/>
            <a:ext cx="574852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mAP@50 and mAP@50-95 Graph obtained in the base paper</a:t>
            </a:r>
            <a:endParaRPr/>
          </a:p>
        </p:txBody>
      </p:sp>
      <p:sp>
        <p:nvSpPr>
          <p:cNvPr id="220" name="Google Shape;220;p18"/>
          <p:cNvSpPr txBox="1"/>
          <p:nvPr/>
        </p:nvSpPr>
        <p:spPr>
          <a:xfrm>
            <a:off x="136928" y="5491325"/>
            <a:ext cx="5708442"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Our project achieved mAP@50 = 0.535 and mAP@50-95 = 0.372.</a:t>
            </a:r>
            <a:endParaRPr/>
          </a:p>
        </p:txBody>
      </p:sp>
      <p:sp>
        <p:nvSpPr>
          <p:cNvPr id="221" name="Google Shape;221;p18"/>
          <p:cNvSpPr txBox="1"/>
          <p:nvPr/>
        </p:nvSpPr>
        <p:spPr>
          <a:xfrm>
            <a:off x="6346632" y="5491325"/>
            <a:ext cx="5497896"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base paper achieved approximately mAP@50 = 0.61 and mAP@50-95 = 0.42.</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19"/>
          <p:cNvPicPr preferRelativeResize="0"/>
          <p:nvPr/>
        </p:nvPicPr>
        <p:blipFill rotWithShape="1">
          <a:blip r:embed="rId3">
            <a:alphaModFix/>
          </a:blip>
          <a:srcRect b="9728" l="0" r="0" t="0"/>
          <a:stretch/>
        </p:blipFill>
        <p:spPr>
          <a:xfrm>
            <a:off x="6227768" y="1412239"/>
            <a:ext cx="5622431" cy="5075499"/>
          </a:xfrm>
          <a:prstGeom prst="rect">
            <a:avLst/>
          </a:prstGeom>
          <a:noFill/>
          <a:ln>
            <a:noFill/>
          </a:ln>
        </p:spPr>
      </p:pic>
      <p:pic>
        <p:nvPicPr>
          <p:cNvPr id="227" name="Google Shape;227;p19"/>
          <p:cNvPicPr preferRelativeResize="0"/>
          <p:nvPr/>
        </p:nvPicPr>
        <p:blipFill rotWithShape="1">
          <a:blip r:embed="rId4">
            <a:alphaModFix/>
          </a:blip>
          <a:srcRect b="0" l="0" r="0" t="0"/>
          <a:stretch/>
        </p:blipFill>
        <p:spPr>
          <a:xfrm>
            <a:off x="341801" y="1412240"/>
            <a:ext cx="6131548" cy="5075499"/>
          </a:xfrm>
          <a:prstGeom prst="rect">
            <a:avLst/>
          </a:prstGeom>
          <a:noFill/>
          <a:ln>
            <a:noFill/>
          </a:ln>
        </p:spPr>
      </p:pic>
      <p:sp>
        <p:nvSpPr>
          <p:cNvPr id="228" name="Google Shape;228;p19"/>
          <p:cNvSpPr txBox="1"/>
          <p:nvPr/>
        </p:nvSpPr>
        <p:spPr>
          <a:xfrm>
            <a:off x="0" y="7112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Result Analysis and Observations </a:t>
            </a:r>
            <a:endParaRPr b="0" i="0" sz="3600" u="none" cap="none" strike="noStrike">
              <a:solidFill>
                <a:schemeClr val="dk1"/>
              </a:solidFill>
              <a:latin typeface="Play"/>
              <a:ea typeface="Play"/>
              <a:cs typeface="Play"/>
              <a:sym typeface="Play"/>
            </a:endParaRPr>
          </a:p>
        </p:txBody>
      </p:sp>
      <p:sp>
        <p:nvSpPr>
          <p:cNvPr id="229" name="Google Shape;229;p19"/>
          <p:cNvSpPr txBox="1"/>
          <p:nvPr/>
        </p:nvSpPr>
        <p:spPr>
          <a:xfrm>
            <a:off x="341801" y="747783"/>
            <a:ext cx="541050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Confusion Matrix Obtained for our Dataset in our project</a:t>
            </a:r>
            <a:endParaRPr/>
          </a:p>
        </p:txBody>
      </p:sp>
      <p:sp>
        <p:nvSpPr>
          <p:cNvPr id="230" name="Google Shape;230;p19"/>
          <p:cNvSpPr txBox="1"/>
          <p:nvPr/>
        </p:nvSpPr>
        <p:spPr>
          <a:xfrm>
            <a:off x="6094110" y="770914"/>
            <a:ext cx="5748528"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Confusion Matrix Obtained in the base paper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20"/>
          <p:cNvPicPr preferRelativeResize="0"/>
          <p:nvPr/>
        </p:nvPicPr>
        <p:blipFill rotWithShape="1">
          <a:blip r:embed="rId3">
            <a:alphaModFix/>
          </a:blip>
          <a:srcRect b="0" l="0" r="0" t="0"/>
          <a:stretch/>
        </p:blipFill>
        <p:spPr>
          <a:xfrm>
            <a:off x="6247881" y="1441594"/>
            <a:ext cx="5944119" cy="4333562"/>
          </a:xfrm>
          <a:prstGeom prst="rect">
            <a:avLst/>
          </a:prstGeom>
          <a:noFill/>
          <a:ln>
            <a:noFill/>
          </a:ln>
        </p:spPr>
      </p:pic>
      <p:pic>
        <p:nvPicPr>
          <p:cNvPr id="236" name="Google Shape;236;p20"/>
          <p:cNvPicPr preferRelativeResize="0"/>
          <p:nvPr/>
        </p:nvPicPr>
        <p:blipFill rotWithShape="1">
          <a:blip r:embed="rId4">
            <a:alphaModFix/>
          </a:blip>
          <a:srcRect b="0" l="0" r="0" t="0"/>
          <a:stretch/>
        </p:blipFill>
        <p:spPr>
          <a:xfrm>
            <a:off x="0" y="1649134"/>
            <a:ext cx="6086157" cy="4054902"/>
          </a:xfrm>
          <a:prstGeom prst="rect">
            <a:avLst/>
          </a:prstGeom>
          <a:noFill/>
          <a:ln>
            <a:noFill/>
          </a:ln>
        </p:spPr>
      </p:pic>
      <p:sp>
        <p:nvSpPr>
          <p:cNvPr id="237" name="Google Shape;237;p20"/>
          <p:cNvSpPr txBox="1"/>
          <p:nvPr/>
        </p:nvSpPr>
        <p:spPr>
          <a:xfrm>
            <a:off x="0" y="7112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Result Analysis and Observations </a:t>
            </a:r>
            <a:endParaRPr b="0" i="0" sz="3600" u="none" cap="none" strike="noStrike">
              <a:solidFill>
                <a:schemeClr val="dk1"/>
              </a:solidFill>
              <a:latin typeface="Play"/>
              <a:ea typeface="Play"/>
              <a:cs typeface="Play"/>
              <a:sym typeface="Play"/>
            </a:endParaRPr>
          </a:p>
        </p:txBody>
      </p:sp>
      <p:sp>
        <p:nvSpPr>
          <p:cNvPr id="238" name="Google Shape;238;p20"/>
          <p:cNvSpPr txBox="1"/>
          <p:nvPr/>
        </p:nvSpPr>
        <p:spPr>
          <a:xfrm>
            <a:off x="166290" y="951953"/>
            <a:ext cx="541050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F1-Confidence Curve for each class obtained in our project</a:t>
            </a:r>
            <a:endParaRPr/>
          </a:p>
        </p:txBody>
      </p:sp>
      <p:sp>
        <p:nvSpPr>
          <p:cNvPr id="239" name="Google Shape;239;p20"/>
          <p:cNvSpPr txBox="1"/>
          <p:nvPr/>
        </p:nvSpPr>
        <p:spPr>
          <a:xfrm>
            <a:off x="6247881" y="1002803"/>
            <a:ext cx="5748528"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F1-Confidence Curve for each class obtained in the base Paper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1"/>
          <p:cNvSpPr txBox="1"/>
          <p:nvPr/>
        </p:nvSpPr>
        <p:spPr>
          <a:xfrm>
            <a:off x="0" y="221591"/>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Result Analysis and Observations </a:t>
            </a:r>
            <a:endParaRPr b="0" i="0" sz="3600" u="none" cap="none" strike="noStrike">
              <a:solidFill>
                <a:schemeClr val="dk1"/>
              </a:solidFill>
              <a:latin typeface="Play"/>
              <a:ea typeface="Play"/>
              <a:cs typeface="Play"/>
              <a:sym typeface="Play"/>
            </a:endParaRPr>
          </a:p>
        </p:txBody>
      </p:sp>
      <p:graphicFrame>
        <p:nvGraphicFramePr>
          <p:cNvPr id="245" name="Google Shape;245;p21"/>
          <p:cNvGraphicFramePr/>
          <p:nvPr/>
        </p:nvGraphicFramePr>
        <p:xfrm>
          <a:off x="719559" y="1593101"/>
          <a:ext cx="3000000" cy="3000000"/>
        </p:xfrm>
        <a:graphic>
          <a:graphicData uri="http://schemas.openxmlformats.org/drawingml/2006/table">
            <a:tbl>
              <a:tblPr bandRow="1" firstRow="1">
                <a:noFill/>
                <a:tableStyleId>{A86C7239-20D5-4E41-A8C9-6DEBA1776041}</a:tableStyleId>
              </a:tblPr>
              <a:tblGrid>
                <a:gridCol w="3584300"/>
                <a:gridCol w="3584300"/>
                <a:gridCol w="3584300"/>
              </a:tblGrid>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Metrices</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Our Project</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Base Paper</a:t>
                      </a:r>
                      <a:endParaRPr/>
                    </a:p>
                  </a:txBody>
                  <a:tcPr marT="45725" marB="45725" marR="91450" marL="91450"/>
                </a:tc>
              </a:tr>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mAP@50</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53.5%</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61%</a:t>
                      </a:r>
                      <a:endParaRPr/>
                    </a:p>
                  </a:txBody>
                  <a:tcPr marT="45725" marB="45725" marR="91450" marL="91450"/>
                </a:tc>
              </a:tr>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mAP@50-95</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37.2%</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42%</a:t>
                      </a:r>
                      <a:endParaRPr/>
                    </a:p>
                  </a:txBody>
                  <a:tcPr marT="45725" marB="45725" marR="91450" marL="91450"/>
                </a:tc>
              </a:tr>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Precision</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61.9% </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70%</a:t>
                      </a:r>
                      <a:endParaRPr/>
                    </a:p>
                  </a:txBody>
                  <a:tcPr marT="45725" marB="45725" marR="91450" marL="91450"/>
                </a:tc>
              </a:tr>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Recall</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45.1%</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60%</a:t>
                      </a:r>
                      <a:endParaRPr/>
                    </a:p>
                  </a:txBody>
                  <a:tcPr marT="45725" marB="45725" marR="91450" marL="91450"/>
                </a:tc>
              </a:tr>
              <a:tr h="529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F1-Score</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52.2%</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64.62%</a:t>
                      </a:r>
                      <a:endParaRPr/>
                    </a:p>
                  </a:txBody>
                  <a:tcPr marT="45725" marB="45725" marR="91450" marL="9145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nvSpPr>
        <p:spPr>
          <a:xfrm>
            <a:off x="0" y="172720"/>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Conclusion</a:t>
            </a:r>
            <a:endParaRPr b="0" i="0" sz="3600" u="none" cap="none" strike="noStrike">
              <a:solidFill>
                <a:schemeClr val="dk1"/>
              </a:solidFill>
              <a:latin typeface="Play"/>
              <a:ea typeface="Play"/>
              <a:cs typeface="Play"/>
              <a:sym typeface="Play"/>
            </a:endParaRPr>
          </a:p>
        </p:txBody>
      </p:sp>
      <p:sp>
        <p:nvSpPr>
          <p:cNvPr id="251" name="Google Shape;251;p22"/>
          <p:cNvSpPr txBox="1"/>
          <p:nvPr/>
        </p:nvSpPr>
        <p:spPr>
          <a:xfrm>
            <a:off x="325125" y="1463869"/>
            <a:ext cx="11541900" cy="47979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 proposed system successfully integrates YOLOv8-based multi-class garbage detection with a RAG-based recycling guidance framework to support intelligent and sustainable waste management.</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 model can identify multiple waste categories from a single image and generate useful recycling recommendations based on the detected materials.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Experimental evaluation shows that the detection module achieved a Precision of 0.619, Recall of 0.451, mAP@50 of 0.535, mAP@50-95 of 0.372, and F1-score of 0.522.</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These results indicate stable and effective performance for multi-class garbage recognition.</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 findings show that the model is able to learn meaningful visual features for waste detection while maintaining balanced overall detection capability.</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By combining object detection with knowledge-based recycling support, the proposed system goes beyond traditional waste classification methods.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SzPts val="1100"/>
              <a:buNone/>
            </a:pPr>
            <a:r>
              <a:rPr lang="en-US" sz="1800">
                <a:solidFill>
                  <a:schemeClr val="dk1"/>
                </a:solidFill>
                <a:latin typeface="Times New Roman"/>
                <a:ea typeface="Times New Roman"/>
                <a:cs typeface="Times New Roman"/>
                <a:sym typeface="Times New Roman"/>
              </a:rPr>
              <a:t>• The system provides a more practical solution for smart waste segregation and environmental sustainability.</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3"/>
          <p:cNvSpPr txBox="1"/>
          <p:nvPr/>
        </p:nvSpPr>
        <p:spPr>
          <a:xfrm>
            <a:off x="0" y="127321"/>
            <a:ext cx="12192000" cy="79713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Times New Roman"/>
              <a:buNone/>
            </a:pPr>
            <a:r>
              <a:rPr lang="en-US" sz="3600">
                <a:solidFill>
                  <a:srgbClr val="000000"/>
                </a:solidFill>
                <a:latin typeface="Times New Roman"/>
                <a:ea typeface="Times New Roman"/>
                <a:cs typeface="Times New Roman"/>
                <a:sym typeface="Times New Roman"/>
              </a:rPr>
              <a:t>Future Work</a:t>
            </a:r>
            <a:endParaRPr sz="3600">
              <a:solidFill>
                <a:schemeClr val="dk1"/>
              </a:solidFill>
              <a:latin typeface="Play"/>
              <a:ea typeface="Play"/>
              <a:cs typeface="Play"/>
              <a:sym typeface="Play"/>
            </a:endParaRPr>
          </a:p>
        </p:txBody>
      </p:sp>
      <p:sp>
        <p:nvSpPr>
          <p:cNvPr id="257" name="Google Shape;257;p23"/>
          <p:cNvSpPr txBox="1"/>
          <p:nvPr/>
        </p:nvSpPr>
        <p:spPr>
          <a:xfrm>
            <a:off x="370840" y="1052681"/>
            <a:ext cx="11506200" cy="36879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 proposed system can be extended in the future by installing a camera inside a garbage truck for live waste monitoring and tracking.</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Instead of analyzing only uploaded images, the model can be connected to a real-time video stream to continuously detect and track different waste materials during collection and dumping.</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This improvement would make the system more practical for large-scale municipal waste management applications.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It can help monitor waste composition in real time and identify recyclable materials during the waste collection process.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The live tracking framework can support faster decision-making and improve the efficiency of waste handling operations.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SzPts val="1100"/>
              <a:buNone/>
            </a:pPr>
            <a:r>
              <a:rPr lang="en-US" sz="1800">
                <a:solidFill>
                  <a:schemeClr val="dk1"/>
                </a:solidFill>
                <a:latin typeface="Times New Roman"/>
                <a:ea typeface="Times New Roman"/>
                <a:cs typeface="Times New Roman"/>
                <a:sym typeface="Times New Roman"/>
              </a:rPr>
              <a:t>• Such an enhancement can further increase automation, reduce manual inspection, and make the overall waste management process smarter and more effective.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txBox="1"/>
          <p:nvPr/>
        </p:nvSpPr>
        <p:spPr>
          <a:xfrm>
            <a:off x="210273" y="825271"/>
            <a:ext cx="11771400" cy="4802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[1] A. A. Alsuwaylimi, “Enhanced YOLOv8-Seg Instance Segmentation for Real-Time Submerged Debris Detection,” IEEE Access, vol. 12, pp. 117833-117849, 2024, doi: 10.1109/ACCESS.2024.3448258.</a:t>
            </a:r>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[2] D. Mewada, C. Agnew, E. M. Grua, C. Eising, P. Denny, M. Heffernan, K. Tierney, P. van de Ven, and A. Scanlan, “Contamination Detection From Highly Cluttered Waste Scenes Using Computer Vision,” IEEE Access, vol. 12, pp. 129434-129446, 2024, doi: 10.1109/ACCESS.2024.3456469.</a:t>
            </a:r>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[3] M. Shroff, A. Desai, and D. Garg, “YOLOv8-based Waste Detection System for Recycling Plants: A Deep Learning Approach,” in Proceedings of the IEEE International Conference on Self Sustainable Artificial Intelligence Systems (ICSSAS), 2023, doi: 10.1109/ICSSAS57918.2023.10331643.</a:t>
            </a:r>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[4] L. Qin, X. Tang, and F. Zhang, “Garbage Classification Recognition Based on Improved YOLOv8 Model,” in Proceedings of the IEEE International Conference on Image Processing (ICIP), 2024, doi: 10.1109/ICIP60790.2024.00118.</a:t>
            </a:r>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[5] R. E. Mallouhy, H. Alqahtani, and S. Lardhi, “AI-Powered Standard Operating Procedure Generation and Optimization Using Large Language Models for Chemical Laboratory Applications,” IEEE Access, vol. 14, pp. 19383-19395, 2026, doi: 10.1109/ACCESS.2026.3660770.</a:t>
            </a:r>
            <a:endParaRPr/>
          </a:p>
        </p:txBody>
      </p:sp>
      <p:sp>
        <p:nvSpPr>
          <p:cNvPr id="263" name="Google Shape;263;p24"/>
          <p:cNvSpPr txBox="1"/>
          <p:nvPr/>
        </p:nvSpPr>
        <p:spPr>
          <a:xfrm>
            <a:off x="0" y="0"/>
            <a:ext cx="12192000" cy="5577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3600"/>
              <a:buFont typeface="Times New Roman"/>
              <a:buNone/>
            </a:pPr>
            <a:r>
              <a:rPr lang="en-US" sz="3600">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5"/>
          <p:cNvSpPr txBox="1"/>
          <p:nvPr>
            <p:ph type="title"/>
          </p:nvPr>
        </p:nvSpPr>
        <p:spPr>
          <a:xfrm>
            <a:off x="0" y="2766218"/>
            <a:ext cx="12192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2026-04-09T17:56:29Z</dcterms:created>
  <dc:creator>jithin kamineni</dc:creator>
</cp:coreProperties>
</file>