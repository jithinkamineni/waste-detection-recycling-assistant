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92" r:id="rId3"/>
    <p:sldId id="291" r:id="rId4"/>
    <p:sldId id="306" r:id="rId5"/>
    <p:sldId id="260" r:id="rId6"/>
    <p:sldId id="293" r:id="rId7"/>
    <p:sldId id="294" r:id="rId8"/>
    <p:sldId id="295" r:id="rId9"/>
    <p:sldId id="271" r:id="rId10"/>
    <p:sldId id="273" r:id="rId11"/>
    <p:sldId id="263" r:id="rId12"/>
    <p:sldId id="314" r:id="rId13"/>
    <p:sldId id="276" r:id="rId14"/>
    <p:sldId id="274" r:id="rId15"/>
    <p:sldId id="315" r:id="rId16"/>
    <p:sldId id="316" r:id="rId17"/>
    <p:sldId id="278" r:id="rId18"/>
    <p:sldId id="319" r:id="rId19"/>
    <p:sldId id="275" r:id="rId20"/>
    <p:sldId id="30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86" autoAdjust="0"/>
    <p:restoredTop sz="93447" autoAdjust="0"/>
  </p:normalViewPr>
  <p:slideViewPr>
    <p:cSldViewPr snapToGrid="0">
      <p:cViewPr varScale="1">
        <p:scale>
          <a:sx n="89" d="100"/>
          <a:sy n="89" d="100"/>
        </p:scale>
        <p:origin x="3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thin kamineni" userId="a3b25fc357a5843c" providerId="LiveId" clId="{7CFD6DEA-D17A-42C0-841D-49D93E5862F4}"/>
    <pc:docChg chg="modSld">
      <pc:chgData name="jithin kamineni" userId="a3b25fc357a5843c" providerId="LiveId" clId="{7CFD6DEA-D17A-42C0-841D-49D93E5862F4}" dt="2026-04-12T20:01:18.147" v="0" actId="1036"/>
      <pc:docMkLst>
        <pc:docMk/>
      </pc:docMkLst>
      <pc:sldChg chg="modSp mod">
        <pc:chgData name="jithin kamineni" userId="a3b25fc357a5843c" providerId="LiveId" clId="{7CFD6DEA-D17A-42C0-841D-49D93E5862F4}" dt="2026-04-12T20:01:18.147" v="0" actId="1036"/>
        <pc:sldMkLst>
          <pc:docMk/>
          <pc:sldMk cId="3420791759" sldId="316"/>
        </pc:sldMkLst>
        <pc:picChg chg="mod">
          <ac:chgData name="jithin kamineni" userId="a3b25fc357a5843c" providerId="LiveId" clId="{7CFD6DEA-D17A-42C0-841D-49D93E5862F4}" dt="2026-04-12T20:01:18.147" v="0" actId="1036"/>
          <ac:picMkLst>
            <pc:docMk/>
            <pc:sldMk cId="3420791759" sldId="316"/>
            <ac:picMk id="15" creationId="{49D873B7-1437-7C29-225A-90339CB92BE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57F067-7C56-4E07-857A-F40F4C92B9E6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33804-CDCC-4C3F-B1E2-6D01A35AD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093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CDCB4-C3A6-465E-B602-0E3F171CF8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8C279-680E-4C61-86D5-BC08D4F99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926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CDCB4-C3A6-465E-B602-0E3F171CF8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8C279-680E-4C61-86D5-BC08D4F99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757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CDCB4-C3A6-465E-B602-0E3F171CF8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8C279-680E-4C61-86D5-BC08D4F99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968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CDCB4-C3A6-465E-B602-0E3F171CF8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8C279-680E-4C61-86D5-BC08D4F99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76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CDCB4-C3A6-465E-B602-0E3F171CF8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8C279-680E-4C61-86D5-BC08D4F99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947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CDCB4-C3A6-465E-B602-0E3F171CF8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8C279-680E-4C61-86D5-BC08D4F99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36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CDCB4-C3A6-465E-B602-0E3F171CF8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8C279-680E-4C61-86D5-BC08D4F99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09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CDCB4-C3A6-465E-B602-0E3F171CF8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8C279-680E-4C61-86D5-BC08D4F99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746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CDCB4-C3A6-465E-B602-0E3F171CF8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8C279-680E-4C61-86D5-BC08D4F99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262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CDCB4-C3A6-465E-B602-0E3F171CF8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8C279-680E-4C61-86D5-BC08D4F99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263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CDCB4-C3A6-465E-B602-0E3F171CF8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8C279-680E-4C61-86D5-BC08D4F99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366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CDCB4-C3A6-465E-B602-0E3F171CF8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8C279-680E-4C61-86D5-BC08D4F99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164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minhle13/trashbox" TargetMode="External"/><Relationship Id="rId2" Type="http://schemas.openxmlformats.org/officeDocument/2006/relationships/hyperlink" Target="https://www.kaggle.com/datasets/sumn2u/garbage-classification-v2/dat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1A935-AA8F-8495-173B-3433F7127C97}"/>
              </a:ext>
            </a:extLst>
          </p:cNvPr>
          <p:cNvSpPr>
            <a:spLocks noGrp="1"/>
          </p:cNvSpPr>
          <p:nvPr/>
        </p:nvSpPr>
        <p:spPr>
          <a:xfrm>
            <a:off x="481631" y="1597741"/>
            <a:ext cx="10838641" cy="9812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Garbage Classification and Recycling Assistance </a:t>
            </a:r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with ViT-ResNet50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</a:t>
            </a:r>
            <a:endParaRPr lang="en-US" sz="4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9E688D-BEE1-FD63-6053-D7D6280B078B}"/>
              </a:ext>
            </a:extLst>
          </p:cNvPr>
          <p:cNvSpPr>
            <a:spLocks noGrp="1"/>
          </p:cNvSpPr>
          <p:nvPr/>
        </p:nvSpPr>
        <p:spPr>
          <a:xfrm>
            <a:off x="2150433" y="3665060"/>
            <a:ext cx="8153401" cy="175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sz="5000" b="1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3400" b="1" dirty="0">
                <a:solidFill>
                  <a:srgbClr val="7030A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Mr. Tarun Sahukari (228W1A1257)</a:t>
            </a:r>
          </a:p>
          <a:p>
            <a:r>
              <a:rPr lang="en-US" sz="3400" b="1" dirty="0">
                <a:solidFill>
                  <a:srgbClr val="7030A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Mr. Jitin Venkata Sai Kamineni (228W1A1223)</a:t>
            </a:r>
          </a:p>
          <a:p>
            <a:endParaRPr lang="en-US" b="1" dirty="0"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1C99C5-EE30-4E83-020F-AB107AAFE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31" y="323556"/>
            <a:ext cx="1685335" cy="1189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Image result for vrsec">
            <a:extLst>
              <a:ext uri="{FF2B5EF4-FFF2-40B4-BE49-F238E27FC236}">
                <a16:creationId xmlns:a16="http://schemas.microsoft.com/office/drawing/2014/main" id="{2FB9D22F-B0F6-BCE5-6536-DDB169F4A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3213" y="205380"/>
            <a:ext cx="1203323" cy="1307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9D6A404E-7555-9ACA-CFC9-DC07B12A00CE}"/>
              </a:ext>
            </a:extLst>
          </p:cNvPr>
          <p:cNvSpPr txBox="1"/>
          <p:nvPr/>
        </p:nvSpPr>
        <p:spPr>
          <a:xfrm>
            <a:off x="3483934" y="290135"/>
            <a:ext cx="5486400" cy="758857"/>
          </a:xfrm>
          <a:prstGeom prst="rect">
            <a:avLst/>
          </a:prstGeom>
          <a:noFill/>
        </p:spPr>
        <p:txBody>
          <a:bodyPr wrap="square" lIns="19998" tIns="9999" rIns="19998" bIns="9999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</a:p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R Siddhartha Engineering College 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54F03F9-F413-309E-0946-A0F5F29E558E}"/>
              </a:ext>
            </a:extLst>
          </p:cNvPr>
          <p:cNvSpPr txBox="1"/>
          <p:nvPr/>
        </p:nvSpPr>
        <p:spPr>
          <a:xfrm>
            <a:off x="3467100" y="2788760"/>
            <a:ext cx="525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Information Technology</a:t>
            </a:r>
          </a:p>
          <a:p>
            <a:pPr algn="ctr"/>
            <a:r>
              <a:rPr lang="en-US" sz="2000" b="1" dirty="0">
                <a:solidFill>
                  <a:srgbClr val="BF11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MINI-2 Project Review Presentation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77CE36-59E3-EE52-6823-E7B1AB3479A3}"/>
              </a:ext>
            </a:extLst>
          </p:cNvPr>
          <p:cNvSpPr/>
          <p:nvPr/>
        </p:nvSpPr>
        <p:spPr>
          <a:xfrm>
            <a:off x="3941133" y="5502192"/>
            <a:ext cx="4572000" cy="984885"/>
          </a:xfrm>
          <a:prstGeom prst="rect">
            <a:avLst/>
          </a:prstGeom>
        </p:spPr>
        <p:txBody>
          <a:bodyPr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</a:p>
          <a:p>
            <a:pPr algn="ctr"/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Dr. Ramesh Mande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</p:txBody>
      </p:sp>
    </p:spTree>
    <p:extLst>
      <p:ext uri="{BB962C8B-B14F-4D97-AF65-F5344CB8AC3E}">
        <p14:creationId xmlns:p14="http://schemas.microsoft.com/office/powerpoint/2010/main" val="1384888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>
          <a:xfrm>
            <a:off x="-28575" y="-317"/>
            <a:ext cx="12220575" cy="81413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0" name="Content Placeholder 6"/>
          <p:cNvSpPr>
            <a:spLocks noGrp="1"/>
          </p:cNvSpPr>
          <p:nvPr>
            <p:ph idx="1"/>
          </p:nvPr>
        </p:nvSpPr>
        <p:spPr>
          <a:xfrm>
            <a:off x="196278" y="1140208"/>
            <a:ext cx="11500138" cy="536135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Problem Statement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Outcomes of the project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Summary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and Requirements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 in the project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ABD07E-11C2-9ABC-153F-09A058ED6CD9}"/>
              </a:ext>
            </a:extLst>
          </p:cNvPr>
          <p:cNvSpPr txBox="1"/>
          <p:nvPr/>
        </p:nvSpPr>
        <p:spPr>
          <a:xfrm>
            <a:off x="0" y="1625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4EF448CB-294F-CC52-2938-397A16A96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78254"/>
            <a:ext cx="1139952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waste management relies on manual sorting, which is often slow, labor-intensive, and prone to human error, making it inefficient for large-scale waste handling.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limitations result in misclassification of waste and improper recycling practices, contributing to increased landfill accumulation, resource wastage, and environmental degradation.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overcome these challenges, our project introduces an automated waste classification system using a hybrid model built using EfficientNet-B0 and DenseNet-121, combined with a Rule-Based recycling framework. This approach ensures accurate classification, efficient processing, and promotes sustainable waste management practices.</a:t>
            </a:r>
          </a:p>
        </p:txBody>
      </p:sp>
    </p:spTree>
    <p:extLst>
      <p:ext uri="{BB962C8B-B14F-4D97-AF65-F5344CB8AC3E}">
        <p14:creationId xmlns:p14="http://schemas.microsoft.com/office/powerpoint/2010/main" val="3669755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DB990-0F44-2624-1A89-FC32ADDE9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12782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6C3A3-C37B-A008-B790-C6F99558D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1344361"/>
            <a:ext cx="11064240" cy="496981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management of waste classification is challenging due to the diverse nature of waste materials and the limitations of manual sorting methods.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approaches are often slow, error-prone, and inconsistent, leading to inefficient recycling and increased landfill accumulation.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automated, accurate, and scalable system to handle large volumes of waste effectively.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hybrid Deep Learning model, built by combining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 improve classification accuracy and robustness. The system is further integrated with a Rule-Based recycling framework to ensure efficient processing and sustainable waste management practices.</a:t>
            </a:r>
          </a:p>
        </p:txBody>
      </p:sp>
    </p:spTree>
    <p:extLst>
      <p:ext uri="{BB962C8B-B14F-4D97-AF65-F5344CB8AC3E}">
        <p14:creationId xmlns:p14="http://schemas.microsoft.com/office/powerpoint/2010/main" val="4268883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24472490"/>
              </p:ext>
            </p:extLst>
          </p:nvPr>
        </p:nvGraphicFramePr>
        <p:xfrm>
          <a:off x="548640" y="830580"/>
          <a:ext cx="11052810" cy="5249588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487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69773">
                <a:tc>
                  <a:txBody>
                    <a:bodyPr/>
                    <a:lstStyle/>
                    <a:p>
                      <a:pPr algn="ctr"/>
                      <a:r>
                        <a:rPr lang="en-IN" sz="4000"/>
                        <a:t>       </a:t>
                      </a:r>
                    </a:p>
                    <a:p>
                      <a:pPr algn="ctr"/>
                      <a:r>
                        <a:rPr lang="en-IN" sz="4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IN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  <a:p>
                      <a:endParaRPr lang="en-IN"/>
                    </a:p>
                    <a:p>
                      <a:pPr algn="ctr"/>
                      <a:r>
                        <a:rPr lang="en-IN" sz="4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Outcomes</a:t>
                      </a:r>
                      <a:endParaRPr lang="en-IN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948">
                <a:tc>
                  <a:txBody>
                    <a:bodyPr/>
                    <a:lstStyle/>
                    <a:p>
                      <a:pPr algn="just"/>
                      <a:endParaRPr lang="en-US" dirty="0"/>
                    </a:p>
                    <a:p>
                      <a:pPr algn="just"/>
                      <a:endParaRPr lang="en-US" dirty="0"/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 deep learning (Hybrid Models) model for accurate waste classification.</a:t>
                      </a: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 waste sorting to minimize manual intervention and errors.</a:t>
                      </a: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a Rule-Based System to determine optimal recycling methods.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dirty="0"/>
                    </a:p>
                    <a:p>
                      <a:pPr algn="just"/>
                      <a:endParaRPr lang="en-US" dirty="0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 automated and precise waste classification.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 an efficient and reliable recycling process with minimal human effort.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 landfill waste and support sustainable, eco-friendly waste management.</a:t>
                      </a:r>
                    </a:p>
                    <a:p>
                      <a:pPr algn="just"/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6FD83-CF86-82FF-DC30-720D4798C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2498"/>
            <a:ext cx="12192000" cy="752734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C1BEBC2-26A6-3D1F-D906-ECD2F41035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421942"/>
              </p:ext>
            </p:extLst>
          </p:nvPr>
        </p:nvGraphicFramePr>
        <p:xfrm>
          <a:off x="217189" y="740236"/>
          <a:ext cx="11757621" cy="60393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7942">
                  <a:extLst>
                    <a:ext uri="{9D8B030D-6E8A-4147-A177-3AD203B41FA5}">
                      <a16:colId xmlns:a16="http://schemas.microsoft.com/office/drawing/2014/main" val="3580588075"/>
                    </a:ext>
                  </a:extLst>
                </a:gridCol>
                <a:gridCol w="2793775">
                  <a:extLst>
                    <a:ext uri="{9D8B030D-6E8A-4147-A177-3AD203B41FA5}">
                      <a16:colId xmlns:a16="http://schemas.microsoft.com/office/drawing/2014/main" val="2711366977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445273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843556410"/>
                    </a:ext>
                  </a:extLst>
                </a:gridCol>
                <a:gridCol w="3163824">
                  <a:extLst>
                    <a:ext uri="{9D8B030D-6E8A-4147-A177-3AD203B41FA5}">
                      <a16:colId xmlns:a16="http://schemas.microsoft.com/office/drawing/2014/main" val="1376346153"/>
                    </a:ext>
                  </a:extLst>
                </a:gridCol>
              </a:tblGrid>
              <a:tr h="732536"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</a:t>
                      </a:r>
                      <a:r>
                        <a:rPr lang="en-US" sz="15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DETAILS</a:t>
                      </a:r>
                      <a:endParaRPr lang="en-IN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r>
                        <a:rPr lang="en-US" sz="15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USED</a:t>
                      </a:r>
                      <a:endParaRPr lang="en-IN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ALGORITHMS USED AND RESULTS </a:t>
                      </a:r>
                      <a:endParaRPr lang="en-IN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  <a:endParaRPr lang="en-IN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640186"/>
                  </a:ext>
                </a:extLst>
              </a:tr>
              <a:tr h="2331132"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Title: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Reliable and Robust Deep Learning Model for Effective Recyclable Waste Classification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Authors: </a:t>
                      </a:r>
                      <a:r>
                        <a:rPr lang="en-IN" sz="1400" b="0" i="0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Hossen, M. M., Majid, M. E., Kashem, S. B. A., Khandakar, </a:t>
                      </a:r>
                      <a:r>
                        <a:rPr lang="en-IN" sz="1400" b="0" i="0" dirty="0" err="1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Nashbat</a:t>
                      </a:r>
                      <a:endParaRPr lang="en-IN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Year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2024,IEEE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Type: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2024 IEEE Access Publication</a:t>
                      </a:r>
                      <a:endParaRPr lang="en-IN" sz="14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TrashNet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dataset (2,527 images)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RWC-Net combining DenseNet-201 and MobileNet-V2.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95.01% overall accuracy, outperforming existing models.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F1-scores across waste classes (Cardboard, Glass, Metal, Paper, Plastic, Litter).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efficient automated waste classification for recycling systems.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Performs well on the </a:t>
                      </a:r>
                      <a:r>
                        <a:rPr lang="en-US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TrashNet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dataset but may not generalize to real-world conditions.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dataset size and class imbalance affect robustness.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Assumes clean, single-object images without object detection capability.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526127"/>
                  </a:ext>
                </a:extLst>
              </a:tr>
              <a:tr h="2614564"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Title: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Recycle Waste Detection and Classification Model Using YOLO-V8 for Real-time Waste Management</a:t>
                      </a:r>
                      <a:endParaRPr lang="en-US" sz="1400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Authors: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b="0" i="0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b="0" i="0" dirty="0" err="1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Rastari</a:t>
                      </a:r>
                      <a:r>
                        <a:rPr lang="en-IN" sz="1400" b="0" i="0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M. A. M., Roslan, R., Hamzah, R., Teo, N. H. I., </a:t>
                      </a:r>
                      <a:r>
                        <a:rPr lang="en-IN" sz="1400" b="0" i="0" dirty="0" err="1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Shahbudin</a:t>
                      </a:r>
                      <a:endParaRPr lang="sv-SE" sz="1400" b="0" i="0" u="sng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Year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2024,IEEE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Type: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2024 IEEE International Conference on Artificial Intelligence in Engineering and Technology (IICAIET)</a:t>
                      </a:r>
                      <a:endParaRPr lang="en-IN" sz="14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Garbage Classification Dataset, Recycled Waste Image Dataset, Augmented Waste Image Dataset.</a:t>
                      </a:r>
                      <a:endParaRPr lang="en-US" sz="1400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None/>
                      </a:pP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YOLO-v8 for real-time recyclable waste classification.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97.63% accuracy on the augmented dataset.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Trained on 10,057 images with an 80–10–10 train–validation–test split.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Successfully classified waste types such as paper, glass, metal, and plastic.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 achieved under controlled image conditions.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waste categories reduce real-world generalization.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not evaluated on cluttered or overlapping objects.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Dependent on high-quality images, affecting outdoor or low-light usage.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156"/>
                  </a:ext>
                </a:extLst>
              </a:tr>
              <a:tr h="323959">
                <a:tc gridSpan="5">
                  <a:txBody>
                    <a:bodyPr/>
                    <a:lstStyle/>
                    <a:p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001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7772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74F80D7-E7A1-4E08-84A5-66EF07A9D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186504"/>
              </p:ext>
            </p:extLst>
          </p:nvPr>
        </p:nvGraphicFramePr>
        <p:xfrm>
          <a:off x="116254" y="-219456"/>
          <a:ext cx="11959492" cy="6995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0674">
                  <a:extLst>
                    <a:ext uri="{9D8B030D-6E8A-4147-A177-3AD203B41FA5}">
                      <a16:colId xmlns:a16="http://schemas.microsoft.com/office/drawing/2014/main" val="3580588075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71136697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445273000"/>
                    </a:ext>
                  </a:extLst>
                </a:gridCol>
                <a:gridCol w="3447288">
                  <a:extLst>
                    <a:ext uri="{9D8B030D-6E8A-4147-A177-3AD203B41FA5}">
                      <a16:colId xmlns:a16="http://schemas.microsoft.com/office/drawing/2014/main" val="2843556410"/>
                    </a:ext>
                  </a:extLst>
                </a:gridCol>
                <a:gridCol w="3855290">
                  <a:extLst>
                    <a:ext uri="{9D8B030D-6E8A-4147-A177-3AD203B41FA5}">
                      <a16:colId xmlns:a16="http://schemas.microsoft.com/office/drawing/2014/main" val="1376346153"/>
                    </a:ext>
                  </a:extLst>
                </a:gridCol>
              </a:tblGrid>
              <a:tr h="176384">
                <a:tc gridSpan="5">
                  <a:txBody>
                    <a:bodyPr/>
                    <a:lstStyle/>
                    <a:p>
                      <a:endParaRPr lang="en-IN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24640186"/>
                  </a:ext>
                </a:extLst>
              </a:tr>
              <a:tr h="2185416"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Title: 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Enhancing Waste Sorting and Recycling Efficiency: Robust Deep Learning-Based Approach for Classification and Detection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Authors: </a:t>
                      </a:r>
                      <a:r>
                        <a:rPr lang="en-IN" sz="1400" b="0" i="0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Sayem, F. R., Islam, M. S. B., </a:t>
                      </a:r>
                      <a:r>
                        <a:rPr lang="en-IN" sz="1400" b="0" i="0" dirty="0" err="1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Naznine</a:t>
                      </a:r>
                      <a:r>
                        <a:rPr lang="en-IN" sz="1400" b="0" i="0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M., </a:t>
                      </a:r>
                      <a:r>
                        <a:rPr lang="en-IN" sz="1400" b="0" i="0" dirty="0" err="1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Nashbat</a:t>
                      </a:r>
                      <a:r>
                        <a:rPr lang="en-IN" sz="1400" b="0" i="0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M., Hasan-Zia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Year: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2024,SPRINGER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Type: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Neural Computing and Applications (2025)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WasteRecycling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Plant dataset (WARP)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a Dual-Stream Network (DenseNet-201 + Multi-Axis Vision Transformer) for waste classification.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83.11% classification accuracy on the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WaRP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dataset.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GELAN-E model obtained 63% mAP@50 for waste object detection.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 improved waste sorting and recycling efficiency.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imbalance in categories like bottles and detergents affects performance.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Visually similar waste items and complex backgrounds cause misclassification.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cost of the 2S_DenseViT model limits real-time deployment.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Reliance on RGB images only restricts accuracy; multimodal data could improve results.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526127"/>
                  </a:ext>
                </a:extLst>
              </a:tr>
              <a:tr h="2126621"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Title: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E-Waste Intelligent Robotic Technology (EIRT): A Deep Learning approach for Electronic Waste Detection, Classification and Sorting</a:t>
                      </a:r>
                    </a:p>
                    <a:p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Authors: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b="0" i="0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Joseph, I. O., Wangare, N. L., </a:t>
                      </a:r>
                      <a:r>
                        <a:rPr lang="en-IN" sz="1400" b="0" i="0" dirty="0" err="1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Mahoque</a:t>
                      </a:r>
                      <a:r>
                        <a:rPr lang="en-IN" sz="1400" b="0" i="0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T. P., Tewari, P., &amp; Majumdar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Year: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2023,IEEE</a:t>
                      </a:r>
                    </a:p>
                    <a:p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Type: 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14th ICCCNT IEEE Conference </a:t>
                      </a:r>
                      <a:endParaRPr lang="en-US" sz="14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TrashBox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Waste Pictures,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eWaste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datasets (total ~5,336 images)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EfficientNet-D2 for automated e-waste classification.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82.32% accuracy across all categories.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Classified five e-waste types: Battery, Electronic Board, Home Appliances, Mobile Phone, Mouse.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Demonstrated potential for improved e-waste sorting and recycling management.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limited by small dataset and few e-waste categories.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environmental variability affects real-world scalability.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Robotic system physically handles only three classes, restricting sorting.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 reliability and performance in cluttered scenes are not evaluated.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156"/>
                  </a:ext>
                </a:extLst>
              </a:tr>
              <a:tr h="1849547">
                <a:tc>
                  <a:txBody>
                    <a:bodyPr/>
                    <a:lstStyle/>
                    <a:p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Title: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Waste Management System using Waste Classification on Mobile Application</a:t>
                      </a:r>
                      <a:endParaRPr lang="en-US" sz="1400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Authors: </a:t>
                      </a:r>
                      <a:r>
                        <a:rPr lang="en-IN" sz="1400" b="0" i="0" dirty="0" err="1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Polchan</a:t>
                      </a:r>
                      <a:r>
                        <a:rPr lang="en-IN" sz="1400" b="0" i="0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M., </a:t>
                      </a:r>
                      <a:r>
                        <a:rPr lang="en-IN" sz="1400" b="0" i="0" dirty="0" err="1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Pukao</a:t>
                      </a:r>
                      <a:r>
                        <a:rPr lang="en-IN" sz="1400" b="0" i="0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A., </a:t>
                      </a:r>
                      <a:r>
                        <a:rPr lang="en-IN" sz="1400" b="0" i="0" dirty="0" err="1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Cheunban</a:t>
                      </a:r>
                      <a:r>
                        <a:rPr lang="en-IN" sz="1400" b="0" i="0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T., &amp; </a:t>
                      </a:r>
                      <a:r>
                        <a:rPr lang="en-IN" sz="1400" b="0" i="0" dirty="0" err="1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Sinthupuan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Year: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2023,IEEE</a:t>
                      </a:r>
                    </a:p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Type: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International Conference on Digital Arts, Media and Technology (DAMT)</a:t>
                      </a:r>
                      <a:endParaRPr lang="en-US" sz="1400" b="0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dataset (10,000 images across 10 waste types)</a:t>
                      </a:r>
                      <a:endParaRPr lang="en-US" sz="1400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MobileNetV2 achieved the highest validation accuracy of 88.64%.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Outperformed InceptionV3, ResNet34, VGG16, and CNN models.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Trained on 10,000 images covering 10 waste categories.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VGG16 and InceptionV3 showed overfitting, while MobileNetV2 remained more reliable</a:t>
                      </a:r>
                      <a:r>
                        <a:rPr lang="en-IN" sz="1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evaluated only in a controlled university environment.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Generalization to outdoor and diverse waste conditions is uncertain.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mobile deployment performance is not thoroughly tested.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class balance and lighting variability are not addressed.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001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488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05E667-260C-D4AA-B713-7A33F7680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769182"/>
              </p:ext>
            </p:extLst>
          </p:nvPr>
        </p:nvGraphicFramePr>
        <p:xfrm>
          <a:off x="289169" y="554892"/>
          <a:ext cx="11603793" cy="64195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1223">
                  <a:extLst>
                    <a:ext uri="{9D8B030D-6E8A-4147-A177-3AD203B41FA5}">
                      <a16:colId xmlns:a16="http://schemas.microsoft.com/office/drawing/2014/main" val="3580588075"/>
                    </a:ext>
                  </a:extLst>
                </a:gridCol>
                <a:gridCol w="2898648">
                  <a:extLst>
                    <a:ext uri="{9D8B030D-6E8A-4147-A177-3AD203B41FA5}">
                      <a16:colId xmlns:a16="http://schemas.microsoft.com/office/drawing/2014/main" val="271136697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445273000"/>
                    </a:ext>
                  </a:extLst>
                </a:gridCol>
                <a:gridCol w="3511296">
                  <a:extLst>
                    <a:ext uri="{9D8B030D-6E8A-4147-A177-3AD203B41FA5}">
                      <a16:colId xmlns:a16="http://schemas.microsoft.com/office/drawing/2014/main" val="2843556410"/>
                    </a:ext>
                  </a:extLst>
                </a:gridCol>
                <a:gridCol w="3261026">
                  <a:extLst>
                    <a:ext uri="{9D8B030D-6E8A-4147-A177-3AD203B41FA5}">
                      <a16:colId xmlns:a16="http://schemas.microsoft.com/office/drawing/2014/main" val="1376346153"/>
                    </a:ext>
                  </a:extLst>
                </a:gridCol>
              </a:tblGrid>
              <a:tr h="253630">
                <a:tc gridSpan="5">
                  <a:txBody>
                    <a:bodyPr/>
                    <a:lstStyle/>
                    <a:p>
                      <a:endParaRPr lang="en-IN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24640186"/>
                  </a:ext>
                </a:extLst>
              </a:tr>
              <a:tr h="2261460"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Title: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Waste Classification using Convolutional Neural Network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Authors: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b="0" i="0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Thinakaran, R., </a:t>
                      </a:r>
                      <a:r>
                        <a:rPr lang="en-IN" sz="1400" b="0" i="0" dirty="0" err="1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Somasekar</a:t>
                      </a:r>
                      <a:r>
                        <a:rPr lang="en-IN" sz="1400" b="0" i="0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J., </a:t>
                      </a:r>
                      <a:r>
                        <a:rPr lang="en-IN" sz="1400" b="0" i="0" dirty="0" err="1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Neerugatti</a:t>
                      </a:r>
                      <a:r>
                        <a:rPr lang="en-IN" sz="1400" b="0" i="0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V., &amp; Saran, P. G. 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Year: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2024,IEEE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Type: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14th International Conference on Software Technology and Engineering (ICSTE)</a:t>
                      </a:r>
                      <a:endParaRPr lang="en-IN" sz="14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UCI Waste Classification dataset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a Convolutional Neural Network (CNN) for waste classification.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90% training accuracy and 85% validation accuracy.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Classified waste into organic and recyclable categories.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dependence on manual waste sorting.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a binary classification task, reducing real-world applicability.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diversity is low, affecting generalization.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in dynamic or cluttered environments is not evaluated.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Overfitting risks identified without using regularization techniques.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526127"/>
                  </a:ext>
                </a:extLst>
              </a:tr>
              <a:tr h="2834640"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Title: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Harnessing Deep Learning for Sustainable Waste Classification: An Innovative Approach Using MobileNetV2 on a Diverse Bag Dataset</a:t>
                      </a:r>
                      <a:endParaRPr lang="en-IN" sz="14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Authors: </a:t>
                      </a:r>
                      <a:r>
                        <a:rPr lang="fi-FI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Jain, Eshika, and Ravi Kumar.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Year: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2024,IEEE</a:t>
                      </a:r>
                    </a:p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Type: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International Conference on Cybernation and Computation (CYBERCOM)</a:t>
                      </a:r>
                      <a:endParaRPr lang="en-US" sz="14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Diverse Bag Dataset (3,000 images), including garbage bags, paper bags, and plastic bags</a:t>
                      </a:r>
                      <a:endParaRPr lang="en-US" sz="1400" b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MobileNetV2 (CNN) for garbage bag classification.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98% overall accuracy across all classes.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Precision, recall, and F1-scores were above 96% for all categories.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Demonstrated reliable performance for automated sorting and recycling.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Evaluated on a small, well-curated dataset with only three bag types.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Overfitting observed after a few training epochs.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generalization due to absence of noisy real-world data.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address mixed waste scenarios or varying lighting conditions.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156"/>
                  </a:ext>
                </a:extLst>
              </a:tr>
              <a:tr h="1003458">
                <a:tc gridSpan="5">
                  <a:txBody>
                    <a:bodyPr/>
                    <a:lstStyle/>
                    <a:p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001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6048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SUMMARY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45440" y="1164612"/>
            <a:ext cx="11247120" cy="4693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techniques, including CNNs,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YOLO, are widely used for automated waste classification and recycling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Commonly used datasets for waste classification include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TrashNet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WasteNet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Garbage Classification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WARP, providing diverse images of recyclable and non-recyclable waste for training and evaluation.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and preprocessing techniques, such as rotation, flipping, and normalization, help improve model generalization and robustness in waste classification.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 mechanisms and ensemble learning improve classification accuracy, making waste sorting more efficient and reliable in real-world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literature highlights advancements in deep learning methodologies, dataset quality, and hybrid approaches, emphasizing the role of automation in sustainable waste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1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777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61288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AND REQUIREMENTS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" y="804672"/>
            <a:ext cx="11084561" cy="5931407"/>
          </a:xfrm>
        </p:spPr>
        <p:txBody>
          <a:bodyPr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Garbage Classification &amp;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TrashBox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Dataset: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created by merging the Garbage Classification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TrashBox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datasets, ensuring a balanced distribution for effective model training.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classes include Metal, Glass,  Paper, Cardboard, Clothes, and Plastic (4,000 images each).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It is well-suited for developing classification or object detection models and creating AI-powered solutions for sustainable waste disposal.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    Kaggle -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https://www.kaggle.com/datasets/sumn2u/garbage-classification-v2/data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	       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https://www.kaggle.com/datasets/minhle13/trashbox</a:t>
            </a:r>
            <a:endParaRPr lang="en-IN" sz="3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F5616C-EB14-600C-F739-D89EC6997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356" y="4420171"/>
            <a:ext cx="10090816" cy="213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667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741144"/>
            <a:ext cx="10993120" cy="5717407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REQUIREMENTS:</a:t>
            </a:r>
          </a:p>
          <a:p>
            <a:pPr algn="just" rtl="0">
              <a:spcBef>
                <a:spcPts val="400"/>
              </a:spcBef>
              <a:buNone/>
            </a:pPr>
            <a:br>
              <a:rPr lang="en-IN" sz="1600" b="0" dirty="0">
                <a:effectLst/>
              </a:rPr>
            </a:b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 </a:t>
            </a: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Hardware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2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2800" lvl="1" algn="just" fontAlgn="base">
              <a:spcBef>
                <a:spcPts val="400"/>
              </a:spcBef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GPU-enabled system for faster training (e.g.  Google </a:t>
            </a:r>
            <a:r>
              <a:rPr lang="en-IN" sz="22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Kaggle )</a:t>
            </a:r>
          </a:p>
          <a:p>
            <a:pPr marL="812800" lvl="1" algn="just" fontAlgn="base">
              <a:spcBef>
                <a:spcPts val="400"/>
              </a:spcBef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Minimum 16GB RAM</a:t>
            </a:r>
          </a:p>
          <a:p>
            <a:pPr algn="just" rtl="0">
              <a:spcBef>
                <a:spcPts val="400"/>
              </a:spcBef>
              <a:buNone/>
            </a:pPr>
            <a:endParaRPr lang="en-IN" sz="2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>
              <a:spcBef>
                <a:spcPts val="400"/>
              </a:spcBef>
              <a:buNone/>
            </a:pP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&amp; Frameworks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>
              <a:spcBef>
                <a:spcPts val="400"/>
              </a:spcBef>
              <a:buNone/>
            </a:pPr>
            <a:endParaRPr lang="en-IN" sz="18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Frameworks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Hybrid Models (DenseNet121 + EfficientNetB0, ResNet50 + Vision Transformer)</a:t>
            </a:r>
          </a:p>
          <a:p>
            <a:pPr lvl="2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Tools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Torchvision,NumPy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Pandas</a:t>
            </a:r>
          </a:p>
          <a:p>
            <a:pPr lvl="2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Python</a:t>
            </a:r>
          </a:p>
          <a:p>
            <a:pPr lvl="2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Tools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Scikit-learn (for metrics like accuracy, precision, recall, F1-score, and dataset splitting)</a:t>
            </a:r>
          </a:p>
          <a:p>
            <a:pPr lvl="2">
              <a:buNone/>
            </a:pPr>
            <a:br>
              <a:rPr lang="en-IN" sz="1800" b="0" dirty="0">
                <a:effectLst/>
              </a:rPr>
            </a:br>
            <a:br>
              <a:rPr lang="en-IN" sz="1800" b="0" dirty="0">
                <a:effectLst/>
              </a:rPr>
            </a:br>
            <a:br>
              <a:rPr lang="en-IN" sz="1800" b="0" dirty="0">
                <a:effectLst/>
              </a:rPr>
            </a:b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398567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686" y="134167"/>
            <a:ext cx="11908971" cy="76934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 in the Project 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5686" y="1012371"/>
            <a:ext cx="11604171" cy="5562601"/>
          </a:xfrm>
        </p:spPr>
        <p:txBody>
          <a:bodyPr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DenseNet121 + EfficientNet-B0 (Feature Fusion)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– Input images are resized to 224×224×3 RGB and normalized using standard preprocessing, ensuring consistency and stable convergence across both backbones.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– Two pretrained backbones (DenseNet121 – 1024 channels, EfficientNet-B0 – 1280 channels) trained on ImageNet are used as feature extractors.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– Extracted feature maps are aligned using adaptive pooling to ensure equal spatial dimensions.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– The feature maps are concatenated (feature-level fusion), forming a 2304-dimensional fused representation that captures complementary patterns.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 – The fused features are passed through a Global Average Pooling (AdaptiveAvgPool2d) layer and flattened into a compact vector.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 – A dense classifier head (512 → 256,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with Dropout (0.5, 0.25) learns non-linear interactions and prevents overfitting.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 – The final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 outputs probabilities over 6 waste categories: Paper, Cardboard, Metal, Plastic, Cloth, and Glass.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8 – A rule-based recycling system maps each predicted waste type to its corresponding recycling method and disposal steps, providing practical guidance for sustainable waste management.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F2998-4B6C-EEBE-8966-6B9DA69C8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279133"/>
            <a:ext cx="11669486" cy="63815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1800" b="1" dirty="0"/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ResNet-50 + Vision Transformer (Feature Fusion + Fine-Tuning):</a:t>
            </a:r>
            <a:endParaRPr lang="en-US" sz="1800" b="1" dirty="0"/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– Input images are resized to 224×224×3 RGB and normalized to ensure compatibility and stable training.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– A pretrained ResNet-50 (177 layers, ImageNet) is used to extract hierarchical convolutional features, capturing local textures and patterns.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– A pretrained Vision Transformer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ImageNet) encodes the image into patch embeddings, capturing global dependencies and contextual relationships.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– From ResNet-50, Global Average Pooling (GAP) is applied, while from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[CLS] token embedding is extracted; both are compact feature vectors representing the image.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 – The two feature vectors are concatenated (feature-level fusion), combining local CNN-based details with global transformer-based context.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 – A Dense layer (512 neurons,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learns non-linear interactions between the fused features, enhancing representation power.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 – Dropout (0.5) is applied after the dense layer to prevent overfitting and improve model robustness.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8 – Fine-tuning strategy: Lower layers of ResNet-50 and early transformer blocks are frozen, while higher layers and fusion layers are trainable, allowing adaptation to the waste dataset without losing pretrained knowledge.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9 – The final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 outputs probabilities over 6 waste categories (Paper, Cardboard, Metal, Plastic, Cloth, Glass), enabling accurate classification.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7064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35266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54CA11-FC0D-EAF9-3D5C-5A4B8362A7B9}"/>
              </a:ext>
            </a:extLst>
          </p:cNvPr>
          <p:cNvSpPr txBox="1"/>
          <p:nvPr/>
        </p:nvSpPr>
        <p:spPr>
          <a:xfrm>
            <a:off x="838200" y="1690688"/>
            <a:ext cx="850393" cy="789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9124F82-B78F-28FD-73B5-6EBDEC151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028" y="635267"/>
            <a:ext cx="9960085" cy="598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727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4968A-641A-97C4-7278-F78476422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35" y="0"/>
            <a:ext cx="10972800" cy="881743"/>
          </a:xfrm>
        </p:spPr>
        <p:txBody>
          <a:bodyPr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Execution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E30EB-6CF2-FCEE-F1AF-4D53B64FC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457" y="881743"/>
            <a:ext cx="11353008" cy="56271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details: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1.Environment Setup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Kaggle GPU v2 with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Torchvision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NumPy, Pandas, Scikit-learn, and Matplotlib for efficient training and analysis.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2.Dataset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two Kaggle waste datasets into 6 balanced classes with 4000 images each, making 24,000 total, and split into 70% training, 15% validation, and 15% testing for generalization.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3.Image Preprocessing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images resized to 224×224×3 with normalization and data augmentation (flips, rotations, shifts) for robustness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Hybrid Model 1 – DenseNet121 + EfficientNet-B0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 backbones on ImageNet, features concatenated at fusion layer, followed by dense layers with dropout for classification.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Hybrid Model 2 – ResNet-50 +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captures local features while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 global context; features fused and fine-tuned on higher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layers with discriminative learning rates.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6.Evaluation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models using test accuracy, confusion matrix, and classification report showing precision, recall, and F1-score for each class.</a:t>
            </a:r>
          </a:p>
        </p:txBody>
      </p:sp>
    </p:spTree>
    <p:extLst>
      <p:ext uri="{BB962C8B-B14F-4D97-AF65-F5344CB8AC3E}">
        <p14:creationId xmlns:p14="http://schemas.microsoft.com/office/powerpoint/2010/main" val="981671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443A-890D-415B-9B56-43575217B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42" y="533399"/>
            <a:ext cx="10357328" cy="858599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6157B-C564-7443-E4F3-4CD9051F6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905" y="1600200"/>
            <a:ext cx="11659986" cy="4983162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Hybrid Model 1- DenseNet121 + EfficientNet-B0 model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FC1518-8B14-54F0-CF63-D36C93323AF1}"/>
              </a:ext>
            </a:extLst>
          </p:cNvPr>
          <p:cNvSpPr txBox="1"/>
          <p:nvPr/>
        </p:nvSpPr>
        <p:spPr>
          <a:xfrm>
            <a:off x="475268" y="5346596"/>
            <a:ext cx="3083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Validation Accuracy Graph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1FF5AD-4635-0554-9F2C-C76D680C2699}"/>
              </a:ext>
            </a:extLst>
          </p:cNvPr>
          <p:cNvSpPr txBox="1"/>
          <p:nvPr/>
        </p:nvSpPr>
        <p:spPr>
          <a:xfrm>
            <a:off x="4233333" y="5346596"/>
            <a:ext cx="3335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Validation 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Graph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F44BBA-D5A0-0C7E-9A1F-61846AEA3CCF}"/>
              </a:ext>
            </a:extLst>
          </p:cNvPr>
          <p:cNvSpPr txBox="1"/>
          <p:nvPr/>
        </p:nvSpPr>
        <p:spPr>
          <a:xfrm>
            <a:off x="8986182" y="5459916"/>
            <a:ext cx="1996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902BB2-A6C9-E5BD-D14C-7F527ACEE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09" y="2213557"/>
            <a:ext cx="3676104" cy="30442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8574A9-7C11-3D67-D7A9-24FDB74E3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671" y="2207471"/>
            <a:ext cx="3807192" cy="30442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D873B7-1437-7C29-225A-90339CB92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505" y="2216097"/>
            <a:ext cx="3532143" cy="304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791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443A-890D-415B-9B56-43575217B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497" y="594897"/>
            <a:ext cx="10515600" cy="7971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6157B-C564-7443-E4F3-4CD9051F6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905" y="1549400"/>
            <a:ext cx="11659986" cy="4886532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Hybrid Model 2 – ResNet-50 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FC1518-8B14-54F0-CF63-D36C93323AF1}"/>
              </a:ext>
            </a:extLst>
          </p:cNvPr>
          <p:cNvSpPr txBox="1"/>
          <p:nvPr/>
        </p:nvSpPr>
        <p:spPr>
          <a:xfrm>
            <a:off x="632497" y="5484715"/>
            <a:ext cx="3246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Validation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 Graph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1FF5AD-4635-0554-9F2C-C76D680C2699}"/>
              </a:ext>
            </a:extLst>
          </p:cNvPr>
          <p:cNvSpPr txBox="1"/>
          <p:nvPr/>
        </p:nvSpPr>
        <p:spPr>
          <a:xfrm>
            <a:off x="4618301" y="5484715"/>
            <a:ext cx="3127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Validation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Loss Graph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F44BBA-D5A0-0C7E-9A1F-61846AEA3CCF}"/>
              </a:ext>
            </a:extLst>
          </p:cNvPr>
          <p:cNvSpPr txBox="1"/>
          <p:nvPr/>
        </p:nvSpPr>
        <p:spPr>
          <a:xfrm>
            <a:off x="9357012" y="5623213"/>
            <a:ext cx="1996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610AAC-3C73-F5A8-CE3D-BA10189FD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279" y="2217929"/>
            <a:ext cx="3937254" cy="3187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3C011A-482E-2C53-F05F-6D2B9868B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42" y="2217929"/>
            <a:ext cx="3916036" cy="3187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8614B34-3EAE-AE30-25CA-DF3D34BC9F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392" y="2217929"/>
            <a:ext cx="3472515" cy="321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292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29F42-8041-C215-0C99-EF6D89BC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806" y="37277"/>
            <a:ext cx="5483994" cy="411956"/>
          </a:xfrm>
        </p:spPr>
        <p:txBody>
          <a:bodyPr>
            <a:normAutofit/>
          </a:bodyPr>
          <a:lstStyle/>
          <a:p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DenseNet121 + EfficientNet-B0 Model Testing</a:t>
            </a:r>
            <a:endParaRPr lang="en-IN" sz="2000" b="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B83B6A7-0633-8E5F-C8BF-DD3A28A0224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3182" y="2472747"/>
            <a:ext cx="5325979" cy="213152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2A249F-4DB1-9C8D-4AD7-27DDAF9BA9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9932" y="37277"/>
            <a:ext cx="4976645" cy="411956"/>
          </a:xfrm>
        </p:spPr>
        <p:txBody>
          <a:bodyPr>
            <a:normAutofit/>
          </a:bodyPr>
          <a:lstStyle/>
          <a:p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ResNet-50 + </a:t>
            </a:r>
            <a:r>
              <a:rPr lang="en-US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Testing</a:t>
            </a:r>
            <a:endParaRPr lang="en-IN" sz="2000" b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405EB1-7B41-50D1-7C06-E82290DCB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05" y="4706754"/>
            <a:ext cx="5393356" cy="18205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BBEE125-F03D-102C-B474-C043575F4E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422" y="449233"/>
            <a:ext cx="5483995" cy="1921028"/>
          </a:xfrm>
          <a:prstGeom prst="rect">
            <a:avLst/>
          </a:prstGeom>
        </p:spPr>
      </p:pic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A39198EC-1097-8556-57F1-7F504962CEA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5"/>
          <a:stretch>
            <a:fillRect/>
          </a:stretch>
        </p:blipFill>
        <p:spPr>
          <a:xfrm>
            <a:off x="6679930" y="3513221"/>
            <a:ext cx="5129253" cy="290256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09873AA-B57A-81AC-DB2D-DB9E4777F5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9931" y="449233"/>
            <a:ext cx="5129253" cy="270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209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933" y="97404"/>
            <a:ext cx="10515600" cy="661547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04029" y="758952"/>
            <a:ext cx="1109064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IN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Hossen</a:t>
            </a: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M. M., Majid, M. E., </a:t>
            </a:r>
            <a:r>
              <a:rPr lang="en-IN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Kashem</a:t>
            </a: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S. B. A., </a:t>
            </a:r>
            <a:r>
              <a:rPr lang="en-IN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Khandakar</a:t>
            </a: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lang="en-IN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Nashbat</a:t>
            </a: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M., Ashraf, A., ... &amp; Chowdhury, M. E. (2024). A reliable and robust deep learning model for effective recyclable waste classification. </a:t>
            </a:r>
            <a:r>
              <a:rPr lang="en-IN" sz="16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16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13809-13821.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IN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Rastari</a:t>
            </a: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M. A. M., Roslan, R., Hamzah, R., Teo, N. H. I., </a:t>
            </a:r>
            <a:r>
              <a:rPr lang="en-IN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Shahbudin</a:t>
            </a: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F. E., &amp; Samah, K. A. F. A. (2024, August). Recycle waste detection and classification model using YOLO-V8 for real-time waste management. In </a:t>
            </a:r>
            <a:r>
              <a:rPr lang="en-IN" sz="16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2024 IEEE International Conference on Artificial Intelligence in Engineering and Technology (IICAIET)</a:t>
            </a: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(pp. 372-377). IEEE.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sz="1200" b="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IN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Sayem</a:t>
            </a: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F. R., Islam, M. S. B., </a:t>
            </a:r>
            <a:r>
              <a:rPr lang="en-IN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Naznine</a:t>
            </a: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M., </a:t>
            </a:r>
            <a:r>
              <a:rPr lang="en-IN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Nashbat</a:t>
            </a: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M., Hasan-Zia, M., Kunju, A. K. A., ... &amp; Chowdhury, M. E. (2024). Enhancing waste sorting and recycling efficiency: robust deep learning-based approach for classification and detection. </a:t>
            </a:r>
            <a:r>
              <a:rPr lang="en-IN" sz="16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Neural Computing and Applications</a:t>
            </a: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1-17.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sz="12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[4] Joseph, I. O., </a:t>
            </a:r>
            <a:r>
              <a:rPr lang="en-IN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Wangare</a:t>
            </a: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N. L., </a:t>
            </a:r>
            <a:r>
              <a:rPr lang="en-IN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Mahoque</a:t>
            </a: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T. P., Tewari, P., &amp; Majumdar, S. (2023, July). E-Waste Intelligent Robotic Technology (EIRT): A Deep Learning approach for Electronic Waste Detection, Classification and Sorting. In </a:t>
            </a:r>
            <a:r>
              <a:rPr lang="en-IN" sz="16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2023 14th International Conference on Computing Communication and Networking Technologies (ICCCNT)</a:t>
            </a: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(pp. 1-6). IEEE.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sz="1200" b="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IN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Polchan</a:t>
            </a: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M., </a:t>
            </a:r>
            <a:r>
              <a:rPr lang="en-IN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Pukao</a:t>
            </a: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lang="en-IN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Cheunban</a:t>
            </a: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T., &amp; </a:t>
            </a:r>
            <a:r>
              <a:rPr lang="en-IN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Sinthupuan</a:t>
            </a: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S. (2023, March). Waste Management System using Waste Classification on Mobile Application. In </a:t>
            </a:r>
            <a:r>
              <a:rPr lang="en-IN" sz="16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2023 Joint International Conference on Digital Arts, Media and Technology with ECTI Northern Section Conference on Electrical, Electronics, Computer and Telecommunications Engineering (ECTI DAMT &amp; NCON)</a:t>
            </a: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(pp. 229-233). IEEE.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sz="12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[6] </a:t>
            </a:r>
            <a:r>
              <a:rPr lang="en-IN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Thinakaran</a:t>
            </a: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R., </a:t>
            </a:r>
            <a:r>
              <a:rPr lang="en-IN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Somasekar</a:t>
            </a: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J., </a:t>
            </a:r>
            <a:r>
              <a:rPr lang="en-IN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Neerugatti</a:t>
            </a: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V., &amp; Saran, P. G. (2024, August). Automated Waste Classification using Convolutional Neural Network. In </a:t>
            </a:r>
            <a:r>
              <a:rPr lang="en-IN" sz="16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2024 14th International Conference on Software Technology and Engineering (ICSTE)</a:t>
            </a: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(pp. 169-173). IEEE.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sz="1200" b="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[7] </a:t>
            </a: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Jain, E., &amp; Kumar, R. (2024, November). Harnessing Deep Learning for Sustainable Waste Classification: An Innovative Approach Using MobileNetV2 on a Diverse Bag Dataset. In </a:t>
            </a:r>
            <a:r>
              <a:rPr lang="en-IN" sz="16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2024 International Conference on Cybernation and Computation (CYBERCOM)</a:t>
            </a: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(pp. 335-339). IEEE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210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EBC3-3BC6-918A-44B2-2F30DBE4C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E7F98-B9D5-F358-F6A2-0B198C78D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546B29-70F1-2684-BFD1-278303DC1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088"/>
            <a:ext cx="12164291" cy="673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8088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0*489"/>
  <p:tag name="TABLE_ENDDRAG_RECT" val="43*11*870*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1705</TotalTime>
  <Words>2917</Words>
  <Application>Microsoft Office PowerPoint</Application>
  <PresentationFormat>Widescreen</PresentationFormat>
  <Paragraphs>283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Tahoma</vt:lpstr>
      <vt:lpstr>Times New Roman</vt:lpstr>
      <vt:lpstr>Office Theme</vt:lpstr>
      <vt:lpstr>PowerPoint Presentation</vt:lpstr>
      <vt:lpstr>Contents </vt:lpstr>
      <vt:lpstr>PowerPoint Presentation</vt:lpstr>
      <vt:lpstr>PROBLEM STATEMENT:</vt:lpstr>
      <vt:lpstr>PowerPoint Presentation</vt:lpstr>
      <vt:lpstr>Literature Review</vt:lpstr>
      <vt:lpstr>PowerPoint Presentation</vt:lpstr>
      <vt:lpstr>PowerPoint Presentation</vt:lpstr>
      <vt:lpstr>LITERATURE SUMMARY</vt:lpstr>
      <vt:lpstr>DATASETS AND REQUIREMENTS</vt:lpstr>
      <vt:lpstr>PowerPoint Presentation</vt:lpstr>
      <vt:lpstr>Algorithms used in the Project </vt:lpstr>
      <vt:lpstr>PowerPoint Presentation</vt:lpstr>
      <vt:lpstr>ARCHITECTURE DIAGRAM</vt:lpstr>
      <vt:lpstr>Project Execution </vt:lpstr>
      <vt:lpstr>Results </vt:lpstr>
      <vt:lpstr>Results </vt:lpstr>
      <vt:lpstr>PowerPoint Presentation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Mahathi mahi</dc:creator>
  <cp:lastModifiedBy>jithin kamineni</cp:lastModifiedBy>
  <cp:revision>32</cp:revision>
  <dcterms:created xsi:type="dcterms:W3CDTF">2025-02-24T13:10:07Z</dcterms:created>
  <dcterms:modified xsi:type="dcterms:W3CDTF">2026-04-12T20:01:27Z</dcterms:modified>
</cp:coreProperties>
</file>